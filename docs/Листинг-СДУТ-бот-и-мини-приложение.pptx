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01E"/>
                </a:solidFill>
                <a:latin typeface="Calibri"/>
              </a:defRPr>
            </a:pPr>
            <a:r>
              <a:rPr sz="1300" b="0" i="0" u="none" strike="noStrike">
                <a:solidFill>
                  <a:srgbClr val="14201E"/>
                </a:solidFill>
                <a:latin typeface="Calibri"/>
              </a:rPr>
              <a:t>Нижняя цена часа у частной сиделки, ₽</a:t>
            </a:r>
          </a:p>
        </c:rich>
      </c:tx>
      <c:layout/>
      <c:overlay val="0"/>
    </c:title>
    <c:autoTitleDeleted val="0"/>
    <c:plotArea>
      <c:layout/>
      <c:barChart>
        <c:barDir val="bar"/>
        <c:grouping val="clustered"/>
        <c:varyColors val="0"/>
        <c:ser>
          <c:idx val="0"/>
          <c:order val="0"/>
          <c:tx>
            <c:strRef>
              <c:f>Sheet1!$B$1</c:f>
              <c:strCache>
                <c:ptCount val="1"/>
                <c:pt idx="0">
                  <c:v>Частная сиделка, ₽ за час</c:v>
                </c:pt>
              </c:strCache>
            </c:strRef>
          </c:tx>
          <c:spPr>
            <a:solidFill>
              <a:srgbClr val="1B5A55"/>
            </a:solidFill>
            <a:effectLst/>
          </c:spPr>
          <c:invertIfNegative val="0"/>
          <c:dLbls>
            <c:numFmt formatCode="#,##0" sourceLinked="0"/>
            <c:txPr>
              <a:bodyPr/>
              <a:lstStyle/>
              <a:p>
                <a:pPr>
                  <a:defRPr b="0" i="0" strike="noStrike" sz="1200" u="none">
                    <a:solidFill>
                      <a:srgbClr val="14201E"/>
                    </a:solidFill>
                    <a:latin typeface="Arial"/>
                  </a:defRPr>
                </a:pPr>
              </a:p>
            </c:txPr>
            <c:showLegendKey val="0"/>
            <c:showVal val="1"/>
            <c:showCatName val="0"/>
            <c:showSerName val="0"/>
            <c:showPercent val="0"/>
            <c:showBubbleSize val="0"/>
            <c:showLeaderLines val="0"/>
          </c:dLbls>
          <c:cat>
            <c:multiLvlStrRef>
              <c:f>Sheet1!$A$2:$A$6</c:f>
              <c:multiLvlStrCache>
                <c:ptCount val="5"/>
                <c:lvl>
                  <c:pt idx="0">
                    <c:v>Москва</c:v>
                  </c:pt>
                  <c:pt idx="1">
                    <c:v>Санкт-Петербург</c:v>
                  </c:pt>
                  <c:pt idx="2">
                    <c:v>Миллионники</c:v>
                  </c:pt>
                  <c:pt idx="3">
                    <c:v>Крупные (Тольятти)</c:v>
                  </c:pt>
                  <c:pt idx="4">
                    <c:v>Малые города</c:v>
                  </c:pt>
                </c:lvl>
              </c:multiLvlStrCache>
            </c:multiLvlStrRef>
          </c:cat>
          <c:val>
            <c:numRef>
              <c:f>Sheet1!$B$2:$B$6</c:f>
              <c:numCache>
                <c:formatCode>General</c:formatCode>
                <c:ptCount val="5"/>
                <c:pt idx="0">
                  <c:v>300</c:v>
                </c:pt>
                <c:pt idx="1">
                  <c:v>250</c:v>
                </c:pt>
                <c:pt idx="2">
                  <c:v>200</c:v>
                </c:pt>
                <c:pt idx="3">
                  <c:v>160</c:v>
                </c:pt>
                <c:pt idx="4">
                  <c:v>120</c:v>
                </c:pt>
              </c:numCache>
            </c:numRef>
          </c:val>
        </c:ser>
        <c:dLbls>
          <c:numFmt formatCode="#,##0" sourceLinked="0"/>
          <c:txPr>
            <a:bodyPr/>
            <a:lstStyle/>
            <a:p>
              <a:pPr>
                <a:defRPr b="0" i="0" strike="noStrike" sz="1200" u="none">
                  <a:solidFill>
                    <a:srgbClr val="14201E"/>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B5A56"/>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Версия кода: ветка claude/max-bot-complete-analysis-gcgbtm, коммит 025bca2 (24.09.2026). Экраны сняты с работающего кода: кадр бота — прогон класса Survey с раскладкой кнопок MAX (webapp/инструкция/сборка-видео.py), экран приложения — webapp/index.html в Chromium после вставки учебной анкеты.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Длительность «около пяти минут» — формулировка самого бота в приветствии (chatbot_survey.py). 34 вопроса — survey_questions.QUESTIONS; до контрольной точки обязателен блок из 12 вопросов.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Бот: chatbot_survey.py, survey_questions.py, max_webhook.py, max_production_dispatcher.py. Хранилище: storage_postgres.py, storage_sqlite.py, production_outbox.py, durable_outbox_worker.py, migrations/. CRM: crm_server.py, crm_store.py, crm/. Приложение: шаблоны/приложение.html → webapp/index.html (scripts/собрать_данные.py вкладывает все данные внутрь). Общие модели: knowledge.py, scale_731.py, сопоставление.py, уход.py, рынок.py, прайс.py, экономика.py, тср.py.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Контрольная точка — вопрос continue (survey_questions.CHECKPOINT_ID), 12-й по счёту. Все три выхода и завершение анкеты выдают ссылку в приложение с ответами (chatbot_survey.ссылка_в_приложение → перенос.ссылка).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survey_questions.QUESTIONS: 34 вопроса; kind: choice 29, text 3, phone 1, address 1; поле when — у 25; multi — у 5 (flags, pain_limits, devices, equipment, status); обязательных 23. Условия показа turning/skin — mobility «Не встаёт» или «Кресло-коляска»; falls — не «Не встаёт».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Правила — поле alert/alerts у вопросов flags (2 правила), skin, drinking, burnout в survey_questions.py; предупреждение приходит в том же сообщении, что и следующий вопрос, и попадает в карточку координатора. Свободный текст — emergency.py: 20 групп, 255 медицинских формулировок, фильтры прошедшего времени; вызывается в chatbot_survey.py раньше согласия и разбора ответа. На непонятный ответ — fallback.ЛЕСЕНКИ (вопрос: 10 ступеней, анкета: 10, согласие: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consent_forms.py (формы по первому ответу), docs/сборка-согласия.py (Формы 1–4, Приложения А и Б), privacy_deletion.py, ops/purge_expired_cases.py (SDUT_CASE_RETENTION_DAYS без значения по умолчанию; preflight.py предупреждает), перенос.py и шаблоны/приложение.html (history.replaceState), ai/deident.py. Сроки хранения — база/справочник-согласие-на-обработку.md и docs/сборка-согласия.py; автоматическое удаление сейчас одно на все обращения (срок задаёт оператор), раздельных сроков по видам обращения в коде пока нет.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routing_rules.route(): порядок СМП → М1 → М5 → М4 (противоречия) → М3 → М2 → М4. LOSS — 8 параметров самообслуживания, MED — 5 групп признаков, CONTRADICTIONS — 7. CASES — 11 эталонных случаев (python routing_rules.py). Маршрут используется в схеме маршрутизации (webapp/Схема-маршрутизации.html) и справке; в карточку CRM пока не выводится. Каждая строка правил сверяется с кнопками анкеты (tests/test_routing_strings.py).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webapp/index.html собирается scripts/собрать_данные.py из шаблоны/приложение.html и выгрузок scale.json, kb.json, survey.json, price.json, care.json, gear.json. Размер на момент версии 025bca2 — 701 482 байта. Хранение отметок — localStorage.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уход.py: ВОПРОСЫ — 9, ШАБЛОНЫ — 5 (присмотр, сопровождение, кресло, постель, круглосуточный), ДОБАВКИ — 20, УТОЧНЕНИЯ_АНКЕТЫ — 12, ПРОТИВОРЕЧИЯ — 3. Вопросы плана не пересекаются с анкетой бота — это проверяет tests/test_care.py. «1 из 9» — на учебной анкете лежачего человека остаётся вопрос «Кто готовит горячую еду?»: бот его не задаёт.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сопоставление.py — единственная таблица соответствия: ПРАВИЛА (14 позиций шкалы), ОТДАНО_ЧЕЛОВЕКУ (7 позиций), ОПРОСНИК (правила для 9 вопросов плана). scale_731.py строит отчёт о покрытии из той же таблицы; расхождение ловит tests/test_mapping.py. Та же логика в приложении (заполнитьШкалу, заполнитьОпросник) сверяется с Python через node. «8 из 9» — на учебной анкете лежачего человека; вопрос о том, кто готовит, выводится только из ответа «Почти никто».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scale_731.py: SCALE — 21 позиция (веса 2–4), MAX_SCORE = 55, LEVELS: I 15,5–26, II 26,5–35, III 35,5–55; PACKAGE_HOURS: 11–14, 18–21, 25–28 часов в неделю. Источник — Приказ Минтруда России № 731 от 23.12.2025, приложение № 3 «Анкета-опросник», бланк «Блок В». Верхние границы часов (14/21/28) совпадают с открытыми разъяснениями Типовой модели; пороги баллов рекомендуем сверить с полным текстом приказа.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рынок.py: ОПОРА (Санкт-Петербург), КОЭФФИЦИЕНТЫ по нижней цене часа у частника; наблюдения — открытые объявления и прайсы служб, осень 2026. Самопроверка: 90 000 × 0,64 = 57 600 ₽ против наблюдения 54 000 ₽ (tests/test_market.py держит расхождение в пределах 10 %). Цены — прайс.py (ДЕЙСТВУЕТ_С = 01.10.2026), выведены из рынок.ставка_часа(). Себестоимость — экономика.py: МРОТ 27 093 ₽, взносы 7,6 % (ст. 427 НК, НКО на УСН), УСН 6 %, резерв отпусков 10 %.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прайс.ПРОГРАММЫ: у каждой поле «состояние» (прайс.ДЕЙСТВУЕТ / прайс.В_ОЖИДАНИИ) и «когда». Модель СДУ области — Приказ Минсоцдемографии Самарской области от 01.09.2025 № 615 («в отдельных муниципальных образованиях»). Страница не содержит обещаний, что часть счёта оплатит регион, — это проверяет tests/test_mapping.py.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тср.py: СРЕДСТВА — 20, группы: Кровать и матрас 5, Передвижение 6, Гигиена и туалет 3, Уход и быт 3, Дыхание 3; СНАЧАЛА_БЕСПЛАТНО — 3 пути. Цены — прокаты медтехники Самары и Тольятти, осень 2026 (тср.ОТКУДА). Ссылка на действующий Приказ № 208н/243н проверяется тестом.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knowledge.py: СИНОНИМЫ 109, ОБОРОТЫ 47, ШУМ 86 слов, ОКОНЧАНИЯ 58, ОСНОВА 5, КОРОТКИЕ 4, ПОТОЛОК 6, РАЗНООБРАЗИЕ 0,6, РЕЗКОСТЬ 1,7, РЕШАЮЩЕЕ 3,0 (одно редкое слово засчитывается за два попадания), ПОРОГ 9,0, ПОРОГ_БЕЗ_МОДЕЛИ 14,0, ЗАГОЛОВОК_ЦЕЛИКОМ 2,5, КЛЮЧИ_ЦЕЛИКОМ 1,6. Механизм уезжает данными в kb.json и исполняется в приложении той же логикой. Корпус 143 запросов и сверка через node — tests/test_поиск.py.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Иллюстрации — webapp/img, фирменный стиль службы; привязаны к статьям полем «картинка» в база/справочник-*.md. В базе 243 статьи: 235 из 28 файлов папки база/ и 8 статей, собранных из самой шкалы Приказа № 731 (knowledge._из_шкалы). Карта тем — knowledge.карта(), 12 ветвей.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pytest: 1 255 passed, 77 skipped (часть проверок требует PostgreSQL). Стенды: нагрузка/бот.py --людей 250, нагрузка/сервер.py, нагрузка/база.py; описание находок — нагрузка/README.md. Цифры — прогон 24.09.2026.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Перечень — описание реализованных решений для авторов, а не формула изобретения: оценку новизны и формы охраны делает специалист. Реализация: 1 — tests/test_care.py; 2 — сопоставление.py; 3 — обновить() в шаблоны/приложение.html; 4 — ценаПлана(); 5 — перенос.py; 6 — knowledge.py + kb.json + tests/test_поиск.py; 7 — рынок.py + tests/test_market.py; 8 — survey_questions.py (alert/alerts), chatbot_survey.py.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Строки посчитаны построчно по файлам версии 025bca2. Всего без проверок — 27 328 строк, из них 4 609 — тексты статей базы знаний (Markdown), 2 952 — интерфейс приложения (HTML, CSS, JS), 906 — интерфейс CRM. Сторонний эмулятор: 38 файлов Go (9 038 строк) и 25 файлов web/src (5 498 строк); первые коммиты — 16–17.08.2025, другой автор.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Статьи 442-ФЗ и 152-ФЗ — по полю «источник» статей база/*.md и по consent_forms.py, ops/purge_expired_cases.py. № 731: garant.ru/products/ipo/prime/doc/413376498/; № 615: garant.ru/hotlaw/samara/1866970/; № 208н/243н: publication.pravo.gov.ru/document/0001202505290031.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организация.py: ПОЛНОЕ, ОГРН, ИНН, КПП, АДРЕС, БОТ, ПРИЛОЖЕНИЕ. Поля ТЕЛЕФОН, РУКОВОДИТЕЛЬ, ПОЧТА, ЧАСЫ и БАНК пусты на момент версии 025bca2.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image" Target="../media/image-17-3.jpg"/><Relationship Id="rId4" Type="http://schemas.openxmlformats.org/officeDocument/2006/relationships/image" Target="../media/image-17-4.jpg"/><Relationship Id="rId5" Type="http://schemas.openxmlformats.org/officeDocument/2006/relationships/image" Target="../media/image-17-5.jpg"/><Relationship Id="rId6" Type="http://schemas.openxmlformats.org/officeDocument/2006/relationships/image" Target="../media/image-17-6.jp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02D"/>
        </a:solidFill>
      </p:bgPr>
    </p:bg>
    <p:spTree>
      <p:nvGrpSpPr>
        <p:cNvPr id="1" name=""/>
        <p:cNvGrpSpPr/>
        <p:nvPr/>
      </p:nvGrpSpPr>
      <p:grpSpPr>
        <a:xfrm>
          <a:off x="0" y="0"/>
          <a:ext cx="0" cy="0"/>
          <a:chOff x="0" y="0"/>
          <a:chExt cx="0" cy="0"/>
        </a:xfrm>
      </p:grpSpPr>
      <p:sp>
        <p:nvSpPr>
          <p:cNvPr id="2" name="Text 0"/>
          <p:cNvSpPr txBox="1"/>
          <p:nvPr/>
        </p:nvSpPr>
        <p:spPr>
          <a:xfrm>
            <a:off x="731520" y="960120"/>
            <a:ext cx="5943600" cy="274320"/>
          </a:xfrm>
          <a:prstGeom prst="rect">
            <a:avLst/>
          </a:prstGeom>
          <a:noFill/>
          <a:ln/>
        </p:spPr>
        <p:txBody>
          <a:bodyPr wrap="square" lIns="0" tIns="0" rIns="0" bIns="0" rtlCol="0" anchor="t"/>
          <a:lstStyle/>
          <a:p>
            <a:pPr indent="0" marL="0">
              <a:buNone/>
            </a:pPr>
            <a:r>
              <a:rPr lang="en-US" sz="1200" b="1" spc="300" kern="0" dirty="0">
                <a:solidFill>
                  <a:srgbClr val="9FC7C0"/>
                </a:solidFill>
                <a:latin typeface="Calibri" pitchFamily="34" charset="0"/>
                <a:ea typeface="Calibri" pitchFamily="34" charset="-122"/>
                <a:cs typeface="Calibri" pitchFamily="34" charset="-120"/>
              </a:rPr>
              <a:t>АНО «СДУТ» · ТОЛЬЯТТИ</a:t>
            </a:r>
            <a:endParaRPr lang="en-US" sz="1200" dirty="0"/>
          </a:p>
        </p:txBody>
      </p:sp>
      <p:sp>
        <p:nvSpPr>
          <p:cNvPr id="3" name="Text 1"/>
          <p:cNvSpPr txBox="1"/>
          <p:nvPr/>
        </p:nvSpPr>
        <p:spPr>
          <a:xfrm>
            <a:off x="731520" y="1371600"/>
            <a:ext cx="5440680" cy="2286000"/>
          </a:xfrm>
          <a:prstGeom prst="rect">
            <a:avLst/>
          </a:prstGeom>
          <a:noFill/>
          <a:ln/>
        </p:spPr>
        <p:txBody>
          <a:bodyPr wrap="square" lIns="0" tIns="0" rIns="0" bIns="0" rtlCol="0" anchor="t"/>
          <a:lstStyle/>
          <a:p>
            <a:pPr indent="0" marL="0">
              <a:lnSpc>
                <a:spcPct val="95000"/>
              </a:lnSpc>
              <a:buNone/>
            </a:pPr>
            <a:r>
              <a:rPr lang="en-US" sz="3400" b="1" dirty="0">
                <a:solidFill>
                  <a:srgbClr val="FFFFFF"/>
                </a:solidFill>
                <a:latin typeface="Cambria" pitchFamily="34" charset="0"/>
                <a:ea typeface="Cambria" pitchFamily="34" charset="-122"/>
                <a:cs typeface="Cambria" pitchFamily="34" charset="-120"/>
              </a:rPr>
              <a:t>Чат‑бот SDUT63</a:t>
            </a:r>
            <a:endParaRPr lang="en-US" sz="3400" dirty="0"/>
          </a:p>
          <a:p>
            <a:pPr indent="0" marL="0">
              <a:lnSpc>
                <a:spcPct val="95000"/>
              </a:lnSpc>
              <a:buNone/>
            </a:pPr>
            <a:r>
              <a:rPr lang="en-US" sz="3400" b="1" dirty="0">
                <a:solidFill>
                  <a:srgbClr val="FFFFFF"/>
                </a:solidFill>
                <a:latin typeface="Cambria" pitchFamily="34" charset="0"/>
                <a:ea typeface="Cambria" pitchFamily="34" charset="-122"/>
                <a:cs typeface="Cambria" pitchFamily="34" charset="-120"/>
              </a:rPr>
              <a:t>и мини‑приложение</a:t>
            </a:r>
            <a:endParaRPr lang="en-US" sz="3400" dirty="0"/>
          </a:p>
          <a:p>
            <a:pPr indent="0" marL="0">
              <a:lnSpc>
                <a:spcPct val="95000"/>
              </a:lnSpc>
              <a:buNone/>
            </a:pPr>
            <a:r>
              <a:rPr lang="en-US" sz="3400" b="1" dirty="0">
                <a:solidFill>
                  <a:srgbClr val="FFFFFF"/>
                </a:solidFill>
                <a:latin typeface="Cambria" pitchFamily="34" charset="0"/>
                <a:ea typeface="Cambria" pitchFamily="34" charset="-122"/>
                <a:cs typeface="Cambria" pitchFamily="34" charset="-120"/>
              </a:rPr>
              <a:t>«Помощь дома»</a:t>
            </a:r>
            <a:endParaRPr lang="en-US" sz="3400" dirty="0"/>
          </a:p>
        </p:txBody>
      </p:sp>
      <p:sp>
        <p:nvSpPr>
          <p:cNvPr id="4" name="Text 2"/>
          <p:cNvSpPr txBox="1"/>
          <p:nvPr/>
        </p:nvSpPr>
        <p:spPr>
          <a:xfrm>
            <a:off x="731520" y="3246120"/>
            <a:ext cx="5394960" cy="1005840"/>
          </a:xfrm>
          <a:prstGeom prst="rect">
            <a:avLst/>
          </a:prstGeom>
          <a:noFill/>
          <a:ln/>
        </p:spPr>
        <p:txBody>
          <a:bodyPr wrap="square" lIns="0" tIns="0" rIns="0" bIns="0" rtlCol="0" anchor="t"/>
          <a:lstStyle/>
          <a:p>
            <a:pPr indent="0" marL="0">
              <a:buNone/>
            </a:pPr>
            <a:r>
              <a:rPr lang="en-US" sz="1700" dirty="0">
                <a:solidFill>
                  <a:srgbClr val="D6E6E3"/>
                </a:solidFill>
                <a:latin typeface="Calibri" pitchFamily="34" charset="0"/>
                <a:ea typeface="Calibri" pitchFamily="34" charset="-122"/>
                <a:cs typeface="Calibri" pitchFamily="34" charset="-120"/>
              </a:rPr>
              <a:t>Программный комплекс первичного обращения семьи, предварительной оценки нуждаемости в уходе и плана ухода на дому</a:t>
            </a:r>
            <a:endParaRPr lang="en-US" sz="1700" dirty="0"/>
          </a:p>
        </p:txBody>
      </p:sp>
      <p:sp>
        <p:nvSpPr>
          <p:cNvPr id="5" name="Text 3"/>
          <p:cNvSpPr txBox="1"/>
          <p:nvPr/>
        </p:nvSpPr>
        <p:spPr>
          <a:xfrm>
            <a:off x="731520" y="4846320"/>
            <a:ext cx="5486400" cy="640080"/>
          </a:xfrm>
          <a:prstGeom prst="rect">
            <a:avLst/>
          </a:prstGeom>
          <a:noFill/>
          <a:ln/>
        </p:spPr>
        <p:txBody>
          <a:bodyPr wrap="square" lIns="0" tIns="0" rIns="0" bIns="0" rtlCol="0" anchor="t"/>
          <a:lstStyle/>
          <a:p>
            <a:pPr indent="0" marL="0">
              <a:buNone/>
            </a:pPr>
            <a:r>
              <a:rPr lang="en-US" sz="1200" dirty="0">
                <a:solidFill>
                  <a:srgbClr val="9FC7C0"/>
                </a:solidFill>
                <a:latin typeface="Calibri" pitchFamily="34" charset="0"/>
                <a:ea typeface="Calibri" pitchFamily="34" charset="-122"/>
                <a:cs typeface="Calibri" pitchFamily="34" charset="-120"/>
              </a:rPr>
              <a:t>Листинг для подготовки научных публикаций и охранных документов</a:t>
            </a:r>
            <a:endParaRPr lang="en-US" sz="1200" dirty="0"/>
          </a:p>
          <a:p>
            <a:pPr indent="0" marL="0">
              <a:buNone/>
            </a:pPr>
            <a:r>
              <a:rPr lang="en-US" sz="1200" dirty="0">
                <a:solidFill>
                  <a:srgbClr val="9FC7C0"/>
                </a:solidFill>
                <a:latin typeface="Calibri" pitchFamily="34" charset="0"/>
                <a:ea typeface="Calibri" pitchFamily="34" charset="-122"/>
                <a:cs typeface="Calibri" pitchFamily="34" charset="-120"/>
              </a:rPr>
              <a:t>Описана версия 025bca2 от 24.09.2026</a:t>
            </a:r>
            <a:endParaRPr lang="en-US" sz="1200" dirty="0"/>
          </a:p>
        </p:txBody>
      </p:sp>
      <p:pic>
        <p:nvPicPr>
          <p:cNvPr id="6" name="Image 0" descr="Экран чат-бота в MAX">    </p:cNvPr>
          <p:cNvPicPr>
            <a:picLocks noChangeAspect="1"/>
          </p:cNvPicPr>
          <p:nvPr/>
        </p:nvPicPr>
        <p:blipFill>
          <a:blip r:embed="rId1"/>
          <a:stretch>
            <a:fillRect/>
          </a:stretch>
        </p:blipFill>
        <p:spPr>
          <a:xfrm>
            <a:off x="6263640" y="1417320"/>
            <a:ext cx="2718486" cy="4023360"/>
          </a:xfrm>
          <a:prstGeom prst="rect">
            <a:avLst/>
          </a:prstGeom>
        </p:spPr>
      </p:pic>
      <p:pic>
        <p:nvPicPr>
          <p:cNvPr id="7" name="Image 1" descr="Экран мини-приложения">    </p:cNvPr>
          <p:cNvPicPr>
            <a:picLocks noChangeAspect="1"/>
          </p:cNvPicPr>
          <p:nvPr/>
        </p:nvPicPr>
        <p:blipFill>
          <a:blip r:embed="rId2"/>
          <a:stretch>
            <a:fillRect/>
          </a:stretch>
        </p:blipFill>
        <p:spPr>
          <a:xfrm>
            <a:off x="9165006" y="1005840"/>
            <a:ext cx="2500070" cy="47548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5A55"/>
                </a:solidFill>
                <a:latin typeface="Calibri" pitchFamily="34" charset="0"/>
                <a:ea typeface="Calibri" pitchFamily="34" charset="-122"/>
                <a:cs typeface="Calibri" pitchFamily="34" charset="-120"/>
              </a:rPr>
              <a:t>НАЗНАЧЕНИЕ</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01E"/>
                </a:solidFill>
                <a:latin typeface="Cambria" pitchFamily="34" charset="0"/>
                <a:ea typeface="Cambria" pitchFamily="34" charset="-122"/>
                <a:cs typeface="Cambria" pitchFamily="34" charset="-120"/>
              </a:rPr>
              <a:t>Что делает комплекс</a:t>
            </a:r>
            <a:endParaRPr lang="en-US" sz="2800" dirty="0"/>
          </a:p>
        </p:txBody>
      </p:sp>
      <p:sp>
        <p:nvSpPr>
          <p:cNvPr id="4" name="Text 2"/>
          <p:cNvSpPr txBox="1"/>
          <p:nvPr/>
        </p:nvSpPr>
        <p:spPr>
          <a:xfrm>
            <a:off x="548640" y="6419088"/>
            <a:ext cx="7315200" cy="228600"/>
          </a:xfrm>
          <a:prstGeom prst="rect">
            <a:avLst/>
          </a:prstGeom>
          <a:noFill/>
          <a:ln/>
        </p:spPr>
        <p:txBody>
          <a:bodyPr wrap="square" lIns="0" tIns="0" rIns="0" bIns="0" rtlCol="0" anchor="t"/>
          <a:lstStyle/>
          <a:p>
            <a:pPr indent="0" marL="0">
              <a:buNone/>
            </a:pPr>
            <a:r>
              <a:rPr lang="en-US" sz="900" dirty="0">
                <a:solidFill>
                  <a:srgbClr val="748480"/>
                </a:solidFill>
                <a:latin typeface="Calibri" pitchFamily="34" charset="0"/>
                <a:ea typeface="Calibri" pitchFamily="34" charset="-122"/>
                <a:cs typeface="Calibri" pitchFamily="34" charset="-120"/>
              </a:rPr>
              <a:t>АНО «СДУТ» · листинг комплекса «Бот SDUT63 и мини-приложение»</a:t>
            </a:r>
            <a:endParaRPr lang="en-US" sz="900" dirty="0"/>
          </a:p>
        </p:txBody>
      </p:sp>
      <p:sp>
        <p:nvSpPr>
          <p:cNvPr id="5" name="Text 3"/>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900" dirty="0">
                <a:solidFill>
                  <a:srgbClr val="748480"/>
                </a:solidFill>
                <a:latin typeface="Calibri" pitchFamily="34" charset="0"/>
                <a:ea typeface="Calibri" pitchFamily="34" charset="-122"/>
                <a:cs typeface="Calibri" pitchFamily="34" charset="-120"/>
              </a:rPr>
              <a:t>2 / 22</a:t>
            </a:r>
            <a:endParaRPr lang="en-US" sz="900" dirty="0"/>
          </a:p>
        </p:txBody>
      </p:sp>
      <p:sp>
        <p:nvSpPr>
          <p:cNvPr id="6" name="Text 4"/>
          <p:cNvSpPr txBox="1"/>
          <p:nvPr/>
        </p:nvSpPr>
        <p:spPr>
          <a:xfrm>
            <a:off x="548640" y="1463040"/>
            <a:ext cx="10607040" cy="960120"/>
          </a:xfrm>
          <a:prstGeom prst="rect">
            <a:avLst/>
          </a:prstGeom>
          <a:noFill/>
          <a:ln/>
        </p:spPr>
        <p:txBody>
          <a:bodyPr wrap="square" lIns="0" tIns="0" rIns="0" bIns="0" rtlCol="0" anchor="t"/>
          <a:lstStyle/>
          <a:p>
            <a:pPr indent="0" marL="0">
              <a:buNone/>
            </a:pPr>
            <a:r>
              <a:rPr lang="en-US" sz="1600" dirty="0">
                <a:solidFill>
                  <a:srgbClr val="4B5A56"/>
                </a:solidFill>
                <a:latin typeface="Calibri" pitchFamily="34" charset="0"/>
                <a:ea typeface="Calibri" pitchFamily="34" charset="-122"/>
                <a:cs typeface="Calibri" pitchFamily="34" charset="-120"/>
              </a:rPr>
              <a:t>Семья, у которой дома лежачий или тяжелобольной человек, пишет боту в мессенджере MAX. За пять минут собирается заявка для координатора, а мини-приложение по тем же ответам строит предварительный план ухода, расчёт положенных часов и стоимость. Что сказано боту, второй раз не спрашивается.</a:t>
            </a:r>
            <a:endParaRPr lang="en-US" sz="1600" dirty="0"/>
          </a:p>
        </p:txBody>
      </p:sp>
      <p:sp>
        <p:nvSpPr>
          <p:cNvPr id="7" name="Shape 5"/>
          <p:cNvSpPr/>
          <p:nvPr/>
        </p:nvSpPr>
        <p:spPr>
          <a:xfrm>
            <a:off x="548640" y="2697480"/>
            <a:ext cx="3429000" cy="3429000"/>
          </a:xfrm>
          <a:prstGeom prst="roundRect">
            <a:avLst>
              <a:gd name="adj" fmla="val 2133"/>
            </a:avLst>
          </a:prstGeom>
          <a:solidFill>
            <a:srgbClr val="FFFFFF"/>
          </a:solidFill>
          <a:ln w="12700">
            <a:solidFill>
              <a:srgbClr val="CBD6D2"/>
            </a:solidFill>
            <a:prstDash val="solid"/>
          </a:ln>
        </p:spPr>
      </p:sp>
      <p:sp>
        <p:nvSpPr>
          <p:cNvPr id="8" name="Shape 6"/>
          <p:cNvSpPr/>
          <p:nvPr/>
        </p:nvSpPr>
        <p:spPr>
          <a:xfrm>
            <a:off x="822960" y="2971800"/>
            <a:ext cx="384048" cy="384048"/>
          </a:xfrm>
          <a:prstGeom prst="ellipse">
            <a:avLst/>
          </a:prstGeom>
          <a:solidFill>
            <a:srgbClr val="1B5A55"/>
          </a:solidFill>
          <a:ln w="12700">
            <a:solidFill>
              <a:srgbClr val="1B5A55"/>
            </a:solidFill>
            <a:prstDash val="solid"/>
          </a:ln>
        </p:spPr>
      </p:sp>
      <p:sp>
        <p:nvSpPr>
          <p:cNvPr id="9" name="Text 7"/>
          <p:cNvSpPr txBox="1"/>
          <p:nvPr/>
        </p:nvSpPr>
        <p:spPr>
          <a:xfrm>
            <a:off x="822960" y="2971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txBox="1"/>
          <p:nvPr/>
        </p:nvSpPr>
        <p:spPr>
          <a:xfrm>
            <a:off x="1325880" y="2999232"/>
            <a:ext cx="2423160" cy="329184"/>
          </a:xfrm>
          <a:prstGeom prst="rect">
            <a:avLst/>
          </a:prstGeom>
          <a:noFill/>
          <a:ln/>
        </p:spPr>
        <p:txBody>
          <a:bodyPr wrap="square" lIns="0" tIns="0" rIns="0" bIns="0" rtlCol="0" anchor="t"/>
          <a:lstStyle/>
          <a:p>
            <a:pPr indent="0" marL="0">
              <a:buNone/>
            </a:pPr>
            <a:r>
              <a:rPr lang="en-US" sz="1300" b="1" spc="100" kern="0" dirty="0">
                <a:solidFill>
                  <a:srgbClr val="1B5A55"/>
                </a:solidFill>
                <a:latin typeface="Calibri" pitchFamily="34" charset="0"/>
                <a:ea typeface="Calibri" pitchFamily="34" charset="-122"/>
                <a:cs typeface="Calibri" pitchFamily="34" charset="-120"/>
              </a:rPr>
              <a:t>Семье</a:t>
            </a:r>
            <a:endParaRPr lang="en-US" sz="1300" dirty="0"/>
          </a:p>
        </p:txBody>
      </p:sp>
      <p:sp>
        <p:nvSpPr>
          <p:cNvPr id="11" name="Text 9"/>
          <p:cNvSpPr txBox="1"/>
          <p:nvPr/>
        </p:nvSpPr>
        <p:spPr>
          <a:xfrm>
            <a:off x="822960" y="3520440"/>
            <a:ext cx="2880360" cy="731520"/>
          </a:xfrm>
          <a:prstGeom prst="rect">
            <a:avLst/>
          </a:prstGeom>
          <a:noFill/>
          <a:ln/>
        </p:spPr>
        <p:txBody>
          <a:bodyPr wrap="square" lIns="0" tIns="0" rIns="0" bIns="0" rtlCol="0" anchor="t"/>
          <a:lstStyle/>
          <a:p>
            <a:pPr indent="0" marL="0">
              <a:buNone/>
            </a:pPr>
            <a:r>
              <a:rPr lang="en-US" sz="1800" b="1" dirty="0">
                <a:solidFill>
                  <a:srgbClr val="14201E"/>
                </a:solidFill>
                <a:latin typeface="Cambria" pitchFamily="34" charset="0"/>
                <a:ea typeface="Cambria" pitchFamily="34" charset="-122"/>
                <a:cs typeface="Cambria" pitchFamily="34" charset="-120"/>
              </a:rPr>
              <a:t>Одно обращение вместо пяти звонков</a:t>
            </a:r>
            <a:endParaRPr lang="en-US" sz="1800" dirty="0"/>
          </a:p>
        </p:txBody>
      </p:sp>
      <p:sp>
        <p:nvSpPr>
          <p:cNvPr id="12" name="Text 10"/>
          <p:cNvSpPr txBox="1"/>
          <p:nvPr/>
        </p:nvSpPr>
        <p:spPr>
          <a:xfrm>
            <a:off x="822960" y="4297680"/>
            <a:ext cx="2926080" cy="17373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4201E"/>
                </a:solidFill>
                <a:latin typeface="Calibri" pitchFamily="34" charset="0"/>
                <a:ea typeface="Calibri" pitchFamily="34" charset="-122"/>
                <a:cs typeface="Calibri" pitchFamily="34" charset="-120"/>
              </a:rPr>
              <a:t>Согласие и анкета — в чате, около пяти минут</a:t>
            </a:r>
            <a:endParaRPr lang="en-US" sz="1300" dirty="0"/>
          </a:p>
          <a:p>
            <a:pPr marL="177800" indent="-177800">
              <a:spcAft>
                <a:spcPts val="500"/>
              </a:spcAft>
              <a:buSzPct val="100000"/>
              <a:buChar char="•"/>
            </a:pPr>
            <a:r>
              <a:rPr lang="en-US" sz="1300" dirty="0">
                <a:solidFill>
                  <a:srgbClr val="14201E"/>
                </a:solidFill>
                <a:latin typeface="Calibri" pitchFamily="34" charset="0"/>
                <a:ea typeface="Calibri" pitchFamily="34" charset="-122"/>
                <a:cs typeface="Calibri" pitchFamily="34" charset="-120"/>
              </a:rPr>
              <a:t>Предупреждение сразу, если ответ говорит об опасности</a:t>
            </a:r>
            <a:endParaRPr lang="en-US" sz="1300" dirty="0"/>
          </a:p>
          <a:p>
            <a:pPr marL="177800" indent="-177800">
              <a:spcAft>
                <a:spcPts val="500"/>
              </a:spcAft>
              <a:buSzPct val="100000"/>
              <a:buChar char="•"/>
            </a:pPr>
            <a:r>
              <a:rPr lang="en-US" sz="1300" dirty="0">
                <a:solidFill>
                  <a:srgbClr val="14201E"/>
                </a:solidFill>
                <a:latin typeface="Calibri" pitchFamily="34" charset="0"/>
                <a:ea typeface="Calibri" pitchFamily="34" charset="-122"/>
                <a:cs typeface="Calibri" pitchFamily="34" charset="-120"/>
              </a:rPr>
              <a:t>План, часы и цена — без повторного ввода ответов</a:t>
            </a:r>
            <a:endParaRPr lang="en-US" sz="1300" dirty="0"/>
          </a:p>
        </p:txBody>
      </p:sp>
      <p:sp>
        <p:nvSpPr>
          <p:cNvPr id="13" name="Shape 11"/>
          <p:cNvSpPr/>
          <p:nvPr/>
        </p:nvSpPr>
        <p:spPr>
          <a:xfrm>
            <a:off x="4288536" y="2697480"/>
            <a:ext cx="3429000" cy="3429000"/>
          </a:xfrm>
          <a:prstGeom prst="roundRect">
            <a:avLst>
              <a:gd name="adj" fmla="val 2133"/>
            </a:avLst>
          </a:prstGeom>
          <a:solidFill>
            <a:srgbClr val="FFFFFF"/>
          </a:solidFill>
          <a:ln w="12700">
            <a:solidFill>
              <a:srgbClr val="CBD6D2"/>
            </a:solidFill>
            <a:prstDash val="solid"/>
          </a:ln>
        </p:spPr>
      </p:sp>
      <p:sp>
        <p:nvSpPr>
          <p:cNvPr id="14" name="Shape 12"/>
          <p:cNvSpPr/>
          <p:nvPr/>
        </p:nvSpPr>
        <p:spPr>
          <a:xfrm>
            <a:off x="4562856" y="2971800"/>
            <a:ext cx="384048" cy="384048"/>
          </a:xfrm>
          <a:prstGeom prst="ellipse">
            <a:avLst/>
          </a:prstGeom>
          <a:solidFill>
            <a:srgbClr val="1B5A55"/>
          </a:solidFill>
          <a:ln w="12700">
            <a:solidFill>
              <a:srgbClr val="1B5A55"/>
            </a:solidFill>
            <a:prstDash val="solid"/>
          </a:ln>
        </p:spPr>
      </p:sp>
      <p:sp>
        <p:nvSpPr>
          <p:cNvPr id="15" name="Text 13"/>
          <p:cNvSpPr txBox="1"/>
          <p:nvPr/>
        </p:nvSpPr>
        <p:spPr>
          <a:xfrm>
            <a:off x="4562856" y="2971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txBox="1"/>
          <p:nvPr/>
        </p:nvSpPr>
        <p:spPr>
          <a:xfrm>
            <a:off x="5065776" y="2999232"/>
            <a:ext cx="2423160" cy="329184"/>
          </a:xfrm>
          <a:prstGeom prst="rect">
            <a:avLst/>
          </a:prstGeom>
          <a:noFill/>
          <a:ln/>
        </p:spPr>
        <p:txBody>
          <a:bodyPr wrap="square" lIns="0" tIns="0" rIns="0" bIns="0" rtlCol="0" anchor="t"/>
          <a:lstStyle/>
          <a:p>
            <a:pPr indent="0" marL="0">
              <a:buNone/>
            </a:pPr>
            <a:r>
              <a:rPr lang="en-US" sz="1300" b="1" spc="100" kern="0" dirty="0">
                <a:solidFill>
                  <a:srgbClr val="1B5A55"/>
                </a:solidFill>
                <a:latin typeface="Calibri" pitchFamily="34" charset="0"/>
                <a:ea typeface="Calibri" pitchFamily="34" charset="-122"/>
                <a:cs typeface="Calibri" pitchFamily="34" charset="-120"/>
              </a:rPr>
              <a:t>Координатору</a:t>
            </a:r>
            <a:endParaRPr lang="en-US" sz="1300" dirty="0"/>
          </a:p>
        </p:txBody>
      </p:sp>
      <p:sp>
        <p:nvSpPr>
          <p:cNvPr id="17" name="Text 15"/>
          <p:cNvSpPr txBox="1"/>
          <p:nvPr/>
        </p:nvSpPr>
        <p:spPr>
          <a:xfrm>
            <a:off x="4562856" y="3520440"/>
            <a:ext cx="2880360" cy="731520"/>
          </a:xfrm>
          <a:prstGeom prst="rect">
            <a:avLst/>
          </a:prstGeom>
          <a:noFill/>
          <a:ln/>
        </p:spPr>
        <p:txBody>
          <a:bodyPr wrap="square" lIns="0" tIns="0" rIns="0" bIns="0" rtlCol="0" anchor="t"/>
          <a:lstStyle/>
          <a:p>
            <a:pPr indent="0" marL="0">
              <a:buNone/>
            </a:pPr>
            <a:r>
              <a:rPr lang="en-US" sz="1800" b="1" dirty="0">
                <a:solidFill>
                  <a:srgbClr val="14201E"/>
                </a:solidFill>
                <a:latin typeface="Cambria" pitchFamily="34" charset="0"/>
                <a:ea typeface="Cambria" pitchFamily="34" charset="-122"/>
                <a:cs typeface="Cambria" pitchFamily="34" charset="-120"/>
              </a:rPr>
              <a:t>Карточка готова до первого звонка</a:t>
            </a:r>
            <a:endParaRPr lang="en-US" sz="1800" dirty="0"/>
          </a:p>
        </p:txBody>
      </p:sp>
      <p:sp>
        <p:nvSpPr>
          <p:cNvPr id="18" name="Text 16"/>
          <p:cNvSpPr txBox="1"/>
          <p:nvPr/>
        </p:nvSpPr>
        <p:spPr>
          <a:xfrm>
            <a:off x="4562856" y="4297680"/>
            <a:ext cx="2926080" cy="17373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4201E"/>
                </a:solidFill>
                <a:latin typeface="Calibri" pitchFamily="34" charset="0"/>
                <a:ea typeface="Calibri" pitchFamily="34" charset="-122"/>
                <a:cs typeface="Calibri" pitchFamily="34" charset="-120"/>
              </a:rPr>
              <a:t>Контакты и адрес одной строкой: дом, этаж, лифт</a:t>
            </a:r>
            <a:endParaRPr lang="en-US" sz="1300" dirty="0"/>
          </a:p>
          <a:p>
            <a:pPr marL="177800" indent="-177800">
              <a:spcAft>
                <a:spcPts val="500"/>
              </a:spcAft>
              <a:buSzPct val="100000"/>
              <a:buChar char="•"/>
            </a:pPr>
            <a:r>
              <a:rPr lang="en-US" sz="1300" dirty="0">
                <a:solidFill>
                  <a:srgbClr val="14201E"/>
                </a:solidFill>
                <a:latin typeface="Calibri" pitchFamily="34" charset="0"/>
                <a:ea typeface="Calibri" pitchFamily="34" charset="-122"/>
                <a:cs typeface="Calibri" pitchFamily="34" charset="-120"/>
              </a:rPr>
              <a:t>До 34 ответов о состоянии, быте и семье</a:t>
            </a:r>
            <a:endParaRPr lang="en-US" sz="1300" dirty="0"/>
          </a:p>
          <a:p>
            <a:pPr marL="177800" indent="-177800">
              <a:spcAft>
                <a:spcPts val="500"/>
              </a:spcAft>
              <a:buSzPct val="100000"/>
              <a:buChar char="•"/>
            </a:pPr>
            <a:r>
              <a:rPr lang="en-US" sz="1300" dirty="0">
                <a:solidFill>
                  <a:srgbClr val="14201E"/>
                </a:solidFill>
                <a:latin typeface="Calibri" pitchFamily="34" charset="0"/>
                <a:ea typeface="Calibri" pitchFamily="34" charset="-122"/>
                <a:cs typeface="Calibri" pitchFamily="34" charset="-120"/>
              </a:rPr>
              <a:t>Предупреждения и противоречия в ответах отмечены</a:t>
            </a:r>
            <a:endParaRPr lang="en-US" sz="1300" dirty="0"/>
          </a:p>
        </p:txBody>
      </p:sp>
      <p:sp>
        <p:nvSpPr>
          <p:cNvPr id="19" name="Shape 17"/>
          <p:cNvSpPr/>
          <p:nvPr/>
        </p:nvSpPr>
        <p:spPr>
          <a:xfrm>
            <a:off x="8028432" y="2697480"/>
            <a:ext cx="3429000" cy="3429000"/>
          </a:xfrm>
          <a:prstGeom prst="roundRect">
            <a:avLst>
              <a:gd name="adj" fmla="val 2133"/>
            </a:avLst>
          </a:prstGeom>
          <a:solidFill>
            <a:srgbClr val="FFFFFF"/>
          </a:solidFill>
          <a:ln w="12700">
            <a:solidFill>
              <a:srgbClr val="CBD6D2"/>
            </a:solidFill>
            <a:prstDash val="solid"/>
          </a:ln>
        </p:spPr>
      </p:sp>
      <p:sp>
        <p:nvSpPr>
          <p:cNvPr id="20" name="Shape 18"/>
          <p:cNvSpPr/>
          <p:nvPr/>
        </p:nvSpPr>
        <p:spPr>
          <a:xfrm>
            <a:off x="8302752" y="2971800"/>
            <a:ext cx="384048" cy="384048"/>
          </a:xfrm>
          <a:prstGeom prst="ellipse">
            <a:avLst/>
          </a:prstGeom>
          <a:solidFill>
            <a:srgbClr val="1B5A55"/>
          </a:solidFill>
          <a:ln w="12700">
            <a:solidFill>
              <a:srgbClr val="1B5A55"/>
            </a:solidFill>
            <a:prstDash val="solid"/>
          </a:ln>
        </p:spPr>
      </p:sp>
      <p:sp>
        <p:nvSpPr>
          <p:cNvPr id="21" name="Text 19"/>
          <p:cNvSpPr txBox="1"/>
          <p:nvPr/>
        </p:nvSpPr>
        <p:spPr>
          <a:xfrm>
            <a:off x="8302752" y="2971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2" name="Text 20"/>
          <p:cNvSpPr txBox="1"/>
          <p:nvPr/>
        </p:nvSpPr>
        <p:spPr>
          <a:xfrm>
            <a:off x="8805672" y="2999232"/>
            <a:ext cx="2423160" cy="329184"/>
          </a:xfrm>
          <a:prstGeom prst="rect">
            <a:avLst/>
          </a:prstGeom>
          <a:noFill/>
          <a:ln/>
        </p:spPr>
        <p:txBody>
          <a:bodyPr wrap="square" lIns="0" tIns="0" rIns="0" bIns="0" rtlCol="0" anchor="t"/>
          <a:lstStyle/>
          <a:p>
            <a:pPr indent="0" marL="0">
              <a:buNone/>
            </a:pPr>
            <a:r>
              <a:rPr lang="en-US" sz="1300" b="1" spc="100" kern="0" dirty="0">
                <a:solidFill>
                  <a:srgbClr val="1B5A55"/>
                </a:solidFill>
                <a:latin typeface="Calibri" pitchFamily="34" charset="0"/>
                <a:ea typeface="Calibri" pitchFamily="34" charset="-122"/>
                <a:cs typeface="Calibri" pitchFamily="34" charset="-120"/>
              </a:rPr>
              <a:t>Службе</a:t>
            </a:r>
            <a:endParaRPr lang="en-US" sz="1300" dirty="0"/>
          </a:p>
        </p:txBody>
      </p:sp>
      <p:sp>
        <p:nvSpPr>
          <p:cNvPr id="23" name="Text 21"/>
          <p:cNvSpPr txBox="1"/>
          <p:nvPr/>
        </p:nvSpPr>
        <p:spPr>
          <a:xfrm>
            <a:off x="8302752" y="3520440"/>
            <a:ext cx="2880360" cy="731520"/>
          </a:xfrm>
          <a:prstGeom prst="rect">
            <a:avLst/>
          </a:prstGeom>
          <a:noFill/>
          <a:ln/>
        </p:spPr>
        <p:txBody>
          <a:bodyPr wrap="square" lIns="0" tIns="0" rIns="0" bIns="0" rtlCol="0" anchor="t"/>
          <a:lstStyle/>
          <a:p>
            <a:pPr indent="0" marL="0">
              <a:buNone/>
            </a:pPr>
            <a:r>
              <a:rPr lang="en-US" sz="1800" b="1" dirty="0">
                <a:solidFill>
                  <a:srgbClr val="14201E"/>
                </a:solidFill>
                <a:latin typeface="Cambria" pitchFamily="34" charset="0"/>
                <a:ea typeface="Cambria" pitchFamily="34" charset="-122"/>
                <a:cs typeface="Cambria" pitchFamily="34" charset="-120"/>
              </a:rPr>
              <a:t>Прозрачные уровень, маршрут и цена</a:t>
            </a:r>
            <a:endParaRPr lang="en-US" sz="1800" dirty="0"/>
          </a:p>
        </p:txBody>
      </p:sp>
      <p:sp>
        <p:nvSpPr>
          <p:cNvPr id="24" name="Text 22"/>
          <p:cNvSpPr txBox="1"/>
          <p:nvPr/>
        </p:nvSpPr>
        <p:spPr>
          <a:xfrm>
            <a:off x="8302752" y="4297680"/>
            <a:ext cx="2926080" cy="17373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4201E"/>
                </a:solidFill>
                <a:latin typeface="Calibri" pitchFamily="34" charset="0"/>
                <a:ea typeface="Calibri" pitchFamily="34" charset="-122"/>
                <a:cs typeface="Calibri" pitchFamily="34" charset="-120"/>
              </a:rPr>
              <a:t>Предварительный уровень по шкале Приказа № 731</a:t>
            </a:r>
            <a:endParaRPr lang="en-US" sz="1300" dirty="0"/>
          </a:p>
          <a:p>
            <a:pPr marL="177800" indent="-177800">
              <a:spcAft>
                <a:spcPts val="500"/>
              </a:spcAft>
              <a:buSzPct val="100000"/>
              <a:buChar char="•"/>
            </a:pPr>
            <a:r>
              <a:rPr lang="en-US" sz="1300" dirty="0">
                <a:solidFill>
                  <a:srgbClr val="14201E"/>
                </a:solidFill>
                <a:latin typeface="Calibri" pitchFamily="34" charset="0"/>
                <a:ea typeface="Calibri" pitchFamily="34" charset="-122"/>
                <a:cs typeface="Calibri" pitchFamily="34" charset="-120"/>
              </a:rPr>
              <a:t>Маршрут М1–М5 предлагается правилами</a:t>
            </a:r>
            <a:endParaRPr lang="en-US" sz="1300" dirty="0"/>
          </a:p>
          <a:p>
            <a:pPr marL="177800" indent="-177800">
              <a:spcAft>
                <a:spcPts val="500"/>
              </a:spcAft>
              <a:buSzPct val="100000"/>
              <a:buChar char="•"/>
            </a:pPr>
            <a:r>
              <a:rPr lang="en-US" sz="1300" dirty="0">
                <a:solidFill>
                  <a:srgbClr val="14201E"/>
                </a:solidFill>
                <a:latin typeface="Calibri" pitchFamily="34" charset="0"/>
                <a:ea typeface="Calibri" pitchFamily="34" charset="-122"/>
                <a:cs typeface="Calibri" pitchFamily="34" charset="-120"/>
              </a:rPr>
              <a:t>Цена по рынку с разбором, из чего складывается час</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5A55"/>
                </a:solidFill>
                <a:latin typeface="Calibri" pitchFamily="34" charset="0"/>
                <a:ea typeface="Calibri" pitchFamily="34" charset="-122"/>
                <a:cs typeface="Calibri" pitchFamily="34" charset="-120"/>
              </a:rPr>
              <a:t>АРХИТЕКТУРА</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01E"/>
                </a:solidFill>
                <a:latin typeface="Cambria" pitchFamily="34" charset="0"/>
                <a:ea typeface="Cambria" pitchFamily="34" charset="-122"/>
                <a:cs typeface="Cambria" pitchFamily="34" charset="-120"/>
              </a:rPr>
              <a:t>Из чего состоит комплекс</a:t>
            </a:r>
            <a:endParaRPr lang="en-US" sz="2800" dirty="0"/>
          </a:p>
        </p:txBody>
      </p:sp>
      <p:sp>
        <p:nvSpPr>
          <p:cNvPr id="4" name="Text 2"/>
          <p:cNvSpPr txBox="1"/>
          <p:nvPr/>
        </p:nvSpPr>
        <p:spPr>
          <a:xfrm>
            <a:off x="548640" y="6419088"/>
            <a:ext cx="7315200" cy="228600"/>
          </a:xfrm>
          <a:prstGeom prst="rect">
            <a:avLst/>
          </a:prstGeom>
          <a:noFill/>
          <a:ln/>
        </p:spPr>
        <p:txBody>
          <a:bodyPr wrap="square" lIns="0" tIns="0" rIns="0" bIns="0" rtlCol="0" anchor="t"/>
          <a:lstStyle/>
          <a:p>
            <a:pPr indent="0" marL="0">
              <a:buNone/>
            </a:pPr>
            <a:r>
              <a:rPr lang="en-US" sz="900" dirty="0">
                <a:solidFill>
                  <a:srgbClr val="748480"/>
                </a:solidFill>
                <a:latin typeface="Calibri" pitchFamily="34" charset="0"/>
                <a:ea typeface="Calibri" pitchFamily="34" charset="-122"/>
                <a:cs typeface="Calibri" pitchFamily="34" charset="-120"/>
              </a:rPr>
              <a:t>АНО «СДУТ» · листинг комплекса «Бот SDUT63 и мини-приложение»</a:t>
            </a:r>
            <a:endParaRPr lang="en-US" sz="900" dirty="0"/>
          </a:p>
        </p:txBody>
      </p:sp>
      <p:sp>
        <p:nvSpPr>
          <p:cNvPr id="5" name="Text 3"/>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900" dirty="0">
                <a:solidFill>
                  <a:srgbClr val="748480"/>
                </a:solidFill>
                <a:latin typeface="Calibri" pitchFamily="34" charset="0"/>
                <a:ea typeface="Calibri" pitchFamily="34" charset="-122"/>
                <a:cs typeface="Calibri" pitchFamily="34" charset="-120"/>
              </a:rPr>
              <a:t>3 / 22</a:t>
            </a:r>
            <a:endParaRPr lang="en-US" sz="900" dirty="0"/>
          </a:p>
        </p:txBody>
      </p:sp>
      <p:sp>
        <p:nvSpPr>
          <p:cNvPr id="6" name="Shape 4"/>
          <p:cNvSpPr/>
          <p:nvPr/>
        </p:nvSpPr>
        <p:spPr>
          <a:xfrm>
            <a:off x="548640" y="3063240"/>
            <a:ext cx="1234440" cy="1234440"/>
          </a:xfrm>
          <a:prstGeom prst="ellipse">
            <a:avLst/>
          </a:prstGeom>
          <a:solidFill>
            <a:srgbClr val="D6E6E3"/>
          </a:solidFill>
          <a:ln w="12700">
            <a:solidFill>
              <a:srgbClr val="D6E6E3"/>
            </a:solidFill>
            <a:prstDash val="solid"/>
          </a:ln>
        </p:spPr>
      </p:sp>
      <p:sp>
        <p:nvSpPr>
          <p:cNvPr id="7" name="Text 5"/>
          <p:cNvSpPr txBox="1"/>
          <p:nvPr/>
        </p:nvSpPr>
        <p:spPr>
          <a:xfrm>
            <a:off x="548640" y="3063240"/>
            <a:ext cx="1234440" cy="1234440"/>
          </a:xfrm>
          <a:prstGeom prst="rect">
            <a:avLst/>
          </a:prstGeom>
          <a:noFill/>
          <a:ln/>
        </p:spPr>
        <p:txBody>
          <a:bodyPr wrap="square" lIns="0" tIns="0" rIns="0" bIns="0" rtlCol="0" anchor="ctr"/>
          <a:lstStyle/>
          <a:p>
            <a:pPr algn="ctr" indent="0" marL="0">
              <a:buNone/>
            </a:pPr>
            <a:r>
              <a:rPr lang="en-US" sz="1400" b="1" dirty="0">
                <a:solidFill>
                  <a:srgbClr val="1B5A55"/>
                </a:solidFill>
                <a:latin typeface="Calibri" pitchFamily="34" charset="0"/>
                <a:ea typeface="Calibri" pitchFamily="34" charset="-122"/>
                <a:cs typeface="Calibri" pitchFamily="34" charset="-120"/>
              </a:rPr>
              <a:t>Семья</a:t>
            </a:r>
            <a:endParaRPr lang="en-US" sz="1400" dirty="0"/>
          </a:p>
        </p:txBody>
      </p:sp>
      <p:sp>
        <p:nvSpPr>
          <p:cNvPr id="8" name="Shape 6"/>
          <p:cNvSpPr/>
          <p:nvPr/>
        </p:nvSpPr>
        <p:spPr>
          <a:xfrm>
            <a:off x="2331720" y="1600200"/>
            <a:ext cx="3520440" cy="1600200"/>
          </a:xfrm>
          <a:prstGeom prst="roundRect">
            <a:avLst>
              <a:gd name="adj" fmla="val 4571"/>
            </a:avLst>
          </a:prstGeom>
          <a:solidFill>
            <a:srgbClr val="1B5A55"/>
          </a:solidFill>
          <a:ln w="12700">
            <a:solidFill>
              <a:srgbClr val="1B5A55"/>
            </a:solidFill>
            <a:prstDash val="solid"/>
          </a:ln>
        </p:spPr>
      </p:sp>
      <p:sp>
        <p:nvSpPr>
          <p:cNvPr id="9" name="Text 7"/>
          <p:cNvSpPr txBox="1"/>
          <p:nvPr/>
        </p:nvSpPr>
        <p:spPr>
          <a:xfrm>
            <a:off x="2514600" y="1737360"/>
            <a:ext cx="3154680"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Бот SDUT63 в MAX</a:t>
            </a:r>
            <a:endParaRPr lang="en-US" sz="1400" dirty="0"/>
          </a:p>
        </p:txBody>
      </p:sp>
      <p:sp>
        <p:nvSpPr>
          <p:cNvPr id="10" name="Text 8"/>
          <p:cNvSpPr txBox="1"/>
          <p:nvPr/>
        </p:nvSpPr>
        <p:spPr>
          <a:xfrm>
            <a:off x="2514600" y="2075688"/>
            <a:ext cx="3154680" cy="1033272"/>
          </a:xfrm>
          <a:prstGeom prst="rect">
            <a:avLst/>
          </a:prstGeom>
          <a:noFill/>
          <a:ln/>
        </p:spPr>
        <p:txBody>
          <a:bodyPr wrap="square" lIns="0" tIns="0" rIns="0" bIns="0" rtlCol="0" anchor="t"/>
          <a:lstStyle/>
          <a:p>
            <a:pPr indent="0" marL="0">
              <a:buNone/>
            </a:pPr>
            <a:r>
              <a:rPr lang="en-US" sz="1150" dirty="0">
                <a:solidFill>
                  <a:srgbClr val="D6E6E3"/>
                </a:solidFill>
                <a:latin typeface="Calibri" pitchFamily="34" charset="0"/>
                <a:ea typeface="Calibri" pitchFamily="34" charset="-122"/>
                <a:cs typeface="Calibri" pitchFamily="34" charset="-120"/>
              </a:rPr>
              <a:t>Согласие · анкета из 34 вопросов · сигналы тревоги · ответы по базе знаний · лесенка из 10 ступеней на непонятное</a:t>
            </a:r>
            <a:endParaRPr lang="en-US" sz="1150" dirty="0"/>
          </a:p>
        </p:txBody>
      </p:sp>
      <p:sp>
        <p:nvSpPr>
          <p:cNvPr id="11" name="Shape 9"/>
          <p:cNvSpPr/>
          <p:nvPr/>
        </p:nvSpPr>
        <p:spPr>
          <a:xfrm>
            <a:off x="2331720" y="4160520"/>
            <a:ext cx="3520440" cy="1783080"/>
          </a:xfrm>
          <a:prstGeom prst="roundRect">
            <a:avLst>
              <a:gd name="adj" fmla="val 4103"/>
            </a:avLst>
          </a:prstGeom>
          <a:solidFill>
            <a:srgbClr val="1B5A55"/>
          </a:solidFill>
          <a:ln w="12700">
            <a:solidFill>
              <a:srgbClr val="1B5A55"/>
            </a:solidFill>
            <a:prstDash val="solid"/>
          </a:ln>
        </p:spPr>
      </p:sp>
      <p:sp>
        <p:nvSpPr>
          <p:cNvPr id="12" name="Text 10"/>
          <p:cNvSpPr txBox="1"/>
          <p:nvPr/>
        </p:nvSpPr>
        <p:spPr>
          <a:xfrm>
            <a:off x="2514600" y="4297680"/>
            <a:ext cx="3154680"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Мини‑приложение «Помощь дома»</a:t>
            </a:r>
            <a:endParaRPr lang="en-US" sz="1400" dirty="0"/>
          </a:p>
        </p:txBody>
      </p:sp>
      <p:sp>
        <p:nvSpPr>
          <p:cNvPr id="13" name="Text 11"/>
          <p:cNvSpPr txBox="1"/>
          <p:nvPr/>
        </p:nvSpPr>
        <p:spPr>
          <a:xfrm>
            <a:off x="2514600" y="4636008"/>
            <a:ext cx="3154680" cy="1216152"/>
          </a:xfrm>
          <a:prstGeom prst="rect">
            <a:avLst/>
          </a:prstGeom>
          <a:noFill/>
          <a:ln/>
        </p:spPr>
        <p:txBody>
          <a:bodyPr wrap="square" lIns="0" tIns="0" rIns="0" bIns="0" rtlCol="0" anchor="t"/>
          <a:lstStyle/>
          <a:p>
            <a:pPr indent="0" marL="0">
              <a:buNone/>
            </a:pPr>
            <a:r>
              <a:rPr lang="en-US" sz="1150" dirty="0">
                <a:solidFill>
                  <a:srgbClr val="D6E6E3"/>
                </a:solidFill>
                <a:latin typeface="Calibri" pitchFamily="34" charset="0"/>
                <a:ea typeface="Calibri" pitchFamily="34" charset="-122"/>
                <a:cs typeface="Calibri" pitchFamily="34" charset="-120"/>
              </a:rPr>
              <a:t>Один HTML-файл 0,7 МБ, считает в телефоне · план ухода · часы · стоимость · оборудование · справочник</a:t>
            </a:r>
            <a:endParaRPr lang="en-US" sz="1150" dirty="0"/>
          </a:p>
        </p:txBody>
      </p:sp>
      <p:sp>
        <p:nvSpPr>
          <p:cNvPr id="14" name="Shape 12"/>
          <p:cNvSpPr/>
          <p:nvPr/>
        </p:nvSpPr>
        <p:spPr>
          <a:xfrm>
            <a:off x="6446520" y="1600200"/>
            <a:ext cx="2377440" cy="1600200"/>
          </a:xfrm>
          <a:prstGeom prst="roundRect">
            <a:avLst>
              <a:gd name="adj" fmla="val 4571"/>
            </a:avLst>
          </a:prstGeom>
          <a:solidFill>
            <a:srgbClr val="FFFFFF"/>
          </a:solidFill>
          <a:ln w="12700">
            <a:solidFill>
              <a:srgbClr val="CBD6D2"/>
            </a:solidFill>
            <a:prstDash val="solid"/>
          </a:ln>
        </p:spPr>
      </p:sp>
      <p:sp>
        <p:nvSpPr>
          <p:cNvPr id="15" name="Text 13"/>
          <p:cNvSpPr txBox="1"/>
          <p:nvPr/>
        </p:nvSpPr>
        <p:spPr>
          <a:xfrm>
            <a:off x="6629400" y="1737360"/>
            <a:ext cx="2011680" cy="320040"/>
          </a:xfrm>
          <a:prstGeom prst="rect">
            <a:avLst/>
          </a:prstGeom>
          <a:noFill/>
          <a:ln/>
        </p:spPr>
        <p:txBody>
          <a:bodyPr wrap="square" lIns="0" tIns="0" rIns="0" bIns="0" rtlCol="0" anchor="t"/>
          <a:lstStyle/>
          <a:p>
            <a:pPr indent="0" marL="0">
              <a:buNone/>
            </a:pPr>
            <a:r>
              <a:rPr lang="en-US" sz="1400" b="1" dirty="0">
                <a:solidFill>
                  <a:srgbClr val="1B5A55"/>
                </a:solidFill>
                <a:latin typeface="Calibri" pitchFamily="34" charset="0"/>
                <a:ea typeface="Calibri" pitchFamily="34" charset="-122"/>
                <a:cs typeface="Calibri" pitchFamily="34" charset="-120"/>
              </a:rPr>
              <a:t>Хранилище</a:t>
            </a:r>
            <a:endParaRPr lang="en-US" sz="1400" dirty="0"/>
          </a:p>
        </p:txBody>
      </p:sp>
      <p:sp>
        <p:nvSpPr>
          <p:cNvPr id="16" name="Text 14"/>
          <p:cNvSpPr txBox="1"/>
          <p:nvPr/>
        </p:nvSpPr>
        <p:spPr>
          <a:xfrm>
            <a:off x="6629400" y="2075688"/>
            <a:ext cx="2011680" cy="1033272"/>
          </a:xfrm>
          <a:prstGeom prst="rect">
            <a:avLst/>
          </a:prstGeom>
          <a:noFill/>
          <a:ln/>
        </p:spPr>
        <p:txBody>
          <a:bodyPr wrap="square" lIns="0" tIns="0" rIns="0" bIns="0" rtlCol="0" anchor="t"/>
          <a:lstStyle/>
          <a:p>
            <a:pPr indent="0" marL="0">
              <a:buNone/>
            </a:pPr>
            <a:r>
              <a:rPr lang="en-US" sz="1150" dirty="0">
                <a:solidFill>
                  <a:srgbClr val="4B5A56"/>
                </a:solidFill>
                <a:latin typeface="Calibri" pitchFamily="34" charset="0"/>
                <a:ea typeface="Calibri" pitchFamily="34" charset="-122"/>
                <a:cs typeface="Calibri" pitchFamily="34" charset="-120"/>
              </a:rPr>
              <a:t>PostgreSQL 16 или SQLite · очередь исходящих · отметки об удалении</a:t>
            </a:r>
            <a:endParaRPr lang="en-US" sz="1150" dirty="0"/>
          </a:p>
        </p:txBody>
      </p:sp>
      <p:sp>
        <p:nvSpPr>
          <p:cNvPr id="17" name="Shape 15"/>
          <p:cNvSpPr/>
          <p:nvPr/>
        </p:nvSpPr>
        <p:spPr>
          <a:xfrm>
            <a:off x="9262872" y="1600200"/>
            <a:ext cx="2377440" cy="1600200"/>
          </a:xfrm>
          <a:prstGeom prst="roundRect">
            <a:avLst>
              <a:gd name="adj" fmla="val 4571"/>
            </a:avLst>
          </a:prstGeom>
          <a:solidFill>
            <a:srgbClr val="FFFFFF"/>
          </a:solidFill>
          <a:ln w="12700">
            <a:solidFill>
              <a:srgbClr val="CBD6D2"/>
            </a:solidFill>
            <a:prstDash val="solid"/>
          </a:ln>
        </p:spPr>
      </p:sp>
      <p:sp>
        <p:nvSpPr>
          <p:cNvPr id="18" name="Text 16"/>
          <p:cNvSpPr txBox="1"/>
          <p:nvPr/>
        </p:nvSpPr>
        <p:spPr>
          <a:xfrm>
            <a:off x="9445752" y="1737360"/>
            <a:ext cx="2011680" cy="320040"/>
          </a:xfrm>
          <a:prstGeom prst="rect">
            <a:avLst/>
          </a:prstGeom>
          <a:noFill/>
          <a:ln/>
        </p:spPr>
        <p:txBody>
          <a:bodyPr wrap="square" lIns="0" tIns="0" rIns="0" bIns="0" rtlCol="0" anchor="t"/>
          <a:lstStyle/>
          <a:p>
            <a:pPr indent="0" marL="0">
              <a:buNone/>
            </a:pPr>
            <a:r>
              <a:rPr lang="en-US" sz="1400" b="1" dirty="0">
                <a:solidFill>
                  <a:srgbClr val="1B5A55"/>
                </a:solidFill>
                <a:latin typeface="Calibri" pitchFamily="34" charset="0"/>
                <a:ea typeface="Calibri" pitchFamily="34" charset="-122"/>
                <a:cs typeface="Calibri" pitchFamily="34" charset="-120"/>
              </a:rPr>
              <a:t>CRM координатора</a:t>
            </a:r>
            <a:endParaRPr lang="en-US" sz="1400" dirty="0"/>
          </a:p>
        </p:txBody>
      </p:sp>
      <p:sp>
        <p:nvSpPr>
          <p:cNvPr id="19" name="Text 17"/>
          <p:cNvSpPr txBox="1"/>
          <p:nvPr/>
        </p:nvSpPr>
        <p:spPr>
          <a:xfrm>
            <a:off x="9445752" y="2075688"/>
            <a:ext cx="2011680" cy="1033272"/>
          </a:xfrm>
          <a:prstGeom prst="rect">
            <a:avLst/>
          </a:prstGeom>
          <a:noFill/>
          <a:ln/>
        </p:spPr>
        <p:txBody>
          <a:bodyPr wrap="square" lIns="0" tIns="0" rIns="0" bIns="0" rtlCol="0" anchor="t"/>
          <a:lstStyle/>
          <a:p>
            <a:pPr indent="0" marL="0">
              <a:buNone/>
            </a:pPr>
            <a:r>
              <a:rPr lang="en-US" sz="1150" dirty="0">
                <a:solidFill>
                  <a:srgbClr val="4B5A56"/>
                </a:solidFill>
                <a:latin typeface="Calibri" pitchFamily="34" charset="0"/>
                <a:ea typeface="Calibri" pitchFamily="34" charset="-122"/>
                <a:cs typeface="Calibri" pitchFamily="34" charset="-120"/>
              </a:rPr>
              <a:t>Карточка · переписка · вложения · выгрузка в Excel · роли и вход</a:t>
            </a:r>
            <a:endParaRPr lang="en-US" sz="1150" dirty="0"/>
          </a:p>
        </p:txBody>
      </p:sp>
      <p:sp>
        <p:nvSpPr>
          <p:cNvPr id="20" name="Shape 18"/>
          <p:cNvSpPr/>
          <p:nvPr/>
        </p:nvSpPr>
        <p:spPr>
          <a:xfrm>
            <a:off x="6446520" y="4160520"/>
            <a:ext cx="5193792" cy="1783080"/>
          </a:xfrm>
          <a:prstGeom prst="roundRect">
            <a:avLst>
              <a:gd name="adj" fmla="val 4103"/>
            </a:avLst>
          </a:prstGeom>
          <a:solidFill>
            <a:srgbClr val="F2F5F3"/>
          </a:solidFill>
          <a:ln w="12700">
            <a:solidFill>
              <a:srgbClr val="F2F5F3"/>
            </a:solidFill>
            <a:prstDash val="solid"/>
          </a:ln>
        </p:spPr>
      </p:sp>
      <p:sp>
        <p:nvSpPr>
          <p:cNvPr id="21" name="Text 19"/>
          <p:cNvSpPr txBox="1"/>
          <p:nvPr/>
        </p:nvSpPr>
        <p:spPr>
          <a:xfrm>
            <a:off x="6629400" y="4297680"/>
            <a:ext cx="4846320" cy="320040"/>
          </a:xfrm>
          <a:prstGeom prst="rect">
            <a:avLst/>
          </a:prstGeom>
          <a:noFill/>
          <a:ln/>
        </p:spPr>
        <p:txBody>
          <a:bodyPr wrap="square" lIns="0" tIns="0" rIns="0" bIns="0" rtlCol="0" anchor="t"/>
          <a:lstStyle/>
          <a:p>
            <a:pPr indent="0" marL="0">
              <a:buNone/>
            </a:pPr>
            <a:r>
              <a:rPr lang="en-US" sz="1300" b="1" dirty="0">
                <a:solidFill>
                  <a:srgbClr val="14201E"/>
                </a:solidFill>
                <a:latin typeface="Calibri" pitchFamily="34" charset="0"/>
                <a:ea typeface="Calibri" pitchFamily="34" charset="-122"/>
                <a:cs typeface="Calibri" pitchFamily="34" charset="-120"/>
              </a:rPr>
              <a:t>Общие модели — одна выгрузка для сервера и телефона</a:t>
            </a:r>
            <a:endParaRPr lang="en-US" sz="1300" dirty="0"/>
          </a:p>
        </p:txBody>
      </p:sp>
      <p:sp>
        <p:nvSpPr>
          <p:cNvPr id="22" name="Shape 20"/>
          <p:cNvSpPr/>
          <p:nvPr/>
        </p:nvSpPr>
        <p:spPr>
          <a:xfrm>
            <a:off x="6629400" y="4754880"/>
            <a:ext cx="1536192" cy="347472"/>
          </a:xfrm>
          <a:prstGeom prst="roundRect">
            <a:avLst>
              <a:gd name="adj" fmla="val 15789"/>
            </a:avLst>
          </a:prstGeom>
          <a:solidFill>
            <a:srgbClr val="FFFFFF"/>
          </a:solidFill>
          <a:ln w="9525">
            <a:solidFill>
              <a:srgbClr val="CBD6D2"/>
            </a:solidFill>
            <a:prstDash val="solid"/>
          </a:ln>
        </p:spPr>
      </p:sp>
      <p:sp>
        <p:nvSpPr>
          <p:cNvPr id="23" name="Text 21"/>
          <p:cNvSpPr txBox="1"/>
          <p:nvPr/>
        </p:nvSpPr>
        <p:spPr>
          <a:xfrm>
            <a:off x="6629400" y="4754880"/>
            <a:ext cx="1536192" cy="347472"/>
          </a:xfrm>
          <a:prstGeom prst="rect">
            <a:avLst/>
          </a:prstGeom>
          <a:noFill/>
          <a:ln/>
        </p:spPr>
        <p:txBody>
          <a:bodyPr wrap="square" lIns="0" tIns="0" rIns="0" bIns="0" rtlCol="0" anchor="ctr"/>
          <a:lstStyle/>
          <a:p>
            <a:pPr algn="ctr" indent="0" marL="0">
              <a:buNone/>
            </a:pPr>
            <a:r>
              <a:rPr lang="en-US" sz="1000" dirty="0">
                <a:solidFill>
                  <a:srgbClr val="14201E"/>
                </a:solidFill>
                <a:latin typeface="Calibri" pitchFamily="34" charset="0"/>
                <a:ea typeface="Calibri" pitchFamily="34" charset="-122"/>
                <a:cs typeface="Calibri" pitchFamily="34" charset="-120"/>
              </a:rPr>
              <a:t>База знаний: 243 статьи</a:t>
            </a:r>
            <a:endParaRPr lang="en-US" sz="1000" dirty="0"/>
          </a:p>
        </p:txBody>
      </p:sp>
      <p:sp>
        <p:nvSpPr>
          <p:cNvPr id="24" name="Shape 22"/>
          <p:cNvSpPr/>
          <p:nvPr/>
        </p:nvSpPr>
        <p:spPr>
          <a:xfrm>
            <a:off x="8275320" y="4754880"/>
            <a:ext cx="1536192" cy="347472"/>
          </a:xfrm>
          <a:prstGeom prst="roundRect">
            <a:avLst>
              <a:gd name="adj" fmla="val 15789"/>
            </a:avLst>
          </a:prstGeom>
          <a:solidFill>
            <a:srgbClr val="FFFFFF"/>
          </a:solidFill>
          <a:ln w="9525">
            <a:solidFill>
              <a:srgbClr val="CBD6D2"/>
            </a:solidFill>
            <a:prstDash val="solid"/>
          </a:ln>
        </p:spPr>
      </p:sp>
      <p:sp>
        <p:nvSpPr>
          <p:cNvPr id="25" name="Text 23"/>
          <p:cNvSpPr txBox="1"/>
          <p:nvPr/>
        </p:nvSpPr>
        <p:spPr>
          <a:xfrm>
            <a:off x="8275320" y="4754880"/>
            <a:ext cx="1536192" cy="347472"/>
          </a:xfrm>
          <a:prstGeom prst="rect">
            <a:avLst/>
          </a:prstGeom>
          <a:noFill/>
          <a:ln/>
        </p:spPr>
        <p:txBody>
          <a:bodyPr wrap="square" lIns="0" tIns="0" rIns="0" bIns="0" rtlCol="0" anchor="ctr"/>
          <a:lstStyle/>
          <a:p>
            <a:pPr algn="ctr" indent="0" marL="0">
              <a:buNone/>
            </a:pPr>
            <a:r>
              <a:rPr lang="en-US" sz="1000" dirty="0">
                <a:solidFill>
                  <a:srgbClr val="14201E"/>
                </a:solidFill>
                <a:latin typeface="Calibri" pitchFamily="34" charset="0"/>
                <a:ea typeface="Calibri" pitchFamily="34" charset="-122"/>
                <a:cs typeface="Calibri" pitchFamily="34" charset="-120"/>
              </a:rPr>
              <a:t>Шкала Приказа № 731</a:t>
            </a:r>
            <a:endParaRPr lang="en-US" sz="1000" dirty="0"/>
          </a:p>
        </p:txBody>
      </p:sp>
      <p:sp>
        <p:nvSpPr>
          <p:cNvPr id="26" name="Shape 24"/>
          <p:cNvSpPr/>
          <p:nvPr/>
        </p:nvSpPr>
        <p:spPr>
          <a:xfrm>
            <a:off x="9921240" y="4754880"/>
            <a:ext cx="1536192" cy="347472"/>
          </a:xfrm>
          <a:prstGeom prst="roundRect">
            <a:avLst>
              <a:gd name="adj" fmla="val 15789"/>
            </a:avLst>
          </a:prstGeom>
          <a:solidFill>
            <a:srgbClr val="FFFFFF"/>
          </a:solidFill>
          <a:ln w="9525">
            <a:solidFill>
              <a:srgbClr val="CBD6D2"/>
            </a:solidFill>
            <a:prstDash val="solid"/>
          </a:ln>
        </p:spPr>
      </p:sp>
      <p:sp>
        <p:nvSpPr>
          <p:cNvPr id="27" name="Text 25"/>
          <p:cNvSpPr txBox="1"/>
          <p:nvPr/>
        </p:nvSpPr>
        <p:spPr>
          <a:xfrm>
            <a:off x="9921240" y="4754880"/>
            <a:ext cx="1536192" cy="347472"/>
          </a:xfrm>
          <a:prstGeom prst="rect">
            <a:avLst/>
          </a:prstGeom>
          <a:noFill/>
          <a:ln/>
        </p:spPr>
        <p:txBody>
          <a:bodyPr wrap="square" lIns="0" tIns="0" rIns="0" bIns="0" rtlCol="0" anchor="ctr"/>
          <a:lstStyle/>
          <a:p>
            <a:pPr algn="ctr" indent="0" marL="0">
              <a:buNone/>
            </a:pPr>
            <a:r>
              <a:rPr lang="en-US" sz="1000" dirty="0">
                <a:solidFill>
                  <a:srgbClr val="14201E"/>
                </a:solidFill>
                <a:latin typeface="Calibri" pitchFamily="34" charset="0"/>
                <a:ea typeface="Calibri" pitchFamily="34" charset="-122"/>
                <a:cs typeface="Calibri" pitchFamily="34" charset="-120"/>
              </a:rPr>
              <a:t>Анкета → шкала и план</a:t>
            </a:r>
            <a:endParaRPr lang="en-US" sz="1000" dirty="0"/>
          </a:p>
        </p:txBody>
      </p:sp>
      <p:sp>
        <p:nvSpPr>
          <p:cNvPr id="28" name="Shape 26"/>
          <p:cNvSpPr/>
          <p:nvPr/>
        </p:nvSpPr>
        <p:spPr>
          <a:xfrm>
            <a:off x="6629400" y="5212080"/>
            <a:ext cx="1536192" cy="347472"/>
          </a:xfrm>
          <a:prstGeom prst="roundRect">
            <a:avLst>
              <a:gd name="adj" fmla="val 15789"/>
            </a:avLst>
          </a:prstGeom>
          <a:solidFill>
            <a:srgbClr val="FFFFFF"/>
          </a:solidFill>
          <a:ln w="9525">
            <a:solidFill>
              <a:srgbClr val="CBD6D2"/>
            </a:solidFill>
            <a:prstDash val="solid"/>
          </a:ln>
        </p:spPr>
      </p:sp>
      <p:sp>
        <p:nvSpPr>
          <p:cNvPr id="29" name="Text 27"/>
          <p:cNvSpPr txBox="1"/>
          <p:nvPr/>
        </p:nvSpPr>
        <p:spPr>
          <a:xfrm>
            <a:off x="6629400" y="5212080"/>
            <a:ext cx="1536192" cy="347472"/>
          </a:xfrm>
          <a:prstGeom prst="rect">
            <a:avLst/>
          </a:prstGeom>
          <a:noFill/>
          <a:ln/>
        </p:spPr>
        <p:txBody>
          <a:bodyPr wrap="square" lIns="0" tIns="0" rIns="0" bIns="0" rtlCol="0" anchor="ctr"/>
          <a:lstStyle/>
          <a:p>
            <a:pPr algn="ctr" indent="0" marL="0">
              <a:buNone/>
            </a:pPr>
            <a:r>
              <a:rPr lang="en-US" sz="1000" dirty="0">
                <a:solidFill>
                  <a:srgbClr val="14201E"/>
                </a:solidFill>
                <a:latin typeface="Calibri" pitchFamily="34" charset="0"/>
                <a:ea typeface="Calibri" pitchFamily="34" charset="-122"/>
                <a:cs typeface="Calibri" pitchFamily="34" charset="-120"/>
              </a:rPr>
              <a:t>План: 5 шаблонов</a:t>
            </a:r>
            <a:endParaRPr lang="en-US" sz="1000" dirty="0"/>
          </a:p>
        </p:txBody>
      </p:sp>
      <p:sp>
        <p:nvSpPr>
          <p:cNvPr id="30" name="Shape 28"/>
          <p:cNvSpPr/>
          <p:nvPr/>
        </p:nvSpPr>
        <p:spPr>
          <a:xfrm>
            <a:off x="8275320" y="5212080"/>
            <a:ext cx="1536192" cy="347472"/>
          </a:xfrm>
          <a:prstGeom prst="roundRect">
            <a:avLst>
              <a:gd name="adj" fmla="val 15789"/>
            </a:avLst>
          </a:prstGeom>
          <a:solidFill>
            <a:srgbClr val="FFFFFF"/>
          </a:solidFill>
          <a:ln w="9525">
            <a:solidFill>
              <a:srgbClr val="CBD6D2"/>
            </a:solidFill>
            <a:prstDash val="solid"/>
          </a:ln>
        </p:spPr>
      </p:sp>
      <p:sp>
        <p:nvSpPr>
          <p:cNvPr id="31" name="Text 29"/>
          <p:cNvSpPr txBox="1"/>
          <p:nvPr/>
        </p:nvSpPr>
        <p:spPr>
          <a:xfrm>
            <a:off x="8275320" y="5212080"/>
            <a:ext cx="1536192" cy="347472"/>
          </a:xfrm>
          <a:prstGeom prst="rect">
            <a:avLst/>
          </a:prstGeom>
          <a:noFill/>
          <a:ln/>
        </p:spPr>
        <p:txBody>
          <a:bodyPr wrap="square" lIns="0" tIns="0" rIns="0" bIns="0" rtlCol="0" anchor="ctr"/>
          <a:lstStyle/>
          <a:p>
            <a:pPr algn="ctr" indent="0" marL="0">
              <a:buNone/>
            </a:pPr>
            <a:r>
              <a:rPr lang="en-US" sz="1000" dirty="0">
                <a:solidFill>
                  <a:srgbClr val="14201E"/>
                </a:solidFill>
                <a:latin typeface="Calibri" pitchFamily="34" charset="0"/>
                <a:ea typeface="Calibri" pitchFamily="34" charset="-122"/>
                <a:cs typeface="Calibri" pitchFamily="34" charset="-120"/>
              </a:rPr>
              <a:t>Рынок и прайс</a:t>
            </a:r>
            <a:endParaRPr lang="en-US" sz="1000" dirty="0"/>
          </a:p>
        </p:txBody>
      </p:sp>
      <p:sp>
        <p:nvSpPr>
          <p:cNvPr id="32" name="Shape 30"/>
          <p:cNvSpPr/>
          <p:nvPr/>
        </p:nvSpPr>
        <p:spPr>
          <a:xfrm>
            <a:off x="9921240" y="5212080"/>
            <a:ext cx="1536192" cy="347472"/>
          </a:xfrm>
          <a:prstGeom prst="roundRect">
            <a:avLst>
              <a:gd name="adj" fmla="val 15789"/>
            </a:avLst>
          </a:prstGeom>
          <a:solidFill>
            <a:srgbClr val="FFFFFF"/>
          </a:solidFill>
          <a:ln w="9525">
            <a:solidFill>
              <a:srgbClr val="CBD6D2"/>
            </a:solidFill>
            <a:prstDash val="solid"/>
          </a:ln>
        </p:spPr>
      </p:sp>
      <p:sp>
        <p:nvSpPr>
          <p:cNvPr id="33" name="Text 31"/>
          <p:cNvSpPr txBox="1"/>
          <p:nvPr/>
        </p:nvSpPr>
        <p:spPr>
          <a:xfrm>
            <a:off x="9921240" y="5212080"/>
            <a:ext cx="1536192" cy="347472"/>
          </a:xfrm>
          <a:prstGeom prst="rect">
            <a:avLst/>
          </a:prstGeom>
          <a:noFill/>
          <a:ln/>
        </p:spPr>
        <p:txBody>
          <a:bodyPr wrap="square" lIns="0" tIns="0" rIns="0" bIns="0" rtlCol="0" anchor="ctr"/>
          <a:lstStyle/>
          <a:p>
            <a:pPr algn="ctr" indent="0" marL="0">
              <a:buNone/>
            </a:pPr>
            <a:r>
              <a:rPr lang="en-US" sz="1000" dirty="0">
                <a:solidFill>
                  <a:srgbClr val="14201E"/>
                </a:solidFill>
                <a:latin typeface="Calibri" pitchFamily="34" charset="0"/>
                <a:ea typeface="Calibri" pitchFamily="34" charset="-122"/>
                <a:cs typeface="Calibri" pitchFamily="34" charset="-120"/>
              </a:rPr>
              <a:t>ТСР: 20 средств</a:t>
            </a:r>
            <a:endParaRPr lang="en-US" sz="1000" dirty="0"/>
          </a:p>
        </p:txBody>
      </p:sp>
      <p:sp>
        <p:nvSpPr>
          <p:cNvPr id="34" name="Shape 32"/>
          <p:cNvSpPr/>
          <p:nvPr/>
        </p:nvSpPr>
        <p:spPr>
          <a:xfrm flipV="1">
            <a:off x="1783080" y="2514600"/>
            <a:ext cx="548640" cy="868680"/>
          </a:xfrm>
          <a:prstGeom prst="line">
            <a:avLst/>
          </a:prstGeom>
          <a:noFill/>
          <a:ln w="19050">
            <a:solidFill>
              <a:srgbClr val="1B5A55"/>
            </a:solidFill>
            <a:prstDash val="solid"/>
            <a:tailEnd type="triangle"/>
          </a:ln>
        </p:spPr>
      </p:sp>
      <p:sp>
        <p:nvSpPr>
          <p:cNvPr id="35" name="Shape 33"/>
          <p:cNvSpPr/>
          <p:nvPr/>
        </p:nvSpPr>
        <p:spPr>
          <a:xfrm>
            <a:off x="1783080" y="3977640"/>
            <a:ext cx="548640" cy="960120"/>
          </a:xfrm>
          <a:prstGeom prst="line">
            <a:avLst/>
          </a:prstGeom>
          <a:noFill/>
          <a:ln w="19050">
            <a:solidFill>
              <a:srgbClr val="1B5A55"/>
            </a:solidFill>
            <a:prstDash val="solid"/>
            <a:tailEnd type="triangle"/>
          </a:ln>
        </p:spPr>
      </p:sp>
      <p:sp>
        <p:nvSpPr>
          <p:cNvPr id="36" name="Shape 34"/>
          <p:cNvSpPr/>
          <p:nvPr/>
        </p:nvSpPr>
        <p:spPr>
          <a:xfrm>
            <a:off x="5852160" y="2395728"/>
            <a:ext cx="594360" cy="914"/>
          </a:xfrm>
          <a:prstGeom prst="line">
            <a:avLst/>
          </a:prstGeom>
          <a:noFill/>
          <a:ln w="19050">
            <a:solidFill>
              <a:srgbClr val="1B5A55"/>
            </a:solidFill>
            <a:prstDash val="solid"/>
            <a:tailEnd type="triangle"/>
          </a:ln>
        </p:spPr>
      </p:sp>
      <p:sp>
        <p:nvSpPr>
          <p:cNvPr id="37" name="Shape 35"/>
          <p:cNvSpPr/>
          <p:nvPr/>
        </p:nvSpPr>
        <p:spPr>
          <a:xfrm>
            <a:off x="8823960" y="2395728"/>
            <a:ext cx="438912" cy="914"/>
          </a:xfrm>
          <a:prstGeom prst="line">
            <a:avLst/>
          </a:prstGeom>
          <a:noFill/>
          <a:ln w="19050">
            <a:solidFill>
              <a:srgbClr val="1B5A55"/>
            </a:solidFill>
            <a:prstDash val="solid"/>
            <a:tailEnd type="triangle"/>
          </a:ln>
        </p:spPr>
      </p:sp>
      <p:sp>
        <p:nvSpPr>
          <p:cNvPr id="38" name="Shape 36"/>
          <p:cNvSpPr/>
          <p:nvPr/>
        </p:nvSpPr>
        <p:spPr>
          <a:xfrm>
            <a:off x="3886200" y="3200400"/>
            <a:ext cx="914" cy="960120"/>
          </a:xfrm>
          <a:prstGeom prst="line">
            <a:avLst/>
          </a:prstGeom>
          <a:noFill/>
          <a:ln w="19050">
            <a:solidFill>
              <a:srgbClr val="1B5A55"/>
            </a:solidFill>
            <a:prstDash val="solid"/>
            <a:tailEnd type="triangle"/>
          </a:ln>
        </p:spPr>
      </p:sp>
      <p:sp>
        <p:nvSpPr>
          <p:cNvPr id="39" name="Text 37"/>
          <p:cNvSpPr txBox="1"/>
          <p:nvPr/>
        </p:nvSpPr>
        <p:spPr>
          <a:xfrm>
            <a:off x="4023360" y="3291840"/>
            <a:ext cx="2194560" cy="822960"/>
          </a:xfrm>
          <a:prstGeom prst="rect">
            <a:avLst/>
          </a:prstGeom>
          <a:noFill/>
          <a:ln/>
        </p:spPr>
        <p:txBody>
          <a:bodyPr wrap="square" lIns="0" tIns="0" rIns="0" bIns="0" rtlCol="0" anchor="t"/>
          <a:lstStyle/>
          <a:p>
            <a:pPr indent="0" marL="0">
              <a:buNone/>
            </a:pPr>
            <a:r>
              <a:rPr lang="en-US" sz="1050" i="1" dirty="0">
                <a:solidFill>
                  <a:srgbClr val="1B5A55"/>
                </a:solidFill>
                <a:latin typeface="Calibri" pitchFamily="34" charset="0"/>
                <a:ea typeface="Calibri" pitchFamily="34" charset="-122"/>
                <a:cs typeface="Calibri" pitchFamily="34" charset="-120"/>
              </a:rPr>
              <a:t>ссылка с ответами</a:t>
            </a:r>
            <a:endParaRPr lang="en-US" sz="1050" dirty="0"/>
          </a:p>
          <a:p>
            <a:pPr indent="0" marL="0">
              <a:buNone/>
            </a:pPr>
            <a:r>
              <a:rPr lang="en-US" sz="1050" i="1" dirty="0">
                <a:solidFill>
                  <a:srgbClr val="1B5A55"/>
                </a:solidFill>
                <a:latin typeface="Calibri" pitchFamily="34" charset="0"/>
                <a:ea typeface="Calibri" pitchFamily="34" charset="-122"/>
                <a:cs typeface="Calibri" pitchFamily="34" charset="-120"/>
              </a:rPr>
              <a:t>после «#» — на сервер</a:t>
            </a:r>
            <a:endParaRPr lang="en-US" sz="1050" dirty="0"/>
          </a:p>
          <a:p>
            <a:pPr indent="0" marL="0">
              <a:buNone/>
            </a:pPr>
            <a:r>
              <a:rPr lang="en-US" sz="1050" i="1" dirty="0">
                <a:solidFill>
                  <a:srgbClr val="1B5A55"/>
                </a:solidFill>
                <a:latin typeface="Calibri" pitchFamily="34" charset="0"/>
                <a:ea typeface="Calibri" pitchFamily="34" charset="-122"/>
                <a:cs typeface="Calibri" pitchFamily="34" charset="-120"/>
              </a:rPr>
              <a:t>не отправляется</a:t>
            </a:r>
            <a:endParaRPr lang="en-US" sz="1050" dirty="0"/>
          </a:p>
        </p:txBody>
      </p:sp>
      <p:sp>
        <p:nvSpPr>
          <p:cNvPr id="40" name="Shape 38"/>
          <p:cNvSpPr/>
          <p:nvPr/>
        </p:nvSpPr>
        <p:spPr>
          <a:xfrm flipH="1">
            <a:off x="5852160" y="5029200"/>
            <a:ext cx="594360" cy="914"/>
          </a:xfrm>
          <a:prstGeom prst="line">
            <a:avLst/>
          </a:prstGeom>
          <a:noFill/>
          <a:ln w="19050">
            <a:solidFill>
              <a:srgbClr val="748480"/>
            </a:solidFill>
            <a:prstDash val="dash"/>
            <a:tailEnd type="triangle"/>
          </a:ln>
        </p:spPr>
      </p:sp>
      <p:sp>
        <p:nvSpPr>
          <p:cNvPr id="41" name="Shape 39"/>
          <p:cNvSpPr/>
          <p:nvPr/>
        </p:nvSpPr>
        <p:spPr>
          <a:xfrm flipH="1" flipV="1">
            <a:off x="5852160" y="3017520"/>
            <a:ext cx="1097280" cy="1143000"/>
          </a:xfrm>
          <a:prstGeom prst="line">
            <a:avLst/>
          </a:prstGeom>
          <a:noFill/>
          <a:ln w="19050">
            <a:solidFill>
              <a:srgbClr val="748480"/>
            </a:solidFill>
            <a:prstDash val="dash"/>
            <a:tailEnd type="triangle"/>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5A55"/>
                </a:solidFill>
                <a:latin typeface="Calibri" pitchFamily="34" charset="0"/>
                <a:ea typeface="Calibri" pitchFamily="34" charset="-122"/>
                <a:cs typeface="Calibri" pitchFamily="34" charset="-120"/>
              </a:rPr>
              <a:t>ПУТЬ ПОЛЬЗОВАТЕЛЯ</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01E"/>
                </a:solidFill>
                <a:latin typeface="Cambria" pitchFamily="34" charset="0"/>
                <a:ea typeface="Cambria" pitchFamily="34" charset="-122"/>
                <a:cs typeface="Cambria" pitchFamily="34" charset="-120"/>
              </a:rPr>
              <a:t>От первого сообщения до звонка координатора</a:t>
            </a:r>
            <a:endParaRPr lang="en-US" sz="2800" dirty="0"/>
          </a:p>
        </p:txBody>
      </p:sp>
      <p:sp>
        <p:nvSpPr>
          <p:cNvPr id="4" name="Text 2"/>
          <p:cNvSpPr txBox="1"/>
          <p:nvPr/>
        </p:nvSpPr>
        <p:spPr>
          <a:xfrm>
            <a:off x="548640" y="6419088"/>
            <a:ext cx="7315200" cy="228600"/>
          </a:xfrm>
          <a:prstGeom prst="rect">
            <a:avLst/>
          </a:prstGeom>
          <a:noFill/>
          <a:ln/>
        </p:spPr>
        <p:txBody>
          <a:bodyPr wrap="square" lIns="0" tIns="0" rIns="0" bIns="0" rtlCol="0" anchor="t"/>
          <a:lstStyle/>
          <a:p>
            <a:pPr indent="0" marL="0">
              <a:buNone/>
            </a:pPr>
            <a:r>
              <a:rPr lang="en-US" sz="900" dirty="0">
                <a:solidFill>
                  <a:srgbClr val="748480"/>
                </a:solidFill>
                <a:latin typeface="Calibri" pitchFamily="34" charset="0"/>
                <a:ea typeface="Calibri" pitchFamily="34" charset="-122"/>
                <a:cs typeface="Calibri" pitchFamily="34" charset="-120"/>
              </a:rPr>
              <a:t>АНО «СДУТ» · листинг комплекса «Бот SDUT63 и мини-приложение»</a:t>
            </a:r>
            <a:endParaRPr lang="en-US" sz="900" dirty="0"/>
          </a:p>
        </p:txBody>
      </p:sp>
      <p:sp>
        <p:nvSpPr>
          <p:cNvPr id="5" name="Text 3"/>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900" dirty="0">
                <a:solidFill>
                  <a:srgbClr val="748480"/>
                </a:solidFill>
                <a:latin typeface="Calibri" pitchFamily="34" charset="0"/>
                <a:ea typeface="Calibri" pitchFamily="34" charset="-122"/>
                <a:cs typeface="Calibri" pitchFamily="34" charset="-120"/>
              </a:rPr>
              <a:t>4 / 22</a:t>
            </a:r>
            <a:endParaRPr lang="en-US" sz="900" dirty="0"/>
          </a:p>
        </p:txBody>
      </p:sp>
      <p:sp>
        <p:nvSpPr>
          <p:cNvPr id="6" name="Shape 4"/>
          <p:cNvSpPr/>
          <p:nvPr/>
        </p:nvSpPr>
        <p:spPr>
          <a:xfrm>
            <a:off x="548640" y="1572768"/>
            <a:ext cx="384048" cy="384048"/>
          </a:xfrm>
          <a:prstGeom prst="ellipse">
            <a:avLst/>
          </a:prstGeom>
          <a:solidFill>
            <a:srgbClr val="1B5A55"/>
          </a:solidFill>
          <a:ln w="12700">
            <a:solidFill>
              <a:srgbClr val="1B5A55"/>
            </a:solidFill>
            <a:prstDash val="solid"/>
          </a:ln>
        </p:spPr>
      </p:sp>
      <p:sp>
        <p:nvSpPr>
          <p:cNvPr id="7" name="Text 5"/>
          <p:cNvSpPr txBox="1"/>
          <p:nvPr/>
        </p:nvSpPr>
        <p:spPr>
          <a:xfrm>
            <a:off x="548640" y="1572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Shape 6"/>
          <p:cNvSpPr/>
          <p:nvPr/>
        </p:nvSpPr>
        <p:spPr>
          <a:xfrm>
            <a:off x="740664" y="1993392"/>
            <a:ext cx="914" cy="475488"/>
          </a:xfrm>
          <a:prstGeom prst="line">
            <a:avLst/>
          </a:prstGeom>
          <a:noFill/>
          <a:ln w="15875">
            <a:solidFill>
              <a:srgbClr val="CBD6D2"/>
            </a:solidFill>
            <a:prstDash val="solid"/>
          </a:ln>
        </p:spPr>
      </p:sp>
      <p:sp>
        <p:nvSpPr>
          <p:cNvPr id="9" name="Text 7"/>
          <p:cNvSpPr txBox="1"/>
          <p:nvPr/>
        </p:nvSpPr>
        <p:spPr>
          <a:xfrm>
            <a:off x="1143000" y="1591056"/>
            <a:ext cx="5394960" cy="292608"/>
          </a:xfrm>
          <a:prstGeom prst="rect">
            <a:avLst/>
          </a:prstGeom>
          <a:noFill/>
          <a:ln/>
        </p:spPr>
        <p:txBody>
          <a:bodyPr wrap="square" lIns="0" tIns="0" rIns="0" bIns="0" rtlCol="0" anchor="t"/>
          <a:lstStyle/>
          <a:p>
            <a:pPr indent="0" marL="0">
              <a:buNone/>
            </a:pPr>
            <a:r>
              <a:rPr lang="en-US" sz="1500" b="1" dirty="0">
                <a:solidFill>
                  <a:srgbClr val="14201E"/>
                </a:solidFill>
                <a:latin typeface="Calibri" pitchFamily="34" charset="0"/>
                <a:ea typeface="Calibri" pitchFamily="34" charset="-122"/>
                <a:cs typeface="Calibri" pitchFamily="34" charset="-120"/>
              </a:rPr>
              <a:t>Согласие</a:t>
            </a:r>
            <a:endParaRPr lang="en-US" sz="1500" dirty="0"/>
          </a:p>
        </p:txBody>
      </p:sp>
      <p:sp>
        <p:nvSpPr>
          <p:cNvPr id="10" name="Text 8"/>
          <p:cNvSpPr txBox="1"/>
          <p:nvPr/>
        </p:nvSpPr>
        <p:spPr>
          <a:xfrm>
            <a:off x="1143000" y="1901952"/>
            <a:ext cx="5394960" cy="566928"/>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Электронное согласие до первого вопроса. Пока кнопка не нажата, бот ничего не записывает.</a:t>
            </a:r>
            <a:endParaRPr lang="en-US" sz="1250" dirty="0"/>
          </a:p>
        </p:txBody>
      </p:sp>
      <p:sp>
        <p:nvSpPr>
          <p:cNvPr id="11" name="Shape 9"/>
          <p:cNvSpPr/>
          <p:nvPr/>
        </p:nvSpPr>
        <p:spPr>
          <a:xfrm>
            <a:off x="548640" y="2505456"/>
            <a:ext cx="384048" cy="384048"/>
          </a:xfrm>
          <a:prstGeom prst="ellipse">
            <a:avLst/>
          </a:prstGeom>
          <a:solidFill>
            <a:srgbClr val="1B5A55"/>
          </a:solidFill>
          <a:ln w="12700">
            <a:solidFill>
              <a:srgbClr val="1B5A55"/>
            </a:solidFill>
            <a:prstDash val="solid"/>
          </a:ln>
        </p:spPr>
      </p:sp>
      <p:sp>
        <p:nvSpPr>
          <p:cNvPr id="12" name="Text 10"/>
          <p:cNvSpPr txBox="1"/>
          <p:nvPr/>
        </p:nvSpPr>
        <p:spPr>
          <a:xfrm>
            <a:off x="548640" y="250545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Shape 11"/>
          <p:cNvSpPr/>
          <p:nvPr/>
        </p:nvSpPr>
        <p:spPr>
          <a:xfrm>
            <a:off x="740664" y="2926080"/>
            <a:ext cx="914" cy="475488"/>
          </a:xfrm>
          <a:prstGeom prst="line">
            <a:avLst/>
          </a:prstGeom>
          <a:noFill/>
          <a:ln w="15875">
            <a:solidFill>
              <a:srgbClr val="CBD6D2"/>
            </a:solidFill>
            <a:prstDash val="solid"/>
          </a:ln>
        </p:spPr>
      </p:sp>
      <p:sp>
        <p:nvSpPr>
          <p:cNvPr id="14" name="Text 12"/>
          <p:cNvSpPr txBox="1"/>
          <p:nvPr/>
        </p:nvSpPr>
        <p:spPr>
          <a:xfrm>
            <a:off x="1143000" y="2523744"/>
            <a:ext cx="5394960" cy="292608"/>
          </a:xfrm>
          <a:prstGeom prst="rect">
            <a:avLst/>
          </a:prstGeom>
          <a:noFill/>
          <a:ln/>
        </p:spPr>
        <p:txBody>
          <a:bodyPr wrap="square" lIns="0" tIns="0" rIns="0" bIns="0" rtlCol="0" anchor="t"/>
          <a:lstStyle/>
          <a:p>
            <a:pPr indent="0" marL="0">
              <a:buNone/>
            </a:pPr>
            <a:r>
              <a:rPr lang="en-US" sz="1500" b="1" dirty="0">
                <a:solidFill>
                  <a:srgbClr val="14201E"/>
                </a:solidFill>
                <a:latin typeface="Calibri" pitchFamily="34" charset="0"/>
                <a:ea typeface="Calibri" pitchFamily="34" charset="-122"/>
                <a:cs typeface="Calibri" pitchFamily="34" charset="-120"/>
              </a:rPr>
              <a:t>Контакты и состояние</a:t>
            </a:r>
            <a:endParaRPr lang="en-US" sz="1500" dirty="0"/>
          </a:p>
        </p:txBody>
      </p:sp>
      <p:sp>
        <p:nvSpPr>
          <p:cNvPr id="15" name="Text 13"/>
          <p:cNvSpPr txBox="1"/>
          <p:nvPr/>
        </p:nvSpPr>
        <p:spPr>
          <a:xfrm>
            <a:off x="1143000" y="2834640"/>
            <a:ext cx="5394960" cy="566928"/>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12 вопросов: кто обращается, имя, телефон, адрес одной строкой, возраст, что беспокоит, что нужнее.</a:t>
            </a:r>
            <a:endParaRPr lang="en-US" sz="1250" dirty="0"/>
          </a:p>
        </p:txBody>
      </p:sp>
      <p:sp>
        <p:nvSpPr>
          <p:cNvPr id="16" name="Shape 14"/>
          <p:cNvSpPr/>
          <p:nvPr/>
        </p:nvSpPr>
        <p:spPr>
          <a:xfrm>
            <a:off x="548640" y="3438144"/>
            <a:ext cx="384048" cy="384048"/>
          </a:xfrm>
          <a:prstGeom prst="ellipse">
            <a:avLst/>
          </a:prstGeom>
          <a:solidFill>
            <a:srgbClr val="1B5A55"/>
          </a:solidFill>
          <a:ln w="12700">
            <a:solidFill>
              <a:srgbClr val="1B5A55"/>
            </a:solidFill>
            <a:prstDash val="solid"/>
          </a:ln>
        </p:spPr>
      </p:sp>
      <p:sp>
        <p:nvSpPr>
          <p:cNvPr id="17" name="Text 15"/>
          <p:cNvSpPr txBox="1"/>
          <p:nvPr/>
        </p:nvSpPr>
        <p:spPr>
          <a:xfrm>
            <a:off x="548640" y="343814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Shape 16"/>
          <p:cNvSpPr/>
          <p:nvPr/>
        </p:nvSpPr>
        <p:spPr>
          <a:xfrm>
            <a:off x="740664" y="3858768"/>
            <a:ext cx="914" cy="475488"/>
          </a:xfrm>
          <a:prstGeom prst="line">
            <a:avLst/>
          </a:prstGeom>
          <a:noFill/>
          <a:ln w="15875">
            <a:solidFill>
              <a:srgbClr val="CBD6D2"/>
            </a:solidFill>
            <a:prstDash val="solid"/>
          </a:ln>
        </p:spPr>
      </p:sp>
      <p:sp>
        <p:nvSpPr>
          <p:cNvPr id="19" name="Text 17"/>
          <p:cNvSpPr txBox="1"/>
          <p:nvPr/>
        </p:nvSpPr>
        <p:spPr>
          <a:xfrm>
            <a:off x="1143000" y="3456432"/>
            <a:ext cx="5394960" cy="292608"/>
          </a:xfrm>
          <a:prstGeom prst="rect">
            <a:avLst/>
          </a:prstGeom>
          <a:noFill/>
          <a:ln/>
        </p:spPr>
        <p:txBody>
          <a:bodyPr wrap="square" lIns="0" tIns="0" rIns="0" bIns="0" rtlCol="0" anchor="t"/>
          <a:lstStyle/>
          <a:p>
            <a:pPr indent="0" marL="0">
              <a:buNone/>
            </a:pPr>
            <a:r>
              <a:rPr lang="en-US" sz="1500" b="1" dirty="0">
                <a:solidFill>
                  <a:srgbClr val="14201E"/>
                </a:solidFill>
                <a:latin typeface="Calibri" pitchFamily="34" charset="0"/>
                <a:ea typeface="Calibri" pitchFamily="34" charset="-122"/>
                <a:cs typeface="Calibri" pitchFamily="34" charset="-120"/>
              </a:rPr>
              <a:t>Контрольная точка</a:t>
            </a:r>
            <a:endParaRPr lang="en-US" sz="1500" dirty="0"/>
          </a:p>
        </p:txBody>
      </p:sp>
      <p:sp>
        <p:nvSpPr>
          <p:cNvPr id="20" name="Text 18"/>
          <p:cNvSpPr txBox="1"/>
          <p:nvPr/>
        </p:nvSpPr>
        <p:spPr>
          <a:xfrm>
            <a:off x="1143000" y="3767328"/>
            <a:ext cx="5394960" cy="566928"/>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Три выхода: продолжить в чате (до 22 вопросов), открыть приложение или остановиться — заявка уже полная.</a:t>
            </a:r>
            <a:endParaRPr lang="en-US" sz="1250" dirty="0"/>
          </a:p>
        </p:txBody>
      </p:sp>
      <p:sp>
        <p:nvSpPr>
          <p:cNvPr id="21" name="Shape 19"/>
          <p:cNvSpPr/>
          <p:nvPr/>
        </p:nvSpPr>
        <p:spPr>
          <a:xfrm>
            <a:off x="548640" y="4370832"/>
            <a:ext cx="384048" cy="384048"/>
          </a:xfrm>
          <a:prstGeom prst="ellipse">
            <a:avLst/>
          </a:prstGeom>
          <a:solidFill>
            <a:srgbClr val="1B5A55"/>
          </a:solidFill>
          <a:ln w="12700">
            <a:solidFill>
              <a:srgbClr val="1B5A55"/>
            </a:solidFill>
            <a:prstDash val="solid"/>
          </a:ln>
        </p:spPr>
      </p:sp>
      <p:sp>
        <p:nvSpPr>
          <p:cNvPr id="22" name="Text 20"/>
          <p:cNvSpPr txBox="1"/>
          <p:nvPr/>
        </p:nvSpPr>
        <p:spPr>
          <a:xfrm>
            <a:off x="548640" y="43708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Shape 21"/>
          <p:cNvSpPr/>
          <p:nvPr/>
        </p:nvSpPr>
        <p:spPr>
          <a:xfrm>
            <a:off x="740664" y="4791456"/>
            <a:ext cx="914" cy="475488"/>
          </a:xfrm>
          <a:prstGeom prst="line">
            <a:avLst/>
          </a:prstGeom>
          <a:noFill/>
          <a:ln w="15875">
            <a:solidFill>
              <a:srgbClr val="CBD6D2"/>
            </a:solidFill>
            <a:prstDash val="solid"/>
          </a:ln>
        </p:spPr>
      </p:sp>
      <p:sp>
        <p:nvSpPr>
          <p:cNvPr id="24" name="Text 22"/>
          <p:cNvSpPr txBox="1"/>
          <p:nvPr/>
        </p:nvSpPr>
        <p:spPr>
          <a:xfrm>
            <a:off x="1143000" y="4389120"/>
            <a:ext cx="5394960" cy="292608"/>
          </a:xfrm>
          <a:prstGeom prst="rect">
            <a:avLst/>
          </a:prstGeom>
          <a:noFill/>
          <a:ln/>
        </p:spPr>
        <p:txBody>
          <a:bodyPr wrap="square" lIns="0" tIns="0" rIns="0" bIns="0" rtlCol="0" anchor="t"/>
          <a:lstStyle/>
          <a:p>
            <a:pPr indent="0" marL="0">
              <a:buNone/>
            </a:pPr>
            <a:r>
              <a:rPr lang="en-US" sz="1500" b="1" dirty="0">
                <a:solidFill>
                  <a:srgbClr val="14201E"/>
                </a:solidFill>
                <a:latin typeface="Calibri" pitchFamily="34" charset="0"/>
                <a:ea typeface="Calibri" pitchFamily="34" charset="-122"/>
                <a:cs typeface="Calibri" pitchFamily="34" charset="-120"/>
              </a:rPr>
              <a:t>Мини-приложение</a:t>
            </a:r>
            <a:endParaRPr lang="en-US" sz="1500" dirty="0"/>
          </a:p>
        </p:txBody>
      </p:sp>
      <p:sp>
        <p:nvSpPr>
          <p:cNvPr id="25" name="Text 23"/>
          <p:cNvSpPr txBox="1"/>
          <p:nvPr/>
        </p:nvSpPr>
        <p:spPr>
          <a:xfrm>
            <a:off x="1143000" y="4700016"/>
            <a:ext cx="5394960" cy="566928"/>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Ответы приезжают в ссылке. Приложение досчитывает план, уровень и цену и спрашивает только недостающее.</a:t>
            </a:r>
            <a:endParaRPr lang="en-US" sz="1250" dirty="0"/>
          </a:p>
        </p:txBody>
      </p:sp>
      <p:sp>
        <p:nvSpPr>
          <p:cNvPr id="26" name="Shape 24"/>
          <p:cNvSpPr/>
          <p:nvPr/>
        </p:nvSpPr>
        <p:spPr>
          <a:xfrm>
            <a:off x="548640" y="5303520"/>
            <a:ext cx="384048" cy="384048"/>
          </a:xfrm>
          <a:prstGeom prst="ellipse">
            <a:avLst/>
          </a:prstGeom>
          <a:solidFill>
            <a:srgbClr val="1B5A55"/>
          </a:solidFill>
          <a:ln w="12700">
            <a:solidFill>
              <a:srgbClr val="1B5A55"/>
            </a:solidFill>
            <a:prstDash val="solid"/>
          </a:ln>
        </p:spPr>
      </p:sp>
      <p:sp>
        <p:nvSpPr>
          <p:cNvPr id="27" name="Text 25"/>
          <p:cNvSpPr txBox="1"/>
          <p:nvPr/>
        </p:nvSpPr>
        <p:spPr>
          <a:xfrm>
            <a:off x="548640" y="53035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6"/>
          <p:cNvSpPr txBox="1"/>
          <p:nvPr/>
        </p:nvSpPr>
        <p:spPr>
          <a:xfrm>
            <a:off x="1143000" y="5321808"/>
            <a:ext cx="5394960" cy="292608"/>
          </a:xfrm>
          <a:prstGeom prst="rect">
            <a:avLst/>
          </a:prstGeom>
          <a:noFill/>
          <a:ln/>
        </p:spPr>
        <p:txBody>
          <a:bodyPr wrap="square" lIns="0" tIns="0" rIns="0" bIns="0" rtlCol="0" anchor="t"/>
          <a:lstStyle/>
          <a:p>
            <a:pPr indent="0" marL="0">
              <a:buNone/>
            </a:pPr>
            <a:r>
              <a:rPr lang="en-US" sz="1500" b="1" dirty="0">
                <a:solidFill>
                  <a:srgbClr val="14201E"/>
                </a:solidFill>
                <a:latin typeface="Calibri" pitchFamily="34" charset="0"/>
                <a:ea typeface="Calibri" pitchFamily="34" charset="-122"/>
                <a:cs typeface="Calibri" pitchFamily="34" charset="-120"/>
              </a:rPr>
              <a:t>Координатор</a:t>
            </a:r>
            <a:endParaRPr lang="en-US" sz="1500" dirty="0"/>
          </a:p>
        </p:txBody>
      </p:sp>
      <p:sp>
        <p:nvSpPr>
          <p:cNvPr id="29" name="Text 27"/>
          <p:cNvSpPr txBox="1"/>
          <p:nvPr/>
        </p:nvSpPr>
        <p:spPr>
          <a:xfrm>
            <a:off x="1143000" y="5632704"/>
            <a:ext cx="5394960" cy="566928"/>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Звонит, уже зная ситуацию. Уровень уточняет очная оценка организатора ухода.</a:t>
            </a:r>
            <a:endParaRPr lang="en-US" sz="1250" dirty="0"/>
          </a:p>
        </p:txBody>
      </p:sp>
      <p:pic>
        <p:nvPicPr>
          <p:cNvPr id="30" name="Image 0" descr="Экран чат-бота в MAX">    </p:cNvPr>
          <p:cNvPicPr>
            <a:picLocks noChangeAspect="1"/>
          </p:cNvPicPr>
          <p:nvPr/>
        </p:nvPicPr>
        <p:blipFill>
          <a:blip r:embed="rId1"/>
          <a:stretch>
            <a:fillRect/>
          </a:stretch>
        </p:blipFill>
        <p:spPr>
          <a:xfrm>
            <a:off x="6812280" y="1463040"/>
            <a:ext cx="2417654" cy="4617720"/>
          </a:xfrm>
          <a:prstGeom prst="rect">
            <a:avLst/>
          </a:prstGeom>
        </p:spPr>
      </p:pic>
      <p:pic>
        <p:nvPicPr>
          <p:cNvPr id="31" name="Image 1" descr="Экран мини-приложения">    </p:cNvPr>
          <p:cNvPicPr>
            <a:picLocks noChangeAspect="1"/>
          </p:cNvPicPr>
          <p:nvPr/>
        </p:nvPicPr>
        <p:blipFill>
          <a:blip r:embed="rId2"/>
          <a:stretch>
            <a:fillRect/>
          </a:stretch>
        </p:blipFill>
        <p:spPr>
          <a:xfrm>
            <a:off x="9504254" y="1463040"/>
            <a:ext cx="2427953" cy="4617720"/>
          </a:xfrm>
          <a:prstGeom prst="rect">
            <a:avLst/>
          </a:prstGeom>
        </p:spPr>
      </p:pic>
      <p:sp>
        <p:nvSpPr>
          <p:cNvPr id="32" name="Text 28"/>
          <p:cNvSpPr txBox="1"/>
          <p:nvPr/>
        </p:nvSpPr>
        <p:spPr>
          <a:xfrm>
            <a:off x="6812280" y="6144768"/>
            <a:ext cx="2417654" cy="228600"/>
          </a:xfrm>
          <a:prstGeom prst="rect">
            <a:avLst/>
          </a:prstGeom>
          <a:noFill/>
          <a:ln/>
        </p:spPr>
        <p:txBody>
          <a:bodyPr wrap="square" lIns="0" tIns="0" rIns="0" bIns="0" rtlCol="0" anchor="t"/>
          <a:lstStyle/>
          <a:p>
            <a:pPr algn="ctr" indent="0" marL="0">
              <a:buNone/>
            </a:pPr>
            <a:r>
              <a:rPr lang="en-US" sz="1000" dirty="0">
                <a:solidFill>
                  <a:srgbClr val="748480"/>
                </a:solidFill>
                <a:latin typeface="Calibri" pitchFamily="34" charset="0"/>
                <a:ea typeface="Calibri" pitchFamily="34" charset="-122"/>
                <a:cs typeface="Calibri" pitchFamily="34" charset="-120"/>
              </a:rPr>
              <a:t>Бот: контрольная точка</a:t>
            </a:r>
            <a:endParaRPr lang="en-US" sz="1000" dirty="0"/>
          </a:p>
        </p:txBody>
      </p:sp>
      <p:sp>
        <p:nvSpPr>
          <p:cNvPr id="33" name="Text 29"/>
          <p:cNvSpPr txBox="1"/>
          <p:nvPr/>
        </p:nvSpPr>
        <p:spPr>
          <a:xfrm>
            <a:off x="9504254" y="6144768"/>
            <a:ext cx="2432304" cy="228600"/>
          </a:xfrm>
          <a:prstGeom prst="rect">
            <a:avLst/>
          </a:prstGeom>
          <a:noFill/>
          <a:ln/>
        </p:spPr>
        <p:txBody>
          <a:bodyPr wrap="square" lIns="0" tIns="0" rIns="0" bIns="0" rtlCol="0" anchor="t"/>
          <a:lstStyle/>
          <a:p>
            <a:pPr algn="ctr" indent="0" marL="0">
              <a:buNone/>
            </a:pPr>
            <a:r>
              <a:rPr lang="en-US" sz="1000" dirty="0">
                <a:solidFill>
                  <a:srgbClr val="748480"/>
                </a:solidFill>
                <a:latin typeface="Calibri" pitchFamily="34" charset="0"/>
                <a:ea typeface="Calibri" pitchFamily="34" charset="-122"/>
                <a:cs typeface="Calibri" pitchFamily="34" charset="-120"/>
              </a:rPr>
              <a:t>Приложение: ответы перенесены</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5A55"/>
                </a:solidFill>
                <a:latin typeface="Calibri" pitchFamily="34" charset="0"/>
                <a:ea typeface="Calibri" pitchFamily="34" charset="-122"/>
                <a:cs typeface="Calibri" pitchFamily="34" charset="-120"/>
              </a:rPr>
              <a:t>БОТ · АНКЕТА</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01E"/>
                </a:solidFill>
                <a:latin typeface="Cambria" pitchFamily="34" charset="0"/>
                <a:ea typeface="Cambria" pitchFamily="34" charset="-122"/>
                <a:cs typeface="Cambria" pitchFamily="34" charset="-120"/>
              </a:rPr>
              <a:t>34 вопроса, остановиться можно после 12-го</a:t>
            </a:r>
            <a:endParaRPr lang="en-US" sz="2800" dirty="0"/>
          </a:p>
        </p:txBody>
      </p:sp>
      <p:sp>
        <p:nvSpPr>
          <p:cNvPr id="4" name="Text 2"/>
          <p:cNvSpPr txBox="1"/>
          <p:nvPr/>
        </p:nvSpPr>
        <p:spPr>
          <a:xfrm>
            <a:off x="548640" y="6419088"/>
            <a:ext cx="7315200" cy="228600"/>
          </a:xfrm>
          <a:prstGeom prst="rect">
            <a:avLst/>
          </a:prstGeom>
          <a:noFill/>
          <a:ln/>
        </p:spPr>
        <p:txBody>
          <a:bodyPr wrap="square" lIns="0" tIns="0" rIns="0" bIns="0" rtlCol="0" anchor="t"/>
          <a:lstStyle/>
          <a:p>
            <a:pPr indent="0" marL="0">
              <a:buNone/>
            </a:pPr>
            <a:r>
              <a:rPr lang="en-US" sz="900" dirty="0">
                <a:solidFill>
                  <a:srgbClr val="748480"/>
                </a:solidFill>
                <a:latin typeface="Calibri" pitchFamily="34" charset="0"/>
                <a:ea typeface="Calibri" pitchFamily="34" charset="-122"/>
                <a:cs typeface="Calibri" pitchFamily="34" charset="-120"/>
              </a:rPr>
              <a:t>АНО «СДУТ» · листинг комплекса «Бот SDUT63 и мини-приложение»</a:t>
            </a:r>
            <a:endParaRPr lang="en-US" sz="900" dirty="0"/>
          </a:p>
        </p:txBody>
      </p:sp>
      <p:sp>
        <p:nvSpPr>
          <p:cNvPr id="5" name="Text 3"/>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900" dirty="0">
                <a:solidFill>
                  <a:srgbClr val="748480"/>
                </a:solidFill>
                <a:latin typeface="Calibri" pitchFamily="34" charset="0"/>
                <a:ea typeface="Calibri" pitchFamily="34" charset="-122"/>
                <a:cs typeface="Calibri" pitchFamily="34" charset="-120"/>
              </a:rPr>
              <a:t>5 / 22</a:t>
            </a:r>
            <a:endParaRPr lang="en-US" sz="900" dirty="0"/>
          </a:p>
        </p:txBody>
      </p:sp>
      <p:pic>
        <p:nvPicPr>
          <p:cNvPr id="6" name="Image 0" descr="Экран чат-бота в MAX">    </p:cNvPr>
          <p:cNvPicPr>
            <a:picLocks noChangeAspect="1"/>
          </p:cNvPicPr>
          <p:nvPr/>
        </p:nvPicPr>
        <p:blipFill>
          <a:blip r:embed="rId1"/>
          <a:stretch>
            <a:fillRect/>
          </a:stretch>
        </p:blipFill>
        <p:spPr>
          <a:xfrm>
            <a:off x="548640" y="1463040"/>
            <a:ext cx="2959469" cy="4754880"/>
          </a:xfrm>
          <a:prstGeom prst="rect">
            <a:avLst/>
          </a:prstGeom>
        </p:spPr>
      </p:pic>
      <p:sp>
        <p:nvSpPr>
          <p:cNvPr id="7" name="Text 4"/>
          <p:cNvSpPr txBox="1"/>
          <p:nvPr/>
        </p:nvSpPr>
        <p:spPr>
          <a:xfrm>
            <a:off x="3977640" y="1508760"/>
            <a:ext cx="1783080" cy="640080"/>
          </a:xfrm>
          <a:prstGeom prst="rect">
            <a:avLst/>
          </a:prstGeom>
          <a:noFill/>
          <a:ln/>
        </p:spPr>
        <p:txBody>
          <a:bodyPr wrap="square" lIns="0" tIns="0" rIns="0" bIns="0" rtlCol="0" anchor="t"/>
          <a:lstStyle/>
          <a:p>
            <a:pPr indent="0" marL="0">
              <a:buNone/>
            </a:pPr>
            <a:r>
              <a:rPr lang="en-US" sz="3600" b="1" dirty="0">
                <a:solidFill>
                  <a:srgbClr val="1B5A55"/>
                </a:solidFill>
                <a:latin typeface="Cambria" pitchFamily="34" charset="0"/>
                <a:ea typeface="Cambria" pitchFamily="34" charset="-122"/>
                <a:cs typeface="Cambria" pitchFamily="34" charset="-120"/>
              </a:rPr>
              <a:t>34</a:t>
            </a:r>
            <a:endParaRPr lang="en-US" sz="3600" dirty="0"/>
          </a:p>
        </p:txBody>
      </p:sp>
      <p:sp>
        <p:nvSpPr>
          <p:cNvPr id="8" name="Text 5"/>
          <p:cNvSpPr txBox="1"/>
          <p:nvPr/>
        </p:nvSpPr>
        <p:spPr>
          <a:xfrm>
            <a:off x="3977640" y="2167128"/>
            <a:ext cx="1783080" cy="548640"/>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вопроса в анкете</a:t>
            </a:r>
            <a:endParaRPr lang="en-US" sz="1250" dirty="0"/>
          </a:p>
        </p:txBody>
      </p:sp>
      <p:sp>
        <p:nvSpPr>
          <p:cNvPr id="9" name="Text 6"/>
          <p:cNvSpPr txBox="1"/>
          <p:nvPr/>
        </p:nvSpPr>
        <p:spPr>
          <a:xfrm>
            <a:off x="5897880" y="1508760"/>
            <a:ext cx="1783080" cy="640080"/>
          </a:xfrm>
          <a:prstGeom prst="rect">
            <a:avLst/>
          </a:prstGeom>
          <a:noFill/>
          <a:ln/>
        </p:spPr>
        <p:txBody>
          <a:bodyPr wrap="square" lIns="0" tIns="0" rIns="0" bIns="0" rtlCol="0" anchor="t"/>
          <a:lstStyle/>
          <a:p>
            <a:pPr indent="0" marL="0">
              <a:buNone/>
            </a:pPr>
            <a:r>
              <a:rPr lang="en-US" sz="3600" b="1" dirty="0">
                <a:solidFill>
                  <a:srgbClr val="1B5A55"/>
                </a:solidFill>
                <a:latin typeface="Cambria" pitchFamily="34" charset="0"/>
                <a:ea typeface="Cambria" pitchFamily="34" charset="-122"/>
                <a:cs typeface="Cambria" pitchFamily="34" charset="-120"/>
              </a:rPr>
              <a:t>12</a:t>
            </a:r>
            <a:endParaRPr lang="en-US" sz="3600" dirty="0"/>
          </a:p>
        </p:txBody>
      </p:sp>
      <p:sp>
        <p:nvSpPr>
          <p:cNvPr id="10" name="Text 7"/>
          <p:cNvSpPr txBox="1"/>
          <p:nvPr/>
        </p:nvSpPr>
        <p:spPr>
          <a:xfrm>
            <a:off x="5897880" y="2167128"/>
            <a:ext cx="1783080" cy="548640"/>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разделов</a:t>
            </a:r>
            <a:endParaRPr lang="en-US" sz="1250" dirty="0"/>
          </a:p>
        </p:txBody>
      </p:sp>
      <p:sp>
        <p:nvSpPr>
          <p:cNvPr id="11" name="Text 8"/>
          <p:cNvSpPr txBox="1"/>
          <p:nvPr/>
        </p:nvSpPr>
        <p:spPr>
          <a:xfrm>
            <a:off x="7818120" y="1508760"/>
            <a:ext cx="1783080" cy="640080"/>
          </a:xfrm>
          <a:prstGeom prst="rect">
            <a:avLst/>
          </a:prstGeom>
          <a:noFill/>
          <a:ln/>
        </p:spPr>
        <p:txBody>
          <a:bodyPr wrap="square" lIns="0" tIns="0" rIns="0" bIns="0" rtlCol="0" anchor="t"/>
          <a:lstStyle/>
          <a:p>
            <a:pPr indent="0" marL="0">
              <a:buNone/>
            </a:pPr>
            <a:r>
              <a:rPr lang="en-US" sz="3600" b="1" dirty="0">
                <a:solidFill>
                  <a:srgbClr val="1B5A55"/>
                </a:solidFill>
                <a:latin typeface="Cambria" pitchFamily="34" charset="0"/>
                <a:ea typeface="Cambria" pitchFamily="34" charset="-122"/>
                <a:cs typeface="Cambria" pitchFamily="34" charset="-120"/>
              </a:rPr>
              <a:t>25</a:t>
            </a:r>
            <a:endParaRPr lang="en-US" sz="3600" dirty="0"/>
          </a:p>
        </p:txBody>
      </p:sp>
      <p:sp>
        <p:nvSpPr>
          <p:cNvPr id="12" name="Text 9"/>
          <p:cNvSpPr txBox="1"/>
          <p:nvPr/>
        </p:nvSpPr>
        <p:spPr>
          <a:xfrm>
            <a:off x="7818120" y="2167128"/>
            <a:ext cx="1783080" cy="548640"/>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показываются</a:t>
            </a:r>
            <a:endParaRPr lang="en-US" sz="1250" dirty="0"/>
          </a:p>
          <a:p>
            <a:pPr indent="0" marL="0">
              <a:buNone/>
            </a:pPr>
            <a:r>
              <a:rPr lang="en-US" sz="1250" dirty="0">
                <a:solidFill>
                  <a:srgbClr val="4B5A56"/>
                </a:solidFill>
                <a:latin typeface="Calibri" pitchFamily="34" charset="0"/>
                <a:ea typeface="Calibri" pitchFamily="34" charset="-122"/>
                <a:cs typeface="Calibri" pitchFamily="34" charset="-120"/>
              </a:rPr>
              <a:t>по условию</a:t>
            </a:r>
            <a:endParaRPr lang="en-US" sz="1250" dirty="0"/>
          </a:p>
        </p:txBody>
      </p:sp>
      <p:sp>
        <p:nvSpPr>
          <p:cNvPr id="13" name="Text 10"/>
          <p:cNvSpPr txBox="1"/>
          <p:nvPr/>
        </p:nvSpPr>
        <p:spPr>
          <a:xfrm>
            <a:off x="9738360" y="1508760"/>
            <a:ext cx="1783080" cy="640080"/>
          </a:xfrm>
          <a:prstGeom prst="rect">
            <a:avLst/>
          </a:prstGeom>
          <a:noFill/>
          <a:ln/>
        </p:spPr>
        <p:txBody>
          <a:bodyPr wrap="square" lIns="0" tIns="0" rIns="0" bIns="0" rtlCol="0" anchor="t"/>
          <a:lstStyle/>
          <a:p>
            <a:pPr indent="0" marL="0">
              <a:buNone/>
            </a:pPr>
            <a:r>
              <a:rPr lang="en-US" sz="3600" b="1" dirty="0">
                <a:solidFill>
                  <a:srgbClr val="1B5A55"/>
                </a:solidFill>
                <a:latin typeface="Cambria" pitchFamily="34" charset="0"/>
                <a:ea typeface="Cambria" pitchFamily="34" charset="-122"/>
                <a:cs typeface="Cambria" pitchFamily="34" charset="-120"/>
              </a:rPr>
              <a:t>5</a:t>
            </a:r>
            <a:endParaRPr lang="en-US" sz="3600" dirty="0"/>
          </a:p>
        </p:txBody>
      </p:sp>
      <p:sp>
        <p:nvSpPr>
          <p:cNvPr id="14" name="Text 11"/>
          <p:cNvSpPr txBox="1"/>
          <p:nvPr/>
        </p:nvSpPr>
        <p:spPr>
          <a:xfrm>
            <a:off x="9738360" y="2167128"/>
            <a:ext cx="1783080" cy="548640"/>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с выбором</a:t>
            </a:r>
            <a:endParaRPr lang="en-US" sz="1250" dirty="0"/>
          </a:p>
          <a:p>
            <a:pPr indent="0" marL="0">
              <a:buNone/>
            </a:pPr>
            <a:r>
              <a:rPr lang="en-US" sz="1250" dirty="0">
                <a:solidFill>
                  <a:srgbClr val="4B5A56"/>
                </a:solidFill>
                <a:latin typeface="Calibri" pitchFamily="34" charset="0"/>
                <a:ea typeface="Calibri" pitchFamily="34" charset="-122"/>
                <a:cs typeface="Calibri" pitchFamily="34" charset="-120"/>
              </a:rPr>
              <a:t>нескольких ответов</a:t>
            </a:r>
            <a:endParaRPr lang="en-US" sz="1250" dirty="0"/>
          </a:p>
        </p:txBody>
      </p:sp>
      <p:sp>
        <p:nvSpPr>
          <p:cNvPr id="15" name="Shape 12"/>
          <p:cNvSpPr/>
          <p:nvPr/>
        </p:nvSpPr>
        <p:spPr>
          <a:xfrm>
            <a:off x="3977640" y="2926080"/>
            <a:ext cx="3703320" cy="2331720"/>
          </a:xfrm>
          <a:prstGeom prst="roundRect">
            <a:avLst>
              <a:gd name="adj" fmla="val 3137"/>
            </a:avLst>
          </a:prstGeom>
          <a:solidFill>
            <a:srgbClr val="FFFFFF"/>
          </a:solidFill>
          <a:ln w="12700">
            <a:solidFill>
              <a:srgbClr val="CBD6D2"/>
            </a:solidFill>
            <a:prstDash val="solid"/>
          </a:ln>
        </p:spPr>
      </p:sp>
      <p:sp>
        <p:nvSpPr>
          <p:cNvPr id="16" name="Text 13"/>
          <p:cNvSpPr txBox="1"/>
          <p:nvPr/>
        </p:nvSpPr>
        <p:spPr>
          <a:xfrm>
            <a:off x="4206240" y="3063240"/>
            <a:ext cx="3291840" cy="274320"/>
          </a:xfrm>
          <a:prstGeom prst="rect">
            <a:avLst/>
          </a:prstGeom>
          <a:noFill/>
          <a:ln/>
        </p:spPr>
        <p:txBody>
          <a:bodyPr wrap="square" lIns="0" tIns="0" rIns="0" bIns="0" rtlCol="0" anchor="t"/>
          <a:lstStyle/>
          <a:p>
            <a:pPr indent="0" marL="0">
              <a:buNone/>
            </a:pPr>
            <a:r>
              <a:rPr lang="en-US" sz="1250" b="1" dirty="0">
                <a:solidFill>
                  <a:srgbClr val="1B5A55"/>
                </a:solidFill>
                <a:latin typeface="Calibri" pitchFamily="34" charset="0"/>
                <a:ea typeface="Calibri" pitchFamily="34" charset="-122"/>
                <a:cs typeface="Calibri" pitchFamily="34" charset="-120"/>
              </a:rPr>
              <a:t>Блок 1 · минимум для заявки</a:t>
            </a:r>
            <a:endParaRPr lang="en-US" sz="1250" dirty="0"/>
          </a:p>
        </p:txBody>
      </p:sp>
      <p:sp>
        <p:nvSpPr>
          <p:cNvPr id="17" name="Text 14"/>
          <p:cNvSpPr txBox="1"/>
          <p:nvPr/>
        </p:nvSpPr>
        <p:spPr>
          <a:xfrm>
            <a:off x="4206240" y="3364992"/>
            <a:ext cx="3291840" cy="365760"/>
          </a:xfrm>
          <a:prstGeom prst="rect">
            <a:avLst/>
          </a:prstGeom>
          <a:noFill/>
          <a:ln/>
        </p:spPr>
        <p:txBody>
          <a:bodyPr wrap="square" lIns="0" tIns="0" rIns="0" bIns="0" rtlCol="0" anchor="t"/>
          <a:lstStyle/>
          <a:p>
            <a:pPr indent="0" marL="0">
              <a:buNone/>
            </a:pPr>
            <a:r>
              <a:rPr lang="en-US" sz="1800" b="1" dirty="0">
                <a:solidFill>
                  <a:srgbClr val="14201E"/>
                </a:solidFill>
                <a:latin typeface="Cambria" pitchFamily="34" charset="0"/>
                <a:ea typeface="Cambria" pitchFamily="34" charset="-122"/>
                <a:cs typeface="Cambria" pitchFamily="34" charset="-120"/>
              </a:rPr>
              <a:t>12 вопросов</a:t>
            </a:r>
            <a:endParaRPr lang="en-US" sz="1800" dirty="0"/>
          </a:p>
        </p:txBody>
      </p:sp>
      <p:sp>
        <p:nvSpPr>
          <p:cNvPr id="18" name="Text 15"/>
          <p:cNvSpPr txBox="1"/>
          <p:nvPr/>
        </p:nvSpPr>
        <p:spPr>
          <a:xfrm>
            <a:off x="4206240" y="3794760"/>
            <a:ext cx="3291840" cy="1371600"/>
          </a:xfrm>
          <a:prstGeom prst="rect">
            <a:avLst/>
          </a:prstGeom>
          <a:noFill/>
          <a:ln/>
        </p:spPr>
        <p:txBody>
          <a:bodyPr wrap="square" lIns="0" tIns="0" rIns="0" bIns="0" rtlCol="0" anchor="t"/>
          <a:lstStyle/>
          <a:p>
            <a:pPr indent="0" marL="0">
              <a:buNone/>
            </a:pPr>
            <a:r>
              <a:rPr lang="en-US" sz="1150" dirty="0">
                <a:solidFill>
                  <a:srgbClr val="4B5A56"/>
                </a:solidFill>
                <a:latin typeface="Calibri" pitchFamily="34" charset="0"/>
                <a:ea typeface="Calibri" pitchFamily="34" charset="-122"/>
                <a:cs typeface="Calibri" pitchFamily="34" charset="-120"/>
              </a:rPr>
              <a:t>Кто обращается и кем приходится · имя · имя человека · телефон · когда звонить · адрес одной строкой · возраст · что беспокоит сейчас · что нужнее · контрольная точка</a:t>
            </a:r>
            <a:endParaRPr lang="en-US" sz="1150" dirty="0"/>
          </a:p>
        </p:txBody>
      </p:sp>
      <p:sp>
        <p:nvSpPr>
          <p:cNvPr id="19" name="Shape 16"/>
          <p:cNvSpPr/>
          <p:nvPr/>
        </p:nvSpPr>
        <p:spPr>
          <a:xfrm>
            <a:off x="7909560" y="2926080"/>
            <a:ext cx="3703320" cy="2331720"/>
          </a:xfrm>
          <a:prstGeom prst="roundRect">
            <a:avLst>
              <a:gd name="adj" fmla="val 3137"/>
            </a:avLst>
          </a:prstGeom>
          <a:solidFill>
            <a:srgbClr val="FFFFFF"/>
          </a:solidFill>
          <a:ln w="12700">
            <a:solidFill>
              <a:srgbClr val="CBD6D2"/>
            </a:solidFill>
            <a:prstDash val="solid"/>
          </a:ln>
        </p:spPr>
      </p:sp>
      <p:sp>
        <p:nvSpPr>
          <p:cNvPr id="20" name="Text 17"/>
          <p:cNvSpPr txBox="1"/>
          <p:nvPr/>
        </p:nvSpPr>
        <p:spPr>
          <a:xfrm>
            <a:off x="8138160" y="3063240"/>
            <a:ext cx="3291840" cy="274320"/>
          </a:xfrm>
          <a:prstGeom prst="rect">
            <a:avLst/>
          </a:prstGeom>
          <a:noFill/>
          <a:ln/>
        </p:spPr>
        <p:txBody>
          <a:bodyPr wrap="square" lIns="0" tIns="0" rIns="0" bIns="0" rtlCol="0" anchor="t"/>
          <a:lstStyle/>
          <a:p>
            <a:pPr indent="0" marL="0">
              <a:buNone/>
            </a:pPr>
            <a:r>
              <a:rPr lang="en-US" sz="1250" b="1" dirty="0">
                <a:solidFill>
                  <a:srgbClr val="1B5A55"/>
                </a:solidFill>
                <a:latin typeface="Calibri" pitchFamily="34" charset="0"/>
                <a:ea typeface="Calibri" pitchFamily="34" charset="-122"/>
                <a:cs typeface="Calibri" pitchFamily="34" charset="-120"/>
              </a:rPr>
              <a:t>Блок 2 · по желанию</a:t>
            </a:r>
            <a:endParaRPr lang="en-US" sz="1250" dirty="0"/>
          </a:p>
        </p:txBody>
      </p:sp>
      <p:sp>
        <p:nvSpPr>
          <p:cNvPr id="21" name="Text 18"/>
          <p:cNvSpPr txBox="1"/>
          <p:nvPr/>
        </p:nvSpPr>
        <p:spPr>
          <a:xfrm>
            <a:off x="8138160" y="3364992"/>
            <a:ext cx="3291840" cy="365760"/>
          </a:xfrm>
          <a:prstGeom prst="rect">
            <a:avLst/>
          </a:prstGeom>
          <a:noFill/>
          <a:ln/>
        </p:spPr>
        <p:txBody>
          <a:bodyPr wrap="square" lIns="0" tIns="0" rIns="0" bIns="0" rtlCol="0" anchor="t"/>
          <a:lstStyle/>
          <a:p>
            <a:pPr indent="0" marL="0">
              <a:buNone/>
            </a:pPr>
            <a:r>
              <a:rPr lang="en-US" sz="1800" b="1" dirty="0">
                <a:solidFill>
                  <a:srgbClr val="14201E"/>
                </a:solidFill>
                <a:latin typeface="Cambria" pitchFamily="34" charset="0"/>
                <a:ea typeface="Cambria" pitchFamily="34" charset="-122"/>
                <a:cs typeface="Cambria" pitchFamily="34" charset="-120"/>
              </a:rPr>
              <a:t>до 22 вопросов</a:t>
            </a:r>
            <a:endParaRPr lang="en-US" sz="1800" dirty="0"/>
          </a:p>
        </p:txBody>
      </p:sp>
      <p:sp>
        <p:nvSpPr>
          <p:cNvPr id="22" name="Text 19"/>
          <p:cNvSpPr txBox="1"/>
          <p:nvPr/>
        </p:nvSpPr>
        <p:spPr>
          <a:xfrm>
            <a:off x="8138160" y="3794760"/>
            <a:ext cx="3291840" cy="1371600"/>
          </a:xfrm>
          <a:prstGeom prst="rect">
            <a:avLst/>
          </a:prstGeom>
          <a:noFill/>
          <a:ln/>
        </p:spPr>
        <p:txBody>
          <a:bodyPr wrap="square" lIns="0" tIns="0" rIns="0" bIns="0" rtlCol="0" anchor="t"/>
          <a:lstStyle/>
          <a:p>
            <a:pPr indent="0" marL="0">
              <a:buNone/>
            </a:pPr>
            <a:r>
              <a:rPr lang="en-US" sz="1150" dirty="0">
                <a:solidFill>
                  <a:srgbClr val="4B5A56"/>
                </a:solidFill>
                <a:latin typeface="Calibri" pitchFamily="34" charset="0"/>
                <a:ea typeface="Calibri" pitchFamily="34" charset="-122"/>
                <a:cs typeface="Calibri" pitchFamily="34" charset="-120"/>
              </a:rPr>
              <a:t>Подвижность и повороты · кожа · падения · еда, питьё, мытьё, туалет, одевание · речь и память · можно ли оставить одного · боль · трубки и стомы · лекарства · кто ухаживает и сколько часов · силы ухаживающего · что есть дома · документы</a:t>
            </a:r>
            <a:endParaRPr lang="en-US" sz="1150" dirty="0"/>
          </a:p>
        </p:txBody>
      </p:sp>
      <p:sp>
        <p:nvSpPr>
          <p:cNvPr id="23" name="Text 20"/>
          <p:cNvSpPr txBox="1"/>
          <p:nvPr/>
        </p:nvSpPr>
        <p:spPr>
          <a:xfrm>
            <a:off x="3977640" y="5440680"/>
            <a:ext cx="7635240" cy="731520"/>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Ввод: кнопки — 29 вопросов, текст — 3, телефон — 1, адрес — 1. Вопросы блока 2 зависят от ответов: лежачему не задают вопрос о падениях, ходячему — о поворотах в постели.</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5A55"/>
                </a:solidFill>
                <a:latin typeface="Calibri" pitchFamily="34" charset="0"/>
                <a:ea typeface="Calibri" pitchFamily="34" charset="-122"/>
                <a:cs typeface="Calibri" pitchFamily="34" charset="-120"/>
              </a:rPr>
              <a:t>БОТ · БЕЗОПАСНОСТЬ</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01E"/>
                </a:solidFill>
                <a:latin typeface="Cambria" pitchFamily="34" charset="0"/>
                <a:ea typeface="Cambria" pitchFamily="34" charset="-122"/>
                <a:cs typeface="Cambria" pitchFamily="34" charset="-120"/>
              </a:rPr>
              <a:t>Опасный ответ — предупреждение сразу, а не в конце</a:t>
            </a:r>
            <a:endParaRPr lang="en-US" sz="2800" dirty="0"/>
          </a:p>
        </p:txBody>
      </p:sp>
      <p:sp>
        <p:nvSpPr>
          <p:cNvPr id="4" name="Text 2"/>
          <p:cNvSpPr txBox="1"/>
          <p:nvPr/>
        </p:nvSpPr>
        <p:spPr>
          <a:xfrm>
            <a:off x="548640" y="6419088"/>
            <a:ext cx="7315200" cy="228600"/>
          </a:xfrm>
          <a:prstGeom prst="rect">
            <a:avLst/>
          </a:prstGeom>
          <a:noFill/>
          <a:ln/>
        </p:spPr>
        <p:txBody>
          <a:bodyPr wrap="square" lIns="0" tIns="0" rIns="0" bIns="0" rtlCol="0" anchor="t"/>
          <a:lstStyle/>
          <a:p>
            <a:pPr indent="0" marL="0">
              <a:buNone/>
            </a:pPr>
            <a:r>
              <a:rPr lang="en-US" sz="900" dirty="0">
                <a:solidFill>
                  <a:srgbClr val="748480"/>
                </a:solidFill>
                <a:latin typeface="Calibri" pitchFamily="34" charset="0"/>
                <a:ea typeface="Calibri" pitchFamily="34" charset="-122"/>
                <a:cs typeface="Calibri" pitchFamily="34" charset="-120"/>
              </a:rPr>
              <a:t>АНО «СДУТ» · листинг комплекса «Бот SDUT63 и мини-приложение»</a:t>
            </a:r>
            <a:endParaRPr lang="en-US" sz="900" dirty="0"/>
          </a:p>
        </p:txBody>
      </p:sp>
      <p:sp>
        <p:nvSpPr>
          <p:cNvPr id="5" name="Text 3"/>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900" dirty="0">
                <a:solidFill>
                  <a:srgbClr val="748480"/>
                </a:solidFill>
                <a:latin typeface="Calibri" pitchFamily="34" charset="0"/>
                <a:ea typeface="Calibri" pitchFamily="34" charset="-122"/>
                <a:cs typeface="Calibri" pitchFamily="34" charset="-120"/>
              </a:rPr>
              <a:t>6 / 22</a:t>
            </a:r>
            <a:endParaRPr lang="en-US" sz="900" dirty="0"/>
          </a:p>
        </p:txBody>
      </p:sp>
      <p:pic>
        <p:nvPicPr>
          <p:cNvPr id="6" name="Image 0" descr="Экран чат-бота в MAX">    </p:cNvPr>
          <p:cNvPicPr>
            <a:picLocks noChangeAspect="1"/>
          </p:cNvPicPr>
          <p:nvPr/>
        </p:nvPicPr>
        <p:blipFill>
          <a:blip r:embed="rId1"/>
          <a:stretch>
            <a:fillRect/>
          </a:stretch>
        </p:blipFill>
        <p:spPr>
          <a:xfrm>
            <a:off x="548640" y="1463040"/>
            <a:ext cx="3158086" cy="4663440"/>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977640" y="1481328"/>
          <a:ext cx="7662672" cy="914400"/>
        </p:xfrm>
        <a:graphic>
          <a:graphicData uri="http://schemas.openxmlformats.org/drawingml/2006/table">
            <a:tbl>
              <a:tblPr/>
              <a:tblGrid>
                <a:gridCol w="1920240"/>
                <a:gridCol w="2514600"/>
                <a:gridCol w="3227832"/>
              </a:tblGrid>
              <a:tr h="4572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Вопрос</a:t>
                      </a:r>
                      <a:endParaRPr lang="en-US" sz="1150" dirty="0">
                        <a:latin typeface="Calibri" charset="0"/>
                        <a:ea typeface="Calibri" charset="0"/>
                        <a:cs typeface="Calibri" charset="0"/>
                      </a:endParaRPr>
                    </a:p>
                  </a:txBody>
                  <a:tcPr marL="76200" marR="762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1B5A55"/>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Ответ</a:t>
                      </a:r>
                      <a:endParaRPr lang="en-US" sz="1150" dirty="0">
                        <a:latin typeface="Calibri" charset="0"/>
                        <a:ea typeface="Calibri" charset="0"/>
                        <a:cs typeface="Calibri" charset="0"/>
                      </a:endParaRPr>
                    </a:p>
                  </a:txBody>
                  <a:tcPr marL="76200" marR="762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1B5A55"/>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Что делает бот</a:t>
                      </a:r>
                      <a:endParaRPr lang="en-US" sz="1150" dirty="0">
                        <a:latin typeface="Calibri" charset="0"/>
                        <a:ea typeface="Calibri" charset="0"/>
                        <a:cs typeface="Calibri" charset="0"/>
                      </a:endParaRPr>
                    </a:p>
                  </a:txBody>
                  <a:tcPr marL="76200" marR="762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1B5A55"/>
                    </a:solidFill>
                  </a:tcPr>
                </a:tc>
              </a:tr>
              <a:tr h="457200">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Что беспокоит сейчас</a:t>
                      </a:r>
                      <a:endParaRPr lang="en-US" sz="1150" dirty="0">
                        <a:latin typeface="Calibri" charset="0"/>
                        <a:ea typeface="Calibri" charset="0"/>
                        <a:cs typeface="Calibri" charset="0"/>
                      </a:endParaRPr>
                    </a:p>
                  </a:txBody>
                  <a:tcPr marL="76200" marR="762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5DDD9"/>
                    </a:solidFill>
                  </a:tcPr>
                </a:tc>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Тяжело дышит · путается, бредит · резко хуже</a:t>
                      </a:r>
                      <a:endParaRPr lang="en-US" sz="1150" dirty="0">
                        <a:latin typeface="Calibri" charset="0"/>
                        <a:ea typeface="Calibri" charset="0"/>
                        <a:cs typeface="Calibri" charset="0"/>
                      </a:endParaRPr>
                    </a:p>
                  </a:txBody>
                  <a:tcPr marL="76200" marR="762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5DDD9"/>
                    </a:solidFill>
                  </a:tcPr>
                </a:tc>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«Стоп»: звонить 103. Анкета сохранена и продолжится с того же вопроса</a:t>
                      </a:r>
                      <a:endParaRPr lang="en-US" sz="1150" dirty="0">
                        <a:latin typeface="Calibri" charset="0"/>
                        <a:ea typeface="Calibri" charset="0"/>
                        <a:cs typeface="Calibri" charset="0"/>
                      </a:endParaRPr>
                    </a:p>
                  </a:txBody>
                  <a:tcPr marL="76200" marR="762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5DDD9"/>
                    </a:solidFill>
                  </a:tcPr>
                </a:tc>
              </a:tr>
              <a:tr h="457200">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Что беспокоит сейчас</a:t>
                      </a:r>
                      <a:endParaRPr lang="en-US" sz="1150" dirty="0">
                        <a:latin typeface="Calibri" charset="0"/>
                        <a:ea typeface="Calibri" charset="0"/>
                        <a:cs typeface="Calibri" charset="0"/>
                      </a:endParaRPr>
                    </a:p>
                  </a:txBody>
                  <a:tcPr marL="76200" marR="762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5DDD9"/>
                    </a:solidFill>
                  </a:tcPr>
                </a:tc>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Отмечено 4 признака и больше</a:t>
                      </a:r>
                      <a:endParaRPr lang="en-US" sz="1150" dirty="0">
                        <a:latin typeface="Calibri" charset="0"/>
                        <a:ea typeface="Calibri" charset="0"/>
                        <a:cs typeface="Calibri" charset="0"/>
                      </a:endParaRPr>
                    </a:p>
                  </a:txBody>
                  <a:tcPr marL="76200" marR="762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5DDD9"/>
                    </a:solidFill>
                  </a:tcPr>
                </a:tc>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Звонить 103, с мобильного можно 112</a:t>
                      </a:r>
                      <a:endParaRPr lang="en-US" sz="1150" dirty="0">
                        <a:latin typeface="Calibri" charset="0"/>
                        <a:ea typeface="Calibri" charset="0"/>
                        <a:cs typeface="Calibri" charset="0"/>
                      </a:endParaRPr>
                    </a:p>
                  </a:txBody>
                  <a:tcPr marL="76200" marR="762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5DDD9"/>
                    </a:solidFill>
                  </a:tcPr>
                </a:tc>
              </a:tr>
              <a:tr h="457200">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Кожа</a:t>
                      </a:r>
                      <a:endParaRPr lang="en-US" sz="1150" dirty="0">
                        <a:latin typeface="Calibri" charset="0"/>
                        <a:ea typeface="Calibri" charset="0"/>
                        <a:cs typeface="Calibri" charset="0"/>
                      </a:endParaRPr>
                    </a:p>
                  </a:txBody>
                  <a:tcPr marL="76200" marR="762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Покраснение · открытая рана</a:t>
                      </a:r>
                      <a:endParaRPr lang="en-US" sz="1150" dirty="0">
                        <a:latin typeface="Calibri" charset="0"/>
                        <a:ea typeface="Calibri" charset="0"/>
                        <a:cs typeface="Calibri" charset="0"/>
                      </a:endParaRPr>
                    </a:p>
                  </a:txBody>
                  <a:tcPr marL="76200" marR="762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Это пролежень или его начало — сказать координатору первым</a:t>
                      </a:r>
                      <a:endParaRPr lang="en-US" sz="1150" dirty="0">
                        <a:latin typeface="Calibri" charset="0"/>
                        <a:ea typeface="Calibri" charset="0"/>
                        <a:cs typeface="Calibri" charset="0"/>
                      </a:endParaRPr>
                    </a:p>
                  </a:txBody>
                  <a:tcPr marL="76200" marR="762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Как человек пьёт</a:t>
                      </a:r>
                      <a:endParaRPr lang="en-US" sz="1150" dirty="0">
                        <a:latin typeface="Calibri" charset="0"/>
                        <a:ea typeface="Calibri" charset="0"/>
                        <a:cs typeface="Calibri" charset="0"/>
                      </a:endParaRPr>
                    </a:p>
                  </a:txBody>
                  <a:tcPr marL="76200" marR="762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Поперхивается</a:t>
                      </a:r>
                      <a:endParaRPr lang="en-US" sz="1150" dirty="0">
                        <a:latin typeface="Calibri" charset="0"/>
                        <a:ea typeface="Calibri" charset="0"/>
                        <a:cs typeface="Calibri" charset="0"/>
                      </a:endParaRPr>
                    </a:p>
                  </a:txBody>
                  <a:tcPr marL="76200" marR="762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Консистенцию пищи определяет врач, самим не менять</a:t>
                      </a:r>
                      <a:endParaRPr lang="en-US" sz="1150" dirty="0">
                        <a:latin typeface="Calibri" charset="0"/>
                        <a:ea typeface="Calibri" charset="0"/>
                        <a:cs typeface="Calibri" charset="0"/>
                      </a:endParaRPr>
                    </a:p>
                  </a:txBody>
                  <a:tcPr marL="76200" marR="762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Силы ухаживающего</a:t>
                      </a:r>
                      <a:endParaRPr lang="en-US" sz="1150" dirty="0">
                        <a:latin typeface="Calibri" charset="0"/>
                        <a:ea typeface="Calibri" charset="0"/>
                        <a:cs typeface="Calibri" charset="0"/>
                      </a:endParaRPr>
                    </a:p>
                  </a:txBody>
                  <a:tcPr marL="76200" marR="762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На пределе · не справляемся</a:t>
                      </a:r>
                      <a:endParaRPr lang="en-US" sz="1150" dirty="0">
                        <a:latin typeface="Calibri" charset="0"/>
                        <a:ea typeface="Calibri" charset="0"/>
                        <a:cs typeface="Calibri" charset="0"/>
                      </a:endParaRPr>
                    </a:p>
                  </a:txBody>
                  <a:tcPr marL="76200" marR="762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Поддержка ухаживающего — задача службы; координатор узнает</a:t>
                      </a:r>
                      <a:endParaRPr lang="en-US" sz="1150" dirty="0">
                        <a:latin typeface="Calibri" charset="0"/>
                        <a:ea typeface="Calibri" charset="0"/>
                        <a:cs typeface="Calibri" charset="0"/>
                      </a:endParaRPr>
                    </a:p>
                  </a:txBody>
                  <a:tcPr marL="76200" marR="762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r>
            </a:tbl>
          </a:graphicData>
        </a:graphic>
      </p:graphicFrame>
      <p:sp>
        <p:nvSpPr>
          <p:cNvPr id="8" name="Shape 4"/>
          <p:cNvSpPr/>
          <p:nvPr/>
        </p:nvSpPr>
        <p:spPr>
          <a:xfrm>
            <a:off x="3977640" y="4526280"/>
            <a:ext cx="7662672" cy="1481328"/>
          </a:xfrm>
          <a:prstGeom prst="roundRect">
            <a:avLst>
              <a:gd name="adj" fmla="val 4938"/>
            </a:avLst>
          </a:prstGeom>
          <a:solidFill>
            <a:srgbClr val="F5DDD9"/>
          </a:solidFill>
          <a:ln w="12700">
            <a:solidFill>
              <a:srgbClr val="F5DDD9"/>
            </a:solidFill>
            <a:prstDash val="solid"/>
          </a:ln>
        </p:spPr>
      </p:sp>
      <p:sp>
        <p:nvSpPr>
          <p:cNvPr id="9" name="Text 5"/>
          <p:cNvSpPr txBox="1"/>
          <p:nvPr/>
        </p:nvSpPr>
        <p:spPr>
          <a:xfrm>
            <a:off x="4206240" y="4636008"/>
            <a:ext cx="7223760" cy="292608"/>
          </a:xfrm>
          <a:prstGeom prst="rect">
            <a:avLst/>
          </a:prstGeom>
          <a:noFill/>
          <a:ln/>
        </p:spPr>
        <p:txBody>
          <a:bodyPr wrap="square" lIns="0" tIns="0" rIns="0" bIns="0" rtlCol="0" anchor="t"/>
          <a:lstStyle/>
          <a:p>
            <a:pPr indent="0" marL="0">
              <a:buNone/>
            </a:pPr>
            <a:r>
              <a:rPr lang="en-US" sz="1350" b="1" dirty="0">
                <a:solidFill>
                  <a:srgbClr val="9C382E"/>
                </a:solidFill>
                <a:latin typeface="Calibri" pitchFamily="34" charset="0"/>
                <a:ea typeface="Calibri" pitchFamily="34" charset="-122"/>
                <a:cs typeface="Calibri" pitchFamily="34" charset="-120"/>
              </a:rPr>
              <a:t>И в любом сообщении — даже до согласия</a:t>
            </a:r>
            <a:endParaRPr lang="en-US" sz="1350" dirty="0"/>
          </a:p>
        </p:txBody>
      </p:sp>
      <p:sp>
        <p:nvSpPr>
          <p:cNvPr id="10" name="Text 6"/>
          <p:cNvSpPr txBox="1"/>
          <p:nvPr/>
        </p:nvSpPr>
        <p:spPr>
          <a:xfrm>
            <a:off x="4206240" y="4956048"/>
            <a:ext cx="7223760" cy="1188720"/>
          </a:xfrm>
          <a:prstGeom prst="rect">
            <a:avLst/>
          </a:prstGeom>
          <a:noFill/>
          <a:ln/>
        </p:spPr>
        <p:txBody>
          <a:bodyPr wrap="square" lIns="0" tIns="0" rIns="0" bIns="0" rtlCol="0" anchor="t"/>
          <a:lstStyle/>
          <a:p>
            <a:pPr indent="0" marL="0">
              <a:buNone/>
            </a:pPr>
            <a:r>
              <a:rPr lang="en-US" sz="1150" dirty="0">
                <a:solidFill>
                  <a:srgbClr val="14201E"/>
                </a:solidFill>
                <a:latin typeface="Calibri" pitchFamily="34" charset="0"/>
                <a:ea typeface="Calibri" pitchFamily="34" charset="-122"/>
                <a:cs typeface="Calibri" pitchFamily="34" charset="-120"/>
              </a:rPr>
              <a:t>Беда распознаётся в свободном тексте раньше разбора ответа: 20 групп признаков по перечню поводов к экстренному вызову (Приказ Минздрава № 388н) и уходовые состояния — поперхивание, задержка мочи при катетере, гипогликемия. Бытовые слова («не могу разбудить», «синеет») учтены; прошедшее время («в прошлом году упал») — нет.</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5A55"/>
                </a:solidFill>
                <a:latin typeface="Calibri" pitchFamily="34" charset="0"/>
                <a:ea typeface="Calibri" pitchFamily="34" charset="-122"/>
                <a:cs typeface="Calibri" pitchFamily="34" charset="-120"/>
              </a:rPr>
              <a:t>БОТ · ПЕРСОНАЛЬНЫЕ ДАННЫЕ</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01E"/>
                </a:solidFill>
                <a:latin typeface="Cambria" pitchFamily="34" charset="0"/>
                <a:ea typeface="Cambria" pitchFamily="34" charset="-122"/>
                <a:cs typeface="Cambria" pitchFamily="34" charset="-120"/>
              </a:rPr>
              <a:t>Согласие первым, данные — только нужные</a:t>
            </a:r>
            <a:endParaRPr lang="en-US" sz="2800" dirty="0"/>
          </a:p>
        </p:txBody>
      </p:sp>
      <p:sp>
        <p:nvSpPr>
          <p:cNvPr id="4" name="Text 2"/>
          <p:cNvSpPr txBox="1"/>
          <p:nvPr/>
        </p:nvSpPr>
        <p:spPr>
          <a:xfrm>
            <a:off x="548640" y="6419088"/>
            <a:ext cx="7315200" cy="228600"/>
          </a:xfrm>
          <a:prstGeom prst="rect">
            <a:avLst/>
          </a:prstGeom>
          <a:noFill/>
          <a:ln/>
        </p:spPr>
        <p:txBody>
          <a:bodyPr wrap="square" lIns="0" tIns="0" rIns="0" bIns="0" rtlCol="0" anchor="t"/>
          <a:lstStyle/>
          <a:p>
            <a:pPr indent="0" marL="0">
              <a:buNone/>
            </a:pPr>
            <a:r>
              <a:rPr lang="en-US" sz="900" dirty="0">
                <a:solidFill>
                  <a:srgbClr val="748480"/>
                </a:solidFill>
                <a:latin typeface="Calibri" pitchFamily="34" charset="0"/>
                <a:ea typeface="Calibri" pitchFamily="34" charset="-122"/>
                <a:cs typeface="Calibri" pitchFamily="34" charset="-120"/>
              </a:rPr>
              <a:t>АНО «СДУТ» · листинг комплекса «Бот SDUT63 и мини-приложение»</a:t>
            </a:r>
            <a:endParaRPr lang="en-US" sz="900" dirty="0"/>
          </a:p>
        </p:txBody>
      </p:sp>
      <p:sp>
        <p:nvSpPr>
          <p:cNvPr id="5" name="Text 3"/>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900" dirty="0">
                <a:solidFill>
                  <a:srgbClr val="748480"/>
                </a:solidFill>
                <a:latin typeface="Calibri" pitchFamily="34" charset="0"/>
                <a:ea typeface="Calibri" pitchFamily="34" charset="-122"/>
                <a:cs typeface="Calibri" pitchFamily="34" charset="-120"/>
              </a:rPr>
              <a:t>7 / 22</a:t>
            </a:r>
            <a:endParaRPr lang="en-US" sz="900" dirty="0"/>
          </a:p>
        </p:txBody>
      </p:sp>
      <p:pic>
        <p:nvPicPr>
          <p:cNvPr id="6" name="Image 0" descr="Экран чат-бота в MAX">    </p:cNvPr>
          <p:cNvPicPr>
            <a:picLocks noChangeAspect="1"/>
          </p:cNvPicPr>
          <p:nvPr/>
        </p:nvPicPr>
        <p:blipFill>
          <a:blip r:embed="rId1"/>
          <a:stretch>
            <a:fillRect/>
          </a:stretch>
        </p:blipFill>
        <p:spPr>
          <a:xfrm>
            <a:off x="548640" y="1417320"/>
            <a:ext cx="1552826" cy="4846320"/>
          </a:xfrm>
          <a:prstGeom prst="rect">
            <a:avLst/>
          </a:prstGeom>
        </p:spPr>
      </p:pic>
      <p:sp>
        <p:nvSpPr>
          <p:cNvPr id="7" name="Shape 4"/>
          <p:cNvSpPr/>
          <p:nvPr/>
        </p:nvSpPr>
        <p:spPr>
          <a:xfrm>
            <a:off x="2514600" y="1508760"/>
            <a:ext cx="4434840" cy="3310128"/>
          </a:xfrm>
          <a:prstGeom prst="roundRect">
            <a:avLst>
              <a:gd name="adj" fmla="val 2210"/>
            </a:avLst>
          </a:prstGeom>
          <a:solidFill>
            <a:srgbClr val="FFFFFF"/>
          </a:solidFill>
          <a:ln w="12700">
            <a:solidFill>
              <a:srgbClr val="CBD6D2"/>
            </a:solidFill>
            <a:prstDash val="solid"/>
          </a:ln>
        </p:spPr>
      </p:sp>
      <p:sp>
        <p:nvSpPr>
          <p:cNvPr id="8" name="Text 5"/>
          <p:cNvSpPr txBox="1"/>
          <p:nvPr/>
        </p:nvSpPr>
        <p:spPr>
          <a:xfrm>
            <a:off x="2788920" y="1645920"/>
            <a:ext cx="3840480" cy="320040"/>
          </a:xfrm>
          <a:prstGeom prst="rect">
            <a:avLst/>
          </a:prstGeom>
          <a:noFill/>
          <a:ln/>
        </p:spPr>
        <p:txBody>
          <a:bodyPr wrap="square" lIns="0" tIns="0" rIns="0" bIns="0" rtlCol="0" anchor="t"/>
          <a:lstStyle/>
          <a:p>
            <a:pPr indent="0" marL="0">
              <a:buNone/>
            </a:pPr>
            <a:r>
              <a:rPr lang="en-US" sz="1500" b="1" dirty="0">
                <a:solidFill>
                  <a:srgbClr val="1B5A55"/>
                </a:solidFill>
                <a:latin typeface="Calibri" pitchFamily="34" charset="0"/>
                <a:ea typeface="Calibri" pitchFamily="34" charset="-122"/>
                <a:cs typeface="Calibri" pitchFamily="34" charset="-120"/>
              </a:rPr>
              <a:t>Согласие</a:t>
            </a:r>
            <a:endParaRPr lang="en-US" sz="1500" dirty="0"/>
          </a:p>
        </p:txBody>
      </p:sp>
      <p:sp>
        <p:nvSpPr>
          <p:cNvPr id="9" name="Text 6"/>
          <p:cNvSpPr txBox="1"/>
          <p:nvPr/>
        </p:nvSpPr>
        <p:spPr>
          <a:xfrm>
            <a:off x="2788920" y="2057400"/>
            <a:ext cx="3931920" cy="26517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4201E"/>
                </a:solidFill>
                <a:latin typeface="Calibri" pitchFamily="34" charset="0"/>
                <a:ea typeface="Calibri" pitchFamily="34" charset="-122"/>
                <a:cs typeface="Calibri" pitchFamily="34" charset="-120"/>
              </a:rPr>
              <a:t>Электронное — до первого вопроса; «Не согласен» закрывает разговор</a:t>
            </a:r>
            <a:endParaRPr lang="en-US" sz="1250" dirty="0"/>
          </a:p>
          <a:p>
            <a:pPr marL="177800" indent="-177800">
              <a:spcAft>
                <a:spcPts val="500"/>
              </a:spcAft>
              <a:buSzPct val="100000"/>
              <a:buChar char="•"/>
            </a:pPr>
            <a:r>
              <a:rPr lang="en-US" sz="1250" dirty="0">
                <a:solidFill>
                  <a:srgbClr val="14201E"/>
                </a:solidFill>
                <a:latin typeface="Calibri" pitchFamily="34" charset="0"/>
                <a:ea typeface="Calibri" pitchFamily="34" charset="-122"/>
                <a:cs typeface="Calibri" pitchFamily="34" charset="-120"/>
              </a:rPr>
              <a:t>Бумажная форма подбирается по первому ответу: о себе — Форма 1; о близком — Форма 2, подписывает сам человек или законный представитель; специалист — согласие оформляет служба при встрече</a:t>
            </a:r>
            <a:endParaRPr lang="en-US" sz="1250" dirty="0"/>
          </a:p>
          <a:p>
            <a:pPr marL="177800" indent="-177800">
              <a:spcAft>
                <a:spcPts val="500"/>
              </a:spcAft>
              <a:buSzPct val="100000"/>
              <a:buChar char="•"/>
            </a:pPr>
            <a:r>
              <a:rPr lang="en-US" sz="1250" dirty="0">
                <a:solidFill>
                  <a:srgbClr val="14201E"/>
                </a:solidFill>
                <a:latin typeface="Calibri" pitchFamily="34" charset="0"/>
                <a:ea typeface="Calibri" pitchFamily="34" charset="-122"/>
                <a:cs typeface="Calibri" pitchFamily="34" charset="-120"/>
              </a:rPr>
              <a:t>Данные не от субъекта — уведомление по ч. 3 ст. 18 ФЗ-152 при первом звонке</a:t>
            </a:r>
            <a:endParaRPr lang="en-US" sz="1250" dirty="0"/>
          </a:p>
          <a:p>
            <a:pPr marL="177800" indent="-177800">
              <a:spcAft>
                <a:spcPts val="500"/>
              </a:spcAft>
              <a:buSzPct val="100000"/>
              <a:buChar char="•"/>
            </a:pPr>
            <a:r>
              <a:rPr lang="en-US" sz="1250" dirty="0">
                <a:solidFill>
                  <a:srgbClr val="14201E"/>
                </a:solidFill>
                <a:latin typeface="Calibri" pitchFamily="34" charset="0"/>
                <a:ea typeface="Calibri" pitchFamily="34" charset="-122"/>
                <a:cs typeface="Calibri" pitchFamily="34" charset="-120"/>
              </a:rPr>
              <a:t>Комплект: 4 формы и 2 приложения, собирается из кода</a:t>
            </a:r>
            <a:endParaRPr lang="en-US" sz="1250" dirty="0"/>
          </a:p>
        </p:txBody>
      </p:sp>
      <p:sp>
        <p:nvSpPr>
          <p:cNvPr id="10" name="Shape 7"/>
          <p:cNvSpPr/>
          <p:nvPr/>
        </p:nvSpPr>
        <p:spPr>
          <a:xfrm>
            <a:off x="7178040" y="1508760"/>
            <a:ext cx="4462272" cy="3310128"/>
          </a:xfrm>
          <a:prstGeom prst="roundRect">
            <a:avLst>
              <a:gd name="adj" fmla="val 2210"/>
            </a:avLst>
          </a:prstGeom>
          <a:solidFill>
            <a:srgbClr val="FFFFFF"/>
          </a:solidFill>
          <a:ln w="12700">
            <a:solidFill>
              <a:srgbClr val="CBD6D2"/>
            </a:solidFill>
            <a:prstDash val="solid"/>
          </a:ln>
        </p:spPr>
      </p:sp>
      <p:sp>
        <p:nvSpPr>
          <p:cNvPr id="11" name="Text 8"/>
          <p:cNvSpPr txBox="1"/>
          <p:nvPr/>
        </p:nvSpPr>
        <p:spPr>
          <a:xfrm>
            <a:off x="7452360" y="1645920"/>
            <a:ext cx="3840480" cy="320040"/>
          </a:xfrm>
          <a:prstGeom prst="rect">
            <a:avLst/>
          </a:prstGeom>
          <a:noFill/>
          <a:ln/>
        </p:spPr>
        <p:txBody>
          <a:bodyPr wrap="square" lIns="0" tIns="0" rIns="0" bIns="0" rtlCol="0" anchor="t"/>
          <a:lstStyle/>
          <a:p>
            <a:pPr indent="0" marL="0">
              <a:buNone/>
            </a:pPr>
            <a:r>
              <a:rPr lang="en-US" sz="1500" b="1" dirty="0">
                <a:solidFill>
                  <a:srgbClr val="1B5A55"/>
                </a:solidFill>
                <a:latin typeface="Calibri" pitchFamily="34" charset="0"/>
                <a:ea typeface="Calibri" pitchFamily="34" charset="-122"/>
                <a:cs typeface="Calibri" pitchFamily="34" charset="-120"/>
              </a:rPr>
              <a:t>Данные</a:t>
            </a:r>
            <a:endParaRPr lang="en-US" sz="1500" dirty="0"/>
          </a:p>
        </p:txBody>
      </p:sp>
      <p:sp>
        <p:nvSpPr>
          <p:cNvPr id="12" name="Text 9"/>
          <p:cNvSpPr txBox="1"/>
          <p:nvPr/>
        </p:nvSpPr>
        <p:spPr>
          <a:xfrm>
            <a:off x="7452360" y="2057400"/>
            <a:ext cx="3977640" cy="26517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4201E"/>
                </a:solidFill>
                <a:latin typeface="Calibri" pitchFamily="34" charset="0"/>
                <a:ea typeface="Calibri" pitchFamily="34" charset="-122"/>
                <a:cs typeface="Calibri" pitchFamily="34" charset="-120"/>
              </a:rPr>
              <a:t>«Удалить» — бот стирает всё и подтверждает; запоздавшее сообщение карточку не воскресит</a:t>
            </a:r>
            <a:endParaRPr lang="en-US" sz="1250" dirty="0"/>
          </a:p>
          <a:p>
            <a:pPr marL="177800" indent="-177800">
              <a:spcAft>
                <a:spcPts val="500"/>
              </a:spcAft>
              <a:buSzPct val="100000"/>
              <a:buChar char="•"/>
            </a:pPr>
            <a:r>
              <a:rPr lang="en-US" sz="1250" dirty="0">
                <a:solidFill>
                  <a:srgbClr val="14201E"/>
                </a:solidFill>
                <a:latin typeface="Calibri" pitchFamily="34" charset="0"/>
                <a:ea typeface="Calibri" pitchFamily="34" charset="-122"/>
                <a:cs typeface="Calibri" pitchFamily="34" charset="-120"/>
              </a:rPr>
              <a:t>Сроки хранения закреплены в согласии; удаление по сроку — плановым заданием, срок задаёт оператор персональных данных</a:t>
            </a:r>
            <a:endParaRPr lang="en-US" sz="1250" dirty="0"/>
          </a:p>
          <a:p>
            <a:pPr marL="177800" indent="-177800">
              <a:spcAft>
                <a:spcPts val="500"/>
              </a:spcAft>
              <a:buSzPct val="100000"/>
              <a:buChar char="•"/>
            </a:pPr>
            <a:r>
              <a:rPr lang="en-US" sz="1250" dirty="0">
                <a:solidFill>
                  <a:srgbClr val="14201E"/>
                </a:solidFill>
                <a:latin typeface="Calibri" pitchFamily="34" charset="0"/>
                <a:ea typeface="Calibri" pitchFamily="34" charset="-122"/>
                <a:cs typeface="Calibri" pitchFamily="34" charset="-120"/>
              </a:rPr>
              <a:t>Ответы в приложение передаются после «#»: эта часть адреса браузером на сервер не отправляется и стирается из адресной строки</a:t>
            </a:r>
            <a:endParaRPr lang="en-US" sz="1250" dirty="0"/>
          </a:p>
          <a:p>
            <a:pPr marL="177800" indent="-177800">
              <a:spcAft>
                <a:spcPts val="500"/>
              </a:spcAft>
              <a:buSzPct val="100000"/>
              <a:buChar char="•"/>
            </a:pPr>
            <a:r>
              <a:rPr lang="en-US" sz="1250" dirty="0">
                <a:solidFill>
                  <a:srgbClr val="14201E"/>
                </a:solidFill>
                <a:latin typeface="Calibri" pitchFamily="34" charset="0"/>
                <a:ea typeface="Calibri" pitchFamily="34" charset="-122"/>
                <a:cs typeface="Calibri" pitchFamily="34" charset="-120"/>
              </a:rPr>
              <a:t>Языковая модель выключена; если её включить, из текста до отправки вырезаются телефон, почта, СНИЛС, полис, адрес, дата рождения и имя</a:t>
            </a:r>
            <a:endParaRPr lang="en-US" sz="1250" dirty="0"/>
          </a:p>
        </p:txBody>
      </p:sp>
      <p:sp>
        <p:nvSpPr>
          <p:cNvPr id="13" name="Text 10"/>
          <p:cNvSpPr txBox="1"/>
          <p:nvPr/>
        </p:nvSpPr>
        <p:spPr>
          <a:xfrm>
            <a:off x="2514600" y="4983480"/>
            <a:ext cx="9052560" cy="292608"/>
          </a:xfrm>
          <a:prstGeom prst="rect">
            <a:avLst/>
          </a:prstGeom>
          <a:noFill/>
          <a:ln/>
        </p:spPr>
        <p:txBody>
          <a:bodyPr wrap="square" lIns="0" tIns="0" rIns="0" bIns="0" rtlCol="0" anchor="t"/>
          <a:lstStyle/>
          <a:p>
            <a:pPr indent="0" marL="0">
              <a:buNone/>
            </a:pPr>
            <a:r>
              <a:rPr lang="en-US" sz="1300" b="1" dirty="0">
                <a:solidFill>
                  <a:srgbClr val="1B5A55"/>
                </a:solidFill>
                <a:latin typeface="Calibri" pitchFamily="34" charset="0"/>
                <a:ea typeface="Calibri" pitchFamily="34" charset="-122"/>
                <a:cs typeface="Calibri" pitchFamily="34" charset="-120"/>
              </a:rPr>
              <a:t>Сроки хранения по тексту согласия</a:t>
            </a:r>
            <a:endParaRPr lang="en-US" sz="1300" dirty="0"/>
          </a:p>
        </p:txBody>
      </p:sp>
      <p:sp>
        <p:nvSpPr>
          <p:cNvPr id="14" name="Text 11"/>
          <p:cNvSpPr txBox="1"/>
          <p:nvPr/>
        </p:nvSpPr>
        <p:spPr>
          <a:xfrm>
            <a:off x="2514600" y="5321808"/>
            <a:ext cx="2926080" cy="384048"/>
          </a:xfrm>
          <a:prstGeom prst="rect">
            <a:avLst/>
          </a:prstGeom>
          <a:noFill/>
          <a:ln/>
        </p:spPr>
        <p:txBody>
          <a:bodyPr wrap="square" lIns="0" tIns="0" rIns="0" bIns="0" rtlCol="0" anchor="t"/>
          <a:lstStyle/>
          <a:p>
            <a:pPr indent="0" marL="0">
              <a:buNone/>
            </a:pPr>
            <a:r>
              <a:rPr lang="en-US" sz="1900" b="1" dirty="0">
                <a:solidFill>
                  <a:srgbClr val="1B5A55"/>
                </a:solidFill>
                <a:latin typeface="Cambria" pitchFamily="34" charset="0"/>
                <a:ea typeface="Cambria" pitchFamily="34" charset="-122"/>
                <a:cs typeface="Cambria" pitchFamily="34" charset="-120"/>
              </a:rPr>
              <a:t>30 дней</a:t>
            </a:r>
            <a:endParaRPr lang="en-US" sz="1900" dirty="0"/>
          </a:p>
        </p:txBody>
      </p:sp>
      <p:sp>
        <p:nvSpPr>
          <p:cNvPr id="15" name="Text 12"/>
          <p:cNvSpPr txBox="1"/>
          <p:nvPr/>
        </p:nvSpPr>
        <p:spPr>
          <a:xfrm>
            <a:off x="2514600" y="5715000"/>
            <a:ext cx="2926080" cy="502920"/>
          </a:xfrm>
          <a:prstGeom prst="rect">
            <a:avLst/>
          </a:prstGeom>
          <a:noFill/>
          <a:ln/>
        </p:spPr>
        <p:txBody>
          <a:bodyPr wrap="square" lIns="0" tIns="0" rIns="0" bIns="0" rtlCol="0" anchor="t"/>
          <a:lstStyle/>
          <a:p>
            <a:pPr indent="0" marL="0">
              <a:buNone/>
            </a:pPr>
            <a:r>
              <a:rPr lang="en-US" sz="1100" dirty="0">
                <a:solidFill>
                  <a:srgbClr val="4B5A56"/>
                </a:solidFill>
                <a:latin typeface="Calibri" pitchFamily="34" charset="0"/>
                <a:ea typeface="Calibri" pitchFamily="34" charset="-122"/>
                <a:cs typeface="Calibri" pitchFamily="34" charset="-120"/>
              </a:rPr>
              <a:t>незаконченная анкета —</a:t>
            </a:r>
            <a:endParaRPr lang="en-US" sz="1100" dirty="0"/>
          </a:p>
          <a:p>
            <a:pPr indent="0" marL="0">
              <a:buNone/>
            </a:pPr>
            <a:r>
              <a:rPr lang="en-US" sz="1100" dirty="0">
                <a:solidFill>
                  <a:srgbClr val="4B5A56"/>
                </a:solidFill>
                <a:latin typeface="Calibri" pitchFamily="34" charset="0"/>
                <a:ea typeface="Calibri" pitchFamily="34" charset="-122"/>
                <a:cs typeface="Calibri" pitchFamily="34" charset="-120"/>
              </a:rPr>
              <a:t>потом удаляется полностью</a:t>
            </a:r>
            <a:endParaRPr lang="en-US" sz="1100" dirty="0"/>
          </a:p>
        </p:txBody>
      </p:sp>
      <p:sp>
        <p:nvSpPr>
          <p:cNvPr id="16" name="Text 13"/>
          <p:cNvSpPr txBox="1"/>
          <p:nvPr/>
        </p:nvSpPr>
        <p:spPr>
          <a:xfrm>
            <a:off x="5577840" y="5321808"/>
            <a:ext cx="2926080" cy="384048"/>
          </a:xfrm>
          <a:prstGeom prst="rect">
            <a:avLst/>
          </a:prstGeom>
          <a:noFill/>
          <a:ln/>
        </p:spPr>
        <p:txBody>
          <a:bodyPr wrap="square" lIns="0" tIns="0" rIns="0" bIns="0" rtlCol="0" anchor="t"/>
          <a:lstStyle/>
          <a:p>
            <a:pPr indent="0" marL="0">
              <a:buNone/>
            </a:pPr>
            <a:r>
              <a:rPr lang="en-US" sz="1900" b="1" dirty="0">
                <a:solidFill>
                  <a:srgbClr val="1B5A55"/>
                </a:solidFill>
                <a:latin typeface="Cambria" pitchFamily="34" charset="0"/>
                <a:ea typeface="Cambria" pitchFamily="34" charset="-122"/>
                <a:cs typeface="Cambria" pitchFamily="34" charset="-120"/>
              </a:rPr>
              <a:t>до закрытия + год</a:t>
            </a:r>
            <a:endParaRPr lang="en-US" sz="1900" dirty="0"/>
          </a:p>
        </p:txBody>
      </p:sp>
      <p:sp>
        <p:nvSpPr>
          <p:cNvPr id="17" name="Text 14"/>
          <p:cNvSpPr txBox="1"/>
          <p:nvPr/>
        </p:nvSpPr>
        <p:spPr>
          <a:xfrm>
            <a:off x="5577840" y="5715000"/>
            <a:ext cx="2926080" cy="502920"/>
          </a:xfrm>
          <a:prstGeom prst="rect">
            <a:avLst/>
          </a:prstGeom>
          <a:noFill/>
          <a:ln/>
        </p:spPr>
        <p:txBody>
          <a:bodyPr wrap="square" lIns="0" tIns="0" rIns="0" bIns="0" rtlCol="0" anchor="t"/>
          <a:lstStyle/>
          <a:p>
            <a:pPr indent="0" marL="0">
              <a:buNone/>
            </a:pPr>
            <a:r>
              <a:rPr lang="en-US" sz="1100" dirty="0">
                <a:solidFill>
                  <a:srgbClr val="4B5A56"/>
                </a:solidFill>
                <a:latin typeface="Calibri" pitchFamily="34" charset="0"/>
                <a:ea typeface="Calibri" pitchFamily="34" charset="-122"/>
                <a:cs typeface="Calibri" pitchFamily="34" charset="-120"/>
              </a:rPr>
              <a:t>обращение в работе —</a:t>
            </a:r>
            <a:endParaRPr lang="en-US" sz="1100" dirty="0"/>
          </a:p>
          <a:p>
            <a:pPr indent="0" marL="0">
              <a:buNone/>
            </a:pPr>
            <a:r>
              <a:rPr lang="en-US" sz="1100" dirty="0">
                <a:solidFill>
                  <a:srgbClr val="4B5A56"/>
                </a:solidFill>
                <a:latin typeface="Calibri" pitchFamily="34" charset="0"/>
                <a:ea typeface="Calibri" pitchFamily="34" charset="-122"/>
                <a:cs typeface="Calibri" pitchFamily="34" charset="-120"/>
              </a:rPr>
              <a:t>контрольные звонки</a:t>
            </a:r>
            <a:endParaRPr lang="en-US" sz="1100" dirty="0"/>
          </a:p>
        </p:txBody>
      </p:sp>
      <p:sp>
        <p:nvSpPr>
          <p:cNvPr id="18" name="Text 15"/>
          <p:cNvSpPr txBox="1"/>
          <p:nvPr/>
        </p:nvSpPr>
        <p:spPr>
          <a:xfrm>
            <a:off x="8641080" y="5321808"/>
            <a:ext cx="2926080" cy="384048"/>
          </a:xfrm>
          <a:prstGeom prst="rect">
            <a:avLst/>
          </a:prstGeom>
          <a:noFill/>
          <a:ln/>
        </p:spPr>
        <p:txBody>
          <a:bodyPr wrap="square" lIns="0" tIns="0" rIns="0" bIns="0" rtlCol="0" anchor="t"/>
          <a:lstStyle/>
          <a:p>
            <a:pPr indent="0" marL="0">
              <a:buNone/>
            </a:pPr>
            <a:r>
              <a:rPr lang="en-US" sz="1900" b="1" dirty="0">
                <a:solidFill>
                  <a:srgbClr val="1B5A55"/>
                </a:solidFill>
                <a:latin typeface="Cambria" pitchFamily="34" charset="0"/>
                <a:ea typeface="Cambria" pitchFamily="34" charset="-122"/>
                <a:cs typeface="Cambria" pitchFamily="34" charset="-120"/>
              </a:rPr>
              <a:t>3 года</a:t>
            </a:r>
            <a:endParaRPr lang="en-US" sz="1900" dirty="0"/>
          </a:p>
        </p:txBody>
      </p:sp>
      <p:sp>
        <p:nvSpPr>
          <p:cNvPr id="19" name="Text 16"/>
          <p:cNvSpPr txBox="1"/>
          <p:nvPr/>
        </p:nvSpPr>
        <p:spPr>
          <a:xfrm>
            <a:off x="8641080" y="5715000"/>
            <a:ext cx="2926080" cy="502920"/>
          </a:xfrm>
          <a:prstGeom prst="rect">
            <a:avLst/>
          </a:prstGeom>
          <a:noFill/>
          <a:ln/>
        </p:spPr>
        <p:txBody>
          <a:bodyPr wrap="square" lIns="0" tIns="0" rIns="0" bIns="0" rtlCol="0" anchor="t"/>
          <a:lstStyle/>
          <a:p>
            <a:pPr indent="0" marL="0">
              <a:buNone/>
            </a:pPr>
            <a:r>
              <a:rPr lang="en-US" sz="1100" dirty="0">
                <a:solidFill>
                  <a:srgbClr val="4B5A56"/>
                </a:solidFill>
                <a:latin typeface="Calibri" pitchFamily="34" charset="0"/>
                <a:ea typeface="Calibri" pitchFamily="34" charset="-122"/>
                <a:cs typeface="Calibri" pitchFamily="34" charset="-120"/>
              </a:rPr>
              <a:t>закрытое обращение — дальше</a:t>
            </a:r>
            <a:endParaRPr lang="en-US" sz="1100" dirty="0"/>
          </a:p>
          <a:p>
            <a:pPr indent="0" marL="0">
              <a:buNone/>
            </a:pPr>
            <a:r>
              <a:rPr lang="en-US" sz="1100" dirty="0">
                <a:solidFill>
                  <a:srgbClr val="4B5A56"/>
                </a:solidFill>
                <a:latin typeface="Calibri" pitchFamily="34" charset="0"/>
                <a:ea typeface="Calibri" pitchFamily="34" charset="-122"/>
                <a:cs typeface="Calibri" pitchFamily="34" charset="-120"/>
              </a:rPr>
              <a:t>только обезличенная статистика</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5A55"/>
                </a:solidFill>
                <a:latin typeface="Calibri" pitchFamily="34" charset="0"/>
                <a:ea typeface="Calibri" pitchFamily="34" charset="-122"/>
                <a:cs typeface="Calibri" pitchFamily="34" charset="-120"/>
              </a:rPr>
              <a:t>БОТ · МАРШРУТИЗАЦИЯ</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01E"/>
                </a:solidFill>
                <a:latin typeface="Cambria" pitchFamily="34" charset="0"/>
                <a:ea typeface="Cambria" pitchFamily="34" charset="-122"/>
                <a:cs typeface="Cambria" pitchFamily="34" charset="-120"/>
              </a:rPr>
              <a:t>Маршрут предлагают правила, решает координатор</a:t>
            </a:r>
            <a:endParaRPr lang="en-US" sz="2800" dirty="0"/>
          </a:p>
        </p:txBody>
      </p:sp>
      <p:sp>
        <p:nvSpPr>
          <p:cNvPr id="4" name="Text 2"/>
          <p:cNvSpPr txBox="1"/>
          <p:nvPr/>
        </p:nvSpPr>
        <p:spPr>
          <a:xfrm>
            <a:off x="548640" y="6419088"/>
            <a:ext cx="7315200" cy="228600"/>
          </a:xfrm>
          <a:prstGeom prst="rect">
            <a:avLst/>
          </a:prstGeom>
          <a:noFill/>
          <a:ln/>
        </p:spPr>
        <p:txBody>
          <a:bodyPr wrap="square" lIns="0" tIns="0" rIns="0" bIns="0" rtlCol="0" anchor="t"/>
          <a:lstStyle/>
          <a:p>
            <a:pPr indent="0" marL="0">
              <a:buNone/>
            </a:pPr>
            <a:r>
              <a:rPr lang="en-US" sz="900" dirty="0">
                <a:solidFill>
                  <a:srgbClr val="748480"/>
                </a:solidFill>
                <a:latin typeface="Calibri" pitchFamily="34" charset="0"/>
                <a:ea typeface="Calibri" pitchFamily="34" charset="-122"/>
                <a:cs typeface="Calibri" pitchFamily="34" charset="-120"/>
              </a:rPr>
              <a:t>АНО «СДУТ» · листинг комплекса «Бот SDUT63 и мини-приложение»</a:t>
            </a:r>
            <a:endParaRPr lang="en-US" sz="900" dirty="0"/>
          </a:p>
        </p:txBody>
      </p:sp>
      <p:sp>
        <p:nvSpPr>
          <p:cNvPr id="5" name="Text 3"/>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900" dirty="0">
                <a:solidFill>
                  <a:srgbClr val="748480"/>
                </a:solidFill>
                <a:latin typeface="Calibri" pitchFamily="34" charset="0"/>
                <a:ea typeface="Calibri" pitchFamily="34" charset="-122"/>
                <a:cs typeface="Calibri" pitchFamily="34" charset="-120"/>
              </a:rPr>
              <a:t>8 / 22</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731520"/>
                <a:gridCol w="6153912"/>
                <a:gridCol w="4206240"/>
              </a:tblGrid>
              <a:tr h="475488">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Код</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1B5A55"/>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Когда предлагается</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1B5A55"/>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Куда</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1B5A55"/>
                    </a:solidFill>
                  </a:tcPr>
                </a:tc>
              </a:tr>
              <a:tr h="475488">
                <a:tc>
                  <a:txBody>
                    <a:bodyPr/>
                    <a:lstStyle/>
                    <a:p>
                      <a:pPr algn="ctr" indent="0" marL="0">
                        <a:buNone/>
                      </a:pPr>
                      <a:r>
                        <a:rPr lang="en-US" sz="1150" b="1" dirty="0">
                          <a:solidFill>
                            <a:srgbClr val="9C382E"/>
                          </a:solidFill>
                          <a:latin typeface="Calibri" pitchFamily="34" charset="0"/>
                          <a:ea typeface="Calibri" pitchFamily="34" charset="-122"/>
                          <a:cs typeface="Calibri" pitchFamily="34" charset="-120"/>
                        </a:rPr>
                        <a:t>СМП</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5DDD9"/>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Экстренный признак в ответе «что беспокоит сейчас»</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5DDD9"/>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Экстренная помощь 103 / 112</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5DDD9"/>
                    </a:solidFill>
                  </a:tcPr>
                </a:tc>
              </a:tr>
              <a:tr h="475488">
                <a:tc>
                  <a:txBody>
                    <a:bodyPr/>
                    <a:lstStyle/>
                    <a:p>
                      <a:pPr algn="ctr" indent="0" marL="0">
                        <a:buNone/>
                      </a:pPr>
                      <a:r>
                        <a:rPr lang="en-US" sz="1150" b="1" dirty="0">
                          <a:solidFill>
                            <a:srgbClr val="1B5A55"/>
                          </a:solidFill>
                          <a:latin typeface="Calibri" pitchFamily="34" charset="0"/>
                          <a:ea typeface="Calibri" pitchFamily="34" charset="-122"/>
                          <a:cs typeface="Calibri" pitchFamily="34" charset="-120"/>
                        </a:rPr>
                        <a:t>М1</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Паллиативный статус, постоянная боль, трахеостома или открытая рана</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Паллиативная медицинская помощь: отделение ТГКБ № 5 или кабинет поликлиники</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r>
              <a:tr h="475488">
                <a:tc>
                  <a:txBody>
                    <a:bodyPr/>
                    <a:lstStyle/>
                    <a:p>
                      <a:pPr algn="ctr" indent="0" marL="0">
                        <a:buNone/>
                      </a:pPr>
                      <a:r>
                        <a:rPr lang="en-US" sz="1150" b="1" dirty="0">
                          <a:solidFill>
                            <a:srgbClr val="1B5A55"/>
                          </a:solidFill>
                          <a:latin typeface="Calibri" pitchFamily="34" charset="0"/>
                          <a:ea typeface="Calibri" pitchFamily="34" charset="-122"/>
                          <a:cs typeface="Calibri" pitchFamily="34" charset="-120"/>
                        </a:rPr>
                        <a:t>М5</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Затронуты три сферы и больше (медицина, соцзащита, опека, поддержка семьи, ТСР, оформление статуса) или две при утрате трёх параметров</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Межведомственное сопровождение</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r>
              <a:tr h="475488">
                <a:tc>
                  <a:txBody>
                    <a:bodyPr/>
                    <a:lstStyle/>
                    <a:p>
                      <a:pPr algn="ctr" indent="0" marL="0">
                        <a:buNone/>
                      </a:pPr>
                      <a:r>
                        <a:rPr lang="en-US" sz="1150" b="1" dirty="0">
                          <a:solidFill>
                            <a:srgbClr val="1B5A55"/>
                          </a:solidFill>
                          <a:latin typeface="Calibri" pitchFamily="34" charset="0"/>
                          <a:ea typeface="Calibri" pitchFamily="34" charset="-122"/>
                          <a:cs typeface="Calibri" pitchFamily="34" charset="-120"/>
                        </a:rPr>
                        <a:t>М4</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Ответы противоречат друг другу (7 проверок) — уровень по такой анкете не считается</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Консультация эксперта по нуждаемости</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r>
              <a:tr h="475488">
                <a:tc>
                  <a:txBody>
                    <a:bodyPr/>
                    <a:lstStyle/>
                    <a:p>
                      <a:pPr algn="ctr" indent="0" marL="0">
                        <a:buNone/>
                      </a:pPr>
                      <a:r>
                        <a:rPr lang="en-US" sz="1150" b="1" dirty="0">
                          <a:solidFill>
                            <a:srgbClr val="1B5A55"/>
                          </a:solidFill>
                          <a:latin typeface="Calibri" pitchFamily="34" charset="0"/>
                          <a:ea typeface="Calibri" pitchFamily="34" charset="-122"/>
                          <a:cs typeface="Calibri" pitchFamily="34" charset="-120"/>
                        </a:rPr>
                        <a:t>М3</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Утрачено 3 параметра самообслуживания из 8 и больше</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Долговременный уход*</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r>
              <a:tr h="475488">
                <a:tc>
                  <a:txBody>
                    <a:bodyPr/>
                    <a:lstStyle/>
                    <a:p>
                      <a:pPr algn="ctr" indent="0" marL="0">
                        <a:buNone/>
                      </a:pPr>
                      <a:r>
                        <a:rPr lang="en-US" sz="1150" b="1" dirty="0">
                          <a:solidFill>
                            <a:srgbClr val="1B5A55"/>
                          </a:solidFill>
                          <a:latin typeface="Calibri" pitchFamily="34" charset="0"/>
                          <a:ea typeface="Calibri" pitchFamily="34" charset="-122"/>
                          <a:cs typeface="Calibri" pitchFamily="34" charset="-120"/>
                        </a:rPr>
                        <a:t>М2</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Утрачено 1–2 параметра, уход обеспечен, медицинских признаков нет</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Социальное обслуживание на дому: соцзащита, КЦСОН</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r>
              <a:tr h="475488">
                <a:tc>
                  <a:txBody>
                    <a:bodyPr/>
                    <a:lstStyle/>
                    <a:p>
                      <a:pPr algn="ctr" indent="0" marL="0">
                        <a:buNone/>
                      </a:pPr>
                      <a:r>
                        <a:rPr lang="en-US" sz="1150" b="1" dirty="0">
                          <a:solidFill>
                            <a:srgbClr val="1B5A55"/>
                          </a:solidFill>
                          <a:latin typeface="Calibri" pitchFamily="34" charset="0"/>
                          <a:ea typeface="Calibri" pitchFamily="34" charset="-122"/>
                          <a:cs typeface="Calibri" pitchFamily="34" charset="-120"/>
                        </a:rPr>
                        <a:t>М4</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Остальное: остановились на контрольной точке, запрос не сформулирован, обращение специалиста</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Консультация эксперта по нуждаемости</a:t>
                      </a:r>
                      <a:endParaRPr lang="en-US" sz="1150" dirty="0">
                        <a:latin typeface="Calibri" charset="0"/>
                        <a:ea typeface="Calibri" charset="0"/>
                        <a:cs typeface="Calibri" charset="0"/>
                      </a:endParaRPr>
                    </a:p>
                  </a:txBody>
                  <a:tcPr marL="76200" marR="762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5532120"/>
            <a:ext cx="11091672" cy="731520"/>
          </a:xfrm>
          <a:prstGeom prst="rect">
            <a:avLst/>
          </a:prstGeom>
          <a:noFill/>
          <a:ln/>
        </p:spPr>
        <p:txBody>
          <a:bodyPr wrap="square" lIns="0" tIns="0" rIns="0" bIns="0" rtlCol="0" anchor="t"/>
          <a:lstStyle/>
          <a:p>
            <a:pPr indent="0" marL="0">
              <a:buNone/>
            </a:pPr>
            <a:r>
              <a:rPr lang="en-US" sz="1200" dirty="0">
                <a:solidFill>
                  <a:srgbClr val="4B5A56"/>
                </a:solidFill>
                <a:latin typeface="Calibri" pitchFamily="34" charset="0"/>
                <a:ea typeface="Calibri" pitchFamily="34" charset="-122"/>
                <a:cs typeface="Calibri" pitchFamily="34" charset="-120"/>
              </a:rPr>
              <a:t>Правила проверяются по порядку сверху вниз; вместе с основным маршрутом указываются сопутствующие. Проверено на 11 эталонных случаях — все разобраны верно. * В пилотной модели — через ТКЦ СДУ; в Тольятти его официального представления пока нет.</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5A55"/>
                </a:solidFill>
                <a:latin typeface="Calibri" pitchFamily="34" charset="0"/>
                <a:ea typeface="Calibri" pitchFamily="34" charset="-122"/>
                <a:cs typeface="Calibri" pitchFamily="34" charset="-120"/>
              </a:rPr>
              <a:t>МИНИ-ПРИЛОЖЕНИЕ</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01E"/>
                </a:solidFill>
                <a:latin typeface="Cambria" pitchFamily="34" charset="0"/>
                <a:ea typeface="Cambria" pitchFamily="34" charset="-122"/>
                <a:cs typeface="Cambria" pitchFamily="34" charset="-120"/>
              </a:rPr>
              <a:t>Пять вкладок — один путь от вопроса к плану</a:t>
            </a:r>
            <a:endParaRPr lang="en-US" sz="2800" dirty="0"/>
          </a:p>
        </p:txBody>
      </p:sp>
      <p:sp>
        <p:nvSpPr>
          <p:cNvPr id="4" name="Text 2"/>
          <p:cNvSpPr txBox="1"/>
          <p:nvPr/>
        </p:nvSpPr>
        <p:spPr>
          <a:xfrm>
            <a:off x="548640" y="6419088"/>
            <a:ext cx="7315200" cy="228600"/>
          </a:xfrm>
          <a:prstGeom prst="rect">
            <a:avLst/>
          </a:prstGeom>
          <a:noFill/>
          <a:ln/>
        </p:spPr>
        <p:txBody>
          <a:bodyPr wrap="square" lIns="0" tIns="0" rIns="0" bIns="0" rtlCol="0" anchor="t"/>
          <a:lstStyle/>
          <a:p>
            <a:pPr indent="0" marL="0">
              <a:buNone/>
            </a:pPr>
            <a:r>
              <a:rPr lang="en-US" sz="900" dirty="0">
                <a:solidFill>
                  <a:srgbClr val="748480"/>
                </a:solidFill>
                <a:latin typeface="Calibri" pitchFamily="34" charset="0"/>
                <a:ea typeface="Calibri" pitchFamily="34" charset="-122"/>
                <a:cs typeface="Calibri" pitchFamily="34" charset="-120"/>
              </a:rPr>
              <a:t>АНО «СДУТ» · листинг комплекса «Бот SDUT63 и мини-приложение»</a:t>
            </a:r>
            <a:endParaRPr lang="en-US" sz="900" dirty="0"/>
          </a:p>
        </p:txBody>
      </p:sp>
      <p:sp>
        <p:nvSpPr>
          <p:cNvPr id="5" name="Text 3"/>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900" dirty="0">
                <a:solidFill>
                  <a:srgbClr val="748480"/>
                </a:solidFill>
                <a:latin typeface="Calibri" pitchFamily="34" charset="0"/>
                <a:ea typeface="Calibri" pitchFamily="34" charset="-122"/>
                <a:cs typeface="Calibri" pitchFamily="34" charset="-120"/>
              </a:rPr>
              <a:t>9 / 22</a:t>
            </a:r>
            <a:endParaRPr lang="en-US" sz="900" dirty="0"/>
          </a:p>
        </p:txBody>
      </p:sp>
      <p:pic>
        <p:nvPicPr>
          <p:cNvPr id="6" name="Image 0" descr="Экран мини-приложения">    </p:cNvPr>
          <p:cNvPicPr>
            <a:picLocks noChangeAspect="1"/>
          </p:cNvPicPr>
          <p:nvPr/>
        </p:nvPicPr>
        <p:blipFill>
          <a:blip r:embed="rId1"/>
          <a:stretch>
            <a:fillRect/>
          </a:stretch>
        </p:blipFill>
        <p:spPr>
          <a:xfrm>
            <a:off x="548640" y="1508760"/>
            <a:ext cx="2139483" cy="4069080"/>
          </a:xfrm>
          <a:prstGeom prst="rect">
            <a:avLst/>
          </a:prstGeom>
        </p:spPr>
      </p:pic>
      <p:sp>
        <p:nvSpPr>
          <p:cNvPr id="7" name="Text 4"/>
          <p:cNvSpPr txBox="1"/>
          <p:nvPr/>
        </p:nvSpPr>
        <p:spPr>
          <a:xfrm>
            <a:off x="548640" y="5650992"/>
            <a:ext cx="2139483" cy="274320"/>
          </a:xfrm>
          <a:prstGeom prst="rect">
            <a:avLst/>
          </a:prstGeom>
          <a:noFill/>
          <a:ln/>
        </p:spPr>
        <p:txBody>
          <a:bodyPr wrap="square" lIns="0" tIns="0" rIns="0" bIns="0" rtlCol="0" anchor="t"/>
          <a:lstStyle/>
          <a:p>
            <a:pPr algn="ctr" indent="0" marL="0">
              <a:buNone/>
            </a:pPr>
            <a:r>
              <a:rPr lang="en-US" sz="1300" b="1" dirty="0">
                <a:solidFill>
                  <a:srgbClr val="14201E"/>
                </a:solidFill>
                <a:latin typeface="Calibri" pitchFamily="34" charset="0"/>
                <a:ea typeface="Calibri" pitchFamily="34" charset="-122"/>
                <a:cs typeface="Calibri" pitchFamily="34" charset="-120"/>
              </a:rPr>
              <a:t>План ухода</a:t>
            </a:r>
            <a:endParaRPr lang="en-US" sz="1300" dirty="0"/>
          </a:p>
        </p:txBody>
      </p:sp>
      <p:pic>
        <p:nvPicPr>
          <p:cNvPr id="8" name="Image 1" descr="Экран мини-приложения">    </p:cNvPr>
          <p:cNvPicPr>
            <a:picLocks noChangeAspect="1"/>
          </p:cNvPicPr>
          <p:nvPr/>
        </p:nvPicPr>
        <p:blipFill>
          <a:blip r:embed="rId2"/>
          <a:stretch>
            <a:fillRect/>
          </a:stretch>
        </p:blipFill>
        <p:spPr>
          <a:xfrm>
            <a:off x="2787373" y="1508760"/>
            <a:ext cx="2139483" cy="4069080"/>
          </a:xfrm>
          <a:prstGeom prst="rect">
            <a:avLst/>
          </a:prstGeom>
        </p:spPr>
      </p:pic>
      <p:sp>
        <p:nvSpPr>
          <p:cNvPr id="9" name="Text 5"/>
          <p:cNvSpPr txBox="1"/>
          <p:nvPr/>
        </p:nvSpPr>
        <p:spPr>
          <a:xfrm>
            <a:off x="2787373" y="5650992"/>
            <a:ext cx="2139483" cy="274320"/>
          </a:xfrm>
          <a:prstGeom prst="rect">
            <a:avLst/>
          </a:prstGeom>
          <a:noFill/>
          <a:ln/>
        </p:spPr>
        <p:txBody>
          <a:bodyPr wrap="square" lIns="0" tIns="0" rIns="0" bIns="0" rtlCol="0" anchor="t"/>
          <a:lstStyle/>
          <a:p>
            <a:pPr algn="ctr" indent="0" marL="0">
              <a:buNone/>
            </a:pPr>
            <a:r>
              <a:rPr lang="en-US" sz="1300" b="1" dirty="0">
                <a:solidFill>
                  <a:srgbClr val="14201E"/>
                </a:solidFill>
                <a:latin typeface="Calibri" pitchFamily="34" charset="0"/>
                <a:ea typeface="Calibri" pitchFamily="34" charset="-122"/>
                <a:cs typeface="Calibri" pitchFamily="34" charset="-120"/>
              </a:rPr>
              <a:t>Часы</a:t>
            </a:r>
            <a:endParaRPr lang="en-US" sz="1300" dirty="0"/>
          </a:p>
        </p:txBody>
      </p:sp>
      <p:pic>
        <p:nvPicPr>
          <p:cNvPr id="10" name="Image 2" descr="Экран мини-приложения">    </p:cNvPr>
          <p:cNvPicPr>
            <a:picLocks noChangeAspect="1"/>
          </p:cNvPicPr>
          <p:nvPr/>
        </p:nvPicPr>
        <p:blipFill>
          <a:blip r:embed="rId3"/>
          <a:stretch>
            <a:fillRect/>
          </a:stretch>
        </p:blipFill>
        <p:spPr>
          <a:xfrm>
            <a:off x="5026106" y="1508760"/>
            <a:ext cx="2139483" cy="4069080"/>
          </a:xfrm>
          <a:prstGeom prst="rect">
            <a:avLst/>
          </a:prstGeom>
        </p:spPr>
      </p:pic>
      <p:sp>
        <p:nvSpPr>
          <p:cNvPr id="11" name="Text 6"/>
          <p:cNvSpPr txBox="1"/>
          <p:nvPr/>
        </p:nvSpPr>
        <p:spPr>
          <a:xfrm>
            <a:off x="5026106" y="5650992"/>
            <a:ext cx="2139483" cy="274320"/>
          </a:xfrm>
          <a:prstGeom prst="rect">
            <a:avLst/>
          </a:prstGeom>
          <a:noFill/>
          <a:ln/>
        </p:spPr>
        <p:txBody>
          <a:bodyPr wrap="square" lIns="0" tIns="0" rIns="0" bIns="0" rtlCol="0" anchor="t"/>
          <a:lstStyle/>
          <a:p>
            <a:pPr algn="ctr" indent="0" marL="0">
              <a:buNone/>
            </a:pPr>
            <a:r>
              <a:rPr lang="en-US" sz="1300" b="1" dirty="0">
                <a:solidFill>
                  <a:srgbClr val="14201E"/>
                </a:solidFill>
                <a:latin typeface="Calibri" pitchFamily="34" charset="0"/>
                <a:ea typeface="Calibri" pitchFamily="34" charset="-122"/>
                <a:cs typeface="Calibri" pitchFamily="34" charset="-120"/>
              </a:rPr>
              <a:t>Стоимость</a:t>
            </a:r>
            <a:endParaRPr lang="en-US" sz="1300" dirty="0"/>
          </a:p>
        </p:txBody>
      </p:sp>
      <p:pic>
        <p:nvPicPr>
          <p:cNvPr id="12" name="Image 3" descr="Экран мини-приложения">    </p:cNvPr>
          <p:cNvPicPr>
            <a:picLocks noChangeAspect="1"/>
          </p:cNvPicPr>
          <p:nvPr/>
        </p:nvPicPr>
        <p:blipFill>
          <a:blip r:embed="rId4"/>
          <a:stretch>
            <a:fillRect/>
          </a:stretch>
        </p:blipFill>
        <p:spPr>
          <a:xfrm>
            <a:off x="7264839" y="1508760"/>
            <a:ext cx="2139483" cy="4069080"/>
          </a:xfrm>
          <a:prstGeom prst="rect">
            <a:avLst/>
          </a:prstGeom>
        </p:spPr>
      </p:pic>
      <p:sp>
        <p:nvSpPr>
          <p:cNvPr id="13" name="Text 7"/>
          <p:cNvSpPr txBox="1"/>
          <p:nvPr/>
        </p:nvSpPr>
        <p:spPr>
          <a:xfrm>
            <a:off x="7264839" y="5650992"/>
            <a:ext cx="2139483" cy="274320"/>
          </a:xfrm>
          <a:prstGeom prst="rect">
            <a:avLst/>
          </a:prstGeom>
          <a:noFill/>
          <a:ln/>
        </p:spPr>
        <p:txBody>
          <a:bodyPr wrap="square" lIns="0" tIns="0" rIns="0" bIns="0" rtlCol="0" anchor="t"/>
          <a:lstStyle/>
          <a:p>
            <a:pPr algn="ctr" indent="0" marL="0">
              <a:buNone/>
            </a:pPr>
            <a:r>
              <a:rPr lang="en-US" sz="1300" b="1" dirty="0">
                <a:solidFill>
                  <a:srgbClr val="14201E"/>
                </a:solidFill>
                <a:latin typeface="Calibri" pitchFamily="34" charset="0"/>
                <a:ea typeface="Calibri" pitchFamily="34" charset="-122"/>
                <a:cs typeface="Calibri" pitchFamily="34" charset="-120"/>
              </a:rPr>
              <a:t>Оборудование</a:t>
            </a:r>
            <a:endParaRPr lang="en-US" sz="1300" dirty="0"/>
          </a:p>
        </p:txBody>
      </p:sp>
      <p:pic>
        <p:nvPicPr>
          <p:cNvPr id="14" name="Image 4" descr="Экран мини-приложения">    </p:cNvPr>
          <p:cNvPicPr>
            <a:picLocks noChangeAspect="1"/>
          </p:cNvPicPr>
          <p:nvPr/>
        </p:nvPicPr>
        <p:blipFill>
          <a:blip r:embed="rId5"/>
          <a:stretch>
            <a:fillRect/>
          </a:stretch>
        </p:blipFill>
        <p:spPr>
          <a:xfrm>
            <a:off x="9503572" y="1508760"/>
            <a:ext cx="2139483" cy="4069080"/>
          </a:xfrm>
          <a:prstGeom prst="rect">
            <a:avLst/>
          </a:prstGeom>
        </p:spPr>
      </p:pic>
      <p:sp>
        <p:nvSpPr>
          <p:cNvPr id="15" name="Text 8"/>
          <p:cNvSpPr txBox="1"/>
          <p:nvPr/>
        </p:nvSpPr>
        <p:spPr>
          <a:xfrm>
            <a:off x="9503572" y="5650992"/>
            <a:ext cx="2139483" cy="274320"/>
          </a:xfrm>
          <a:prstGeom prst="rect">
            <a:avLst/>
          </a:prstGeom>
          <a:noFill/>
          <a:ln/>
        </p:spPr>
        <p:txBody>
          <a:bodyPr wrap="square" lIns="0" tIns="0" rIns="0" bIns="0" rtlCol="0" anchor="t"/>
          <a:lstStyle/>
          <a:p>
            <a:pPr algn="ctr" indent="0" marL="0">
              <a:buNone/>
            </a:pPr>
            <a:r>
              <a:rPr lang="en-US" sz="1300" b="1" dirty="0">
                <a:solidFill>
                  <a:srgbClr val="14201E"/>
                </a:solidFill>
                <a:latin typeface="Calibri" pitchFamily="34" charset="0"/>
                <a:ea typeface="Calibri" pitchFamily="34" charset="-122"/>
                <a:cs typeface="Calibri" pitchFamily="34" charset="-120"/>
              </a:rPr>
              <a:t>Справочник</a:t>
            </a:r>
            <a:endParaRPr lang="en-US" sz="1300" dirty="0"/>
          </a:p>
        </p:txBody>
      </p:sp>
      <p:sp>
        <p:nvSpPr>
          <p:cNvPr id="16" name="Text 9"/>
          <p:cNvSpPr txBox="1"/>
          <p:nvPr/>
        </p:nvSpPr>
        <p:spPr>
          <a:xfrm>
            <a:off x="548640" y="5943600"/>
            <a:ext cx="11091672" cy="411480"/>
          </a:xfrm>
          <a:prstGeom prst="rect">
            <a:avLst/>
          </a:prstGeom>
          <a:noFill/>
          <a:ln/>
        </p:spPr>
        <p:txBody>
          <a:bodyPr wrap="square" lIns="0" tIns="0" rIns="0" bIns="0" rtlCol="0" anchor="t"/>
          <a:lstStyle/>
          <a:p>
            <a:pPr algn="ctr" indent="0" marL="0">
              <a:buNone/>
            </a:pPr>
            <a:r>
              <a:rPr lang="en-US" sz="1200" dirty="0">
                <a:solidFill>
                  <a:srgbClr val="4B5A56"/>
                </a:solidFill>
                <a:latin typeface="Calibri" pitchFamily="34" charset="0"/>
                <a:ea typeface="Calibri" pitchFamily="34" charset="-122"/>
                <a:cs typeface="Calibri" pitchFamily="34" charset="-120"/>
              </a:rPr>
              <a:t>Один HTML‑файл 0,7 МБ: считает в телефоне, без сервера и регистрации; отметки хранятся только в этом телефоне.</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5A55"/>
                </a:solidFill>
                <a:latin typeface="Calibri" pitchFamily="34" charset="0"/>
                <a:ea typeface="Calibri" pitchFamily="34" charset="-122"/>
                <a:cs typeface="Calibri" pitchFamily="34" charset="-120"/>
              </a:rPr>
              <a:t>МИНИ-ПРИЛОЖЕНИЕ · ПЛАН УХОДА</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01E"/>
                </a:solidFill>
                <a:latin typeface="Cambria" pitchFamily="34" charset="0"/>
                <a:ea typeface="Cambria" pitchFamily="34" charset="-122"/>
                <a:cs typeface="Cambria" pitchFamily="34" charset="-120"/>
              </a:rPr>
              <a:t>Вставил ответы бота — дописал только недостающее</a:t>
            </a:r>
            <a:endParaRPr lang="en-US" sz="2800" dirty="0"/>
          </a:p>
        </p:txBody>
      </p:sp>
      <p:sp>
        <p:nvSpPr>
          <p:cNvPr id="4" name="Text 2"/>
          <p:cNvSpPr txBox="1"/>
          <p:nvPr/>
        </p:nvSpPr>
        <p:spPr>
          <a:xfrm>
            <a:off x="548640" y="6419088"/>
            <a:ext cx="7315200" cy="228600"/>
          </a:xfrm>
          <a:prstGeom prst="rect">
            <a:avLst/>
          </a:prstGeom>
          <a:noFill/>
          <a:ln/>
        </p:spPr>
        <p:txBody>
          <a:bodyPr wrap="square" lIns="0" tIns="0" rIns="0" bIns="0" rtlCol="0" anchor="t"/>
          <a:lstStyle/>
          <a:p>
            <a:pPr indent="0" marL="0">
              <a:buNone/>
            </a:pPr>
            <a:r>
              <a:rPr lang="en-US" sz="900" dirty="0">
                <a:solidFill>
                  <a:srgbClr val="748480"/>
                </a:solidFill>
                <a:latin typeface="Calibri" pitchFamily="34" charset="0"/>
                <a:ea typeface="Calibri" pitchFamily="34" charset="-122"/>
                <a:cs typeface="Calibri" pitchFamily="34" charset="-120"/>
              </a:rPr>
              <a:t>АНО «СДУТ» · листинг комплекса «Бот SDUT63 и мини-приложение»</a:t>
            </a:r>
            <a:endParaRPr lang="en-US" sz="900" dirty="0"/>
          </a:p>
        </p:txBody>
      </p:sp>
      <p:sp>
        <p:nvSpPr>
          <p:cNvPr id="5" name="Text 3"/>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900" dirty="0">
                <a:solidFill>
                  <a:srgbClr val="748480"/>
                </a:solidFill>
                <a:latin typeface="Calibri" pitchFamily="34" charset="0"/>
                <a:ea typeface="Calibri" pitchFamily="34" charset="-122"/>
                <a:cs typeface="Calibri" pitchFamily="34" charset="-120"/>
              </a:rPr>
              <a:t>10 / 22</a:t>
            </a:r>
            <a:endParaRPr lang="en-US" sz="900" dirty="0"/>
          </a:p>
        </p:txBody>
      </p:sp>
      <p:pic>
        <p:nvPicPr>
          <p:cNvPr id="6" name="Image 0" descr="Экран мини-приложения">    </p:cNvPr>
          <p:cNvPicPr>
            <a:picLocks noChangeAspect="1"/>
          </p:cNvPicPr>
          <p:nvPr/>
        </p:nvPicPr>
        <p:blipFill>
          <a:blip r:embed="rId1"/>
          <a:stretch>
            <a:fillRect/>
          </a:stretch>
        </p:blipFill>
        <p:spPr>
          <a:xfrm>
            <a:off x="548640" y="1463040"/>
            <a:ext cx="2500070" cy="4754880"/>
          </a:xfrm>
          <a:prstGeom prst="rect">
            <a:avLst/>
          </a:prstGeom>
        </p:spPr>
      </p:pic>
      <p:pic>
        <p:nvPicPr>
          <p:cNvPr id="7" name="Image 1" descr="Экран мини-приложения">    </p:cNvPr>
          <p:cNvPicPr>
            <a:picLocks noChangeAspect="1"/>
          </p:cNvPicPr>
          <p:nvPr/>
        </p:nvPicPr>
        <p:blipFill>
          <a:blip r:embed="rId2"/>
          <a:stretch>
            <a:fillRect/>
          </a:stretch>
        </p:blipFill>
        <p:spPr>
          <a:xfrm>
            <a:off x="3277310" y="1463040"/>
            <a:ext cx="2500070" cy="4754880"/>
          </a:xfrm>
          <a:prstGeom prst="rect">
            <a:avLst/>
          </a:prstGeom>
        </p:spPr>
      </p:pic>
      <p:sp>
        <p:nvSpPr>
          <p:cNvPr id="8" name="Shape 4"/>
          <p:cNvSpPr/>
          <p:nvPr/>
        </p:nvSpPr>
        <p:spPr>
          <a:xfrm>
            <a:off x="6143140" y="1554480"/>
            <a:ext cx="384048" cy="384048"/>
          </a:xfrm>
          <a:prstGeom prst="ellipse">
            <a:avLst/>
          </a:prstGeom>
          <a:solidFill>
            <a:srgbClr val="1B5A55"/>
          </a:solidFill>
          <a:ln w="12700">
            <a:solidFill>
              <a:srgbClr val="1B5A55"/>
            </a:solidFill>
            <a:prstDash val="solid"/>
          </a:ln>
        </p:spPr>
      </p:sp>
      <p:sp>
        <p:nvSpPr>
          <p:cNvPr id="9" name="Text 5"/>
          <p:cNvSpPr txBox="1"/>
          <p:nvPr/>
        </p:nvSpPr>
        <p:spPr>
          <a:xfrm>
            <a:off x="6143140" y="15544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6"/>
          <p:cNvSpPr txBox="1"/>
          <p:nvPr/>
        </p:nvSpPr>
        <p:spPr>
          <a:xfrm>
            <a:off x="6691780" y="1572768"/>
            <a:ext cx="5486400" cy="320040"/>
          </a:xfrm>
          <a:prstGeom prst="rect">
            <a:avLst/>
          </a:prstGeom>
          <a:noFill/>
          <a:ln/>
        </p:spPr>
        <p:txBody>
          <a:bodyPr wrap="square" lIns="0" tIns="0" rIns="0" bIns="0" rtlCol="0" anchor="t"/>
          <a:lstStyle/>
          <a:p>
            <a:pPr indent="0" marL="0">
              <a:buNone/>
            </a:pPr>
            <a:r>
              <a:rPr lang="en-US" sz="1500" b="1" dirty="0">
                <a:solidFill>
                  <a:srgbClr val="14201E"/>
                </a:solidFill>
                <a:latin typeface="Calibri" pitchFamily="34" charset="0"/>
                <a:ea typeface="Calibri" pitchFamily="34" charset="-122"/>
                <a:cs typeface="Calibri" pitchFamily="34" charset="-120"/>
              </a:rPr>
              <a:t>Вставить сообщение бота</a:t>
            </a:r>
            <a:endParaRPr lang="en-US" sz="1500" dirty="0"/>
          </a:p>
        </p:txBody>
      </p:sp>
      <p:sp>
        <p:nvSpPr>
          <p:cNvPr id="11" name="Text 7"/>
          <p:cNvSpPr txBox="1"/>
          <p:nvPr/>
        </p:nvSpPr>
        <p:spPr>
          <a:xfrm>
            <a:off x="6691780" y="1920240"/>
            <a:ext cx="4951275" cy="731520"/>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Разбор идёт в телефоне. После разбора поле сворачивается, а отчёт показывает, что заполнено: план, позиции шкалы, уровень и цена.</a:t>
            </a:r>
            <a:endParaRPr lang="en-US" sz="1250" dirty="0"/>
          </a:p>
        </p:txBody>
      </p:sp>
      <p:sp>
        <p:nvSpPr>
          <p:cNvPr id="12" name="Shape 8"/>
          <p:cNvSpPr/>
          <p:nvPr/>
        </p:nvSpPr>
        <p:spPr>
          <a:xfrm>
            <a:off x="6143140" y="2788920"/>
            <a:ext cx="384048" cy="384048"/>
          </a:xfrm>
          <a:prstGeom prst="ellipse">
            <a:avLst/>
          </a:prstGeom>
          <a:solidFill>
            <a:srgbClr val="1B5A55"/>
          </a:solidFill>
          <a:ln w="12700">
            <a:solidFill>
              <a:srgbClr val="1B5A55"/>
            </a:solidFill>
            <a:prstDash val="solid"/>
          </a:ln>
        </p:spPr>
      </p:sp>
      <p:sp>
        <p:nvSpPr>
          <p:cNvPr id="13" name="Text 9"/>
          <p:cNvSpPr txBox="1"/>
          <p:nvPr/>
        </p:nvSpPr>
        <p:spPr>
          <a:xfrm>
            <a:off x="6143140" y="2788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0"/>
          <p:cNvSpPr txBox="1"/>
          <p:nvPr/>
        </p:nvSpPr>
        <p:spPr>
          <a:xfrm>
            <a:off x="6691780" y="2807208"/>
            <a:ext cx="5486400" cy="320040"/>
          </a:xfrm>
          <a:prstGeom prst="rect">
            <a:avLst/>
          </a:prstGeom>
          <a:noFill/>
          <a:ln/>
        </p:spPr>
        <p:txBody>
          <a:bodyPr wrap="square" lIns="0" tIns="0" rIns="0" bIns="0" rtlCol="0" anchor="t"/>
          <a:lstStyle/>
          <a:p>
            <a:pPr indent="0" marL="0">
              <a:buNone/>
            </a:pPr>
            <a:r>
              <a:rPr lang="en-US" sz="1500" b="1" dirty="0">
                <a:solidFill>
                  <a:srgbClr val="14201E"/>
                </a:solidFill>
                <a:latin typeface="Calibri" pitchFamily="34" charset="0"/>
                <a:ea typeface="Calibri" pitchFamily="34" charset="-122"/>
                <a:cs typeface="Calibri" pitchFamily="34" charset="-120"/>
              </a:rPr>
              <a:t>Ответить на оставшееся</a:t>
            </a:r>
            <a:endParaRPr lang="en-US" sz="1500" dirty="0"/>
          </a:p>
        </p:txBody>
      </p:sp>
      <p:sp>
        <p:nvSpPr>
          <p:cNvPr id="15" name="Text 11"/>
          <p:cNvSpPr txBox="1"/>
          <p:nvPr/>
        </p:nvSpPr>
        <p:spPr>
          <a:xfrm>
            <a:off x="6691780" y="3154680"/>
            <a:ext cx="4951275" cy="731520"/>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Выведенное из анкеты уходит под свёрток «Заполнено по вашей анкете». Открытыми остаются вопросы, которых бот не задаёт: на полной анкете — 1 из 9.</a:t>
            </a:r>
            <a:endParaRPr lang="en-US" sz="1250" dirty="0"/>
          </a:p>
        </p:txBody>
      </p:sp>
      <p:sp>
        <p:nvSpPr>
          <p:cNvPr id="16" name="Text 12"/>
          <p:cNvSpPr txBox="1"/>
          <p:nvPr/>
        </p:nvSpPr>
        <p:spPr>
          <a:xfrm>
            <a:off x="6143140" y="4069080"/>
            <a:ext cx="2651760" cy="640080"/>
          </a:xfrm>
          <a:prstGeom prst="rect">
            <a:avLst/>
          </a:prstGeom>
          <a:noFill/>
          <a:ln/>
        </p:spPr>
        <p:txBody>
          <a:bodyPr wrap="square" lIns="0" tIns="0" rIns="0" bIns="0" rtlCol="0" anchor="t"/>
          <a:lstStyle/>
          <a:p>
            <a:pPr indent="0" marL="0">
              <a:buNone/>
            </a:pPr>
            <a:r>
              <a:rPr lang="en-US" sz="3600" b="1" dirty="0">
                <a:solidFill>
                  <a:srgbClr val="1B5A55"/>
                </a:solidFill>
                <a:latin typeface="Cambria" pitchFamily="34" charset="0"/>
                <a:ea typeface="Cambria" pitchFamily="34" charset="-122"/>
                <a:cs typeface="Cambria" pitchFamily="34" charset="-120"/>
              </a:rPr>
              <a:t>9</a:t>
            </a:r>
            <a:endParaRPr lang="en-US" sz="3600" dirty="0"/>
          </a:p>
        </p:txBody>
      </p:sp>
      <p:sp>
        <p:nvSpPr>
          <p:cNvPr id="17" name="Text 13"/>
          <p:cNvSpPr txBox="1"/>
          <p:nvPr/>
        </p:nvSpPr>
        <p:spPr>
          <a:xfrm>
            <a:off x="6143140" y="4727448"/>
            <a:ext cx="2651760" cy="548640"/>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вопросов о дне</a:t>
            </a:r>
            <a:endParaRPr lang="en-US" sz="1250" dirty="0"/>
          </a:p>
          <a:p>
            <a:pPr indent="0" marL="0">
              <a:buNone/>
            </a:pPr>
            <a:r>
              <a:rPr lang="en-US" sz="1250" dirty="0">
                <a:solidFill>
                  <a:srgbClr val="4B5A56"/>
                </a:solidFill>
                <a:latin typeface="Calibri" pitchFamily="34" charset="0"/>
                <a:ea typeface="Calibri" pitchFamily="34" charset="-122"/>
                <a:cs typeface="Calibri" pitchFamily="34" charset="-120"/>
              </a:rPr>
              <a:t>и доме</a:t>
            </a:r>
            <a:endParaRPr lang="en-US" sz="1250" dirty="0"/>
          </a:p>
        </p:txBody>
      </p:sp>
      <p:sp>
        <p:nvSpPr>
          <p:cNvPr id="18" name="Text 14"/>
          <p:cNvSpPr txBox="1"/>
          <p:nvPr/>
        </p:nvSpPr>
        <p:spPr>
          <a:xfrm>
            <a:off x="8977780" y="4069080"/>
            <a:ext cx="2651760" cy="640080"/>
          </a:xfrm>
          <a:prstGeom prst="rect">
            <a:avLst/>
          </a:prstGeom>
          <a:noFill/>
          <a:ln/>
        </p:spPr>
        <p:txBody>
          <a:bodyPr wrap="square" lIns="0" tIns="0" rIns="0" bIns="0" rtlCol="0" anchor="t"/>
          <a:lstStyle/>
          <a:p>
            <a:pPr indent="0" marL="0">
              <a:buNone/>
            </a:pPr>
            <a:r>
              <a:rPr lang="en-US" sz="3600" b="1" dirty="0">
                <a:solidFill>
                  <a:srgbClr val="1B5A55"/>
                </a:solidFill>
                <a:latin typeface="Cambria" pitchFamily="34" charset="0"/>
                <a:ea typeface="Cambria" pitchFamily="34" charset="-122"/>
                <a:cs typeface="Cambria" pitchFamily="34" charset="-120"/>
              </a:rPr>
              <a:t>5</a:t>
            </a:r>
            <a:endParaRPr lang="en-US" sz="3600" dirty="0"/>
          </a:p>
        </p:txBody>
      </p:sp>
      <p:sp>
        <p:nvSpPr>
          <p:cNvPr id="19" name="Text 15"/>
          <p:cNvSpPr txBox="1"/>
          <p:nvPr/>
        </p:nvSpPr>
        <p:spPr>
          <a:xfrm>
            <a:off x="8977780" y="4727448"/>
            <a:ext cx="2651760" cy="548640"/>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шаблонов</a:t>
            </a:r>
            <a:endParaRPr lang="en-US" sz="1250" dirty="0"/>
          </a:p>
          <a:p>
            <a:pPr indent="0" marL="0">
              <a:buNone/>
            </a:pPr>
            <a:r>
              <a:rPr lang="en-US" sz="1250" dirty="0">
                <a:solidFill>
                  <a:srgbClr val="4B5A56"/>
                </a:solidFill>
                <a:latin typeface="Calibri" pitchFamily="34" charset="0"/>
                <a:ea typeface="Calibri" pitchFamily="34" charset="-122"/>
                <a:cs typeface="Calibri" pitchFamily="34" charset="-120"/>
              </a:rPr>
              <a:t>распорядка</a:t>
            </a:r>
            <a:endParaRPr lang="en-US" sz="1250" dirty="0"/>
          </a:p>
        </p:txBody>
      </p:sp>
      <p:sp>
        <p:nvSpPr>
          <p:cNvPr id="20" name="Text 16"/>
          <p:cNvSpPr txBox="1"/>
          <p:nvPr/>
        </p:nvSpPr>
        <p:spPr>
          <a:xfrm>
            <a:off x="6143140" y="5212080"/>
            <a:ext cx="2651760" cy="640080"/>
          </a:xfrm>
          <a:prstGeom prst="rect">
            <a:avLst/>
          </a:prstGeom>
          <a:noFill/>
          <a:ln/>
        </p:spPr>
        <p:txBody>
          <a:bodyPr wrap="square" lIns="0" tIns="0" rIns="0" bIns="0" rtlCol="0" anchor="t"/>
          <a:lstStyle/>
          <a:p>
            <a:pPr indent="0" marL="0">
              <a:buNone/>
            </a:pPr>
            <a:r>
              <a:rPr lang="en-US" sz="3600" b="1" dirty="0">
                <a:solidFill>
                  <a:srgbClr val="1B5A55"/>
                </a:solidFill>
                <a:latin typeface="Cambria" pitchFamily="34" charset="0"/>
                <a:ea typeface="Cambria" pitchFamily="34" charset="-122"/>
                <a:cs typeface="Cambria" pitchFamily="34" charset="-120"/>
              </a:rPr>
              <a:t>20</a:t>
            </a:r>
            <a:endParaRPr lang="en-US" sz="3600" dirty="0"/>
          </a:p>
        </p:txBody>
      </p:sp>
      <p:sp>
        <p:nvSpPr>
          <p:cNvPr id="21" name="Text 17"/>
          <p:cNvSpPr txBox="1"/>
          <p:nvPr/>
        </p:nvSpPr>
        <p:spPr>
          <a:xfrm>
            <a:off x="6143140" y="5870448"/>
            <a:ext cx="2651760" cy="548640"/>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правил-уточнений</a:t>
            </a:r>
            <a:endParaRPr lang="en-US" sz="1250" dirty="0"/>
          </a:p>
          <a:p>
            <a:pPr indent="0" marL="0">
              <a:buNone/>
            </a:pPr>
            <a:r>
              <a:rPr lang="en-US" sz="1250" dirty="0">
                <a:solidFill>
                  <a:srgbClr val="4B5A56"/>
                </a:solidFill>
                <a:latin typeface="Calibri" pitchFamily="34" charset="0"/>
                <a:ea typeface="Calibri" pitchFamily="34" charset="-122"/>
                <a:cs typeface="Calibri" pitchFamily="34" charset="-120"/>
              </a:rPr>
              <a:t>плана</a:t>
            </a:r>
            <a:endParaRPr lang="en-US" sz="1250" dirty="0"/>
          </a:p>
        </p:txBody>
      </p:sp>
      <p:sp>
        <p:nvSpPr>
          <p:cNvPr id="22" name="Text 18"/>
          <p:cNvSpPr txBox="1"/>
          <p:nvPr/>
        </p:nvSpPr>
        <p:spPr>
          <a:xfrm>
            <a:off x="8977780" y="5212080"/>
            <a:ext cx="2651760" cy="640080"/>
          </a:xfrm>
          <a:prstGeom prst="rect">
            <a:avLst/>
          </a:prstGeom>
          <a:noFill/>
          <a:ln/>
        </p:spPr>
        <p:txBody>
          <a:bodyPr wrap="square" lIns="0" tIns="0" rIns="0" bIns="0" rtlCol="0" anchor="t"/>
          <a:lstStyle/>
          <a:p>
            <a:pPr indent="0" marL="0">
              <a:buNone/>
            </a:pPr>
            <a:r>
              <a:rPr lang="en-US" sz="3600" b="1" dirty="0">
                <a:solidFill>
                  <a:srgbClr val="1B5A55"/>
                </a:solidFill>
                <a:latin typeface="Cambria" pitchFamily="34" charset="0"/>
                <a:ea typeface="Cambria" pitchFamily="34" charset="-122"/>
                <a:cs typeface="Cambria" pitchFamily="34" charset="-120"/>
              </a:rPr>
              <a:t>12</a:t>
            </a:r>
            <a:endParaRPr lang="en-US" sz="3600" dirty="0"/>
          </a:p>
        </p:txBody>
      </p:sp>
      <p:sp>
        <p:nvSpPr>
          <p:cNvPr id="23" name="Text 19"/>
          <p:cNvSpPr txBox="1"/>
          <p:nvPr/>
        </p:nvSpPr>
        <p:spPr>
          <a:xfrm>
            <a:off x="8977780" y="5870448"/>
            <a:ext cx="2651760" cy="548640"/>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уточнений</a:t>
            </a:r>
            <a:endParaRPr lang="en-US" sz="1250" dirty="0"/>
          </a:p>
          <a:p>
            <a:pPr indent="0" marL="0">
              <a:buNone/>
            </a:pPr>
            <a:r>
              <a:rPr lang="en-US" sz="1250" dirty="0">
                <a:solidFill>
                  <a:srgbClr val="4B5A56"/>
                </a:solidFill>
                <a:latin typeface="Calibri" pitchFamily="34" charset="0"/>
                <a:ea typeface="Calibri" pitchFamily="34" charset="-122"/>
                <a:cs typeface="Calibri" pitchFamily="34" charset="-120"/>
              </a:rPr>
              <a:t>по анкете бота</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5A55"/>
                </a:solidFill>
                <a:latin typeface="Calibri" pitchFamily="34" charset="0"/>
                <a:ea typeface="Calibri" pitchFamily="34" charset="-122"/>
                <a:cs typeface="Calibri" pitchFamily="34" charset="-120"/>
              </a:rPr>
              <a:t>КЛЮЧЕВОЙ МЕХАНИЗМ</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01E"/>
                </a:solidFill>
                <a:latin typeface="Cambria" pitchFamily="34" charset="0"/>
                <a:ea typeface="Cambria" pitchFamily="34" charset="-122"/>
                <a:cs typeface="Cambria" pitchFamily="34" charset="-120"/>
              </a:rPr>
              <a:t>Анкета бота сама заполняет шкалу и план</a:t>
            </a:r>
            <a:endParaRPr lang="en-US" sz="2800" dirty="0"/>
          </a:p>
        </p:txBody>
      </p:sp>
      <p:sp>
        <p:nvSpPr>
          <p:cNvPr id="4" name="Text 2"/>
          <p:cNvSpPr txBox="1"/>
          <p:nvPr/>
        </p:nvSpPr>
        <p:spPr>
          <a:xfrm>
            <a:off x="548640" y="6419088"/>
            <a:ext cx="7315200" cy="228600"/>
          </a:xfrm>
          <a:prstGeom prst="rect">
            <a:avLst/>
          </a:prstGeom>
          <a:noFill/>
          <a:ln/>
        </p:spPr>
        <p:txBody>
          <a:bodyPr wrap="square" lIns="0" tIns="0" rIns="0" bIns="0" rtlCol="0" anchor="t"/>
          <a:lstStyle/>
          <a:p>
            <a:pPr indent="0" marL="0">
              <a:buNone/>
            </a:pPr>
            <a:r>
              <a:rPr lang="en-US" sz="900" dirty="0">
                <a:solidFill>
                  <a:srgbClr val="748480"/>
                </a:solidFill>
                <a:latin typeface="Calibri" pitchFamily="34" charset="0"/>
                <a:ea typeface="Calibri" pitchFamily="34" charset="-122"/>
                <a:cs typeface="Calibri" pitchFamily="34" charset="-120"/>
              </a:rPr>
              <a:t>АНО «СДУТ» · листинг комплекса «Бот SDUT63 и мини-приложение»</a:t>
            </a:r>
            <a:endParaRPr lang="en-US" sz="900" dirty="0"/>
          </a:p>
        </p:txBody>
      </p:sp>
      <p:sp>
        <p:nvSpPr>
          <p:cNvPr id="5" name="Text 3"/>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900" dirty="0">
                <a:solidFill>
                  <a:srgbClr val="748480"/>
                </a:solidFill>
                <a:latin typeface="Calibri" pitchFamily="34" charset="0"/>
                <a:ea typeface="Calibri" pitchFamily="34" charset="-122"/>
                <a:cs typeface="Calibri" pitchFamily="34" charset="-120"/>
              </a:rPr>
              <a:t>11 / 22</a:t>
            </a:r>
            <a:endParaRPr lang="en-US" sz="900" dirty="0"/>
          </a:p>
        </p:txBody>
      </p:sp>
      <p:sp>
        <p:nvSpPr>
          <p:cNvPr id="6" name="Shape 4"/>
          <p:cNvSpPr/>
          <p:nvPr/>
        </p:nvSpPr>
        <p:spPr>
          <a:xfrm>
            <a:off x="548640" y="1554480"/>
            <a:ext cx="3017520" cy="4526280"/>
          </a:xfrm>
          <a:prstGeom prst="roundRect">
            <a:avLst>
              <a:gd name="adj" fmla="val 2424"/>
            </a:avLst>
          </a:prstGeom>
          <a:solidFill>
            <a:srgbClr val="F2F5F3"/>
          </a:solidFill>
          <a:ln w="12700">
            <a:solidFill>
              <a:srgbClr val="F2F5F3"/>
            </a:solidFill>
            <a:prstDash val="solid"/>
          </a:ln>
        </p:spPr>
      </p:sp>
      <p:sp>
        <p:nvSpPr>
          <p:cNvPr id="7" name="Text 5"/>
          <p:cNvSpPr txBox="1"/>
          <p:nvPr/>
        </p:nvSpPr>
        <p:spPr>
          <a:xfrm>
            <a:off x="777240" y="1691640"/>
            <a:ext cx="2651760" cy="640080"/>
          </a:xfrm>
          <a:prstGeom prst="rect">
            <a:avLst/>
          </a:prstGeom>
          <a:noFill/>
          <a:ln/>
        </p:spPr>
        <p:txBody>
          <a:bodyPr wrap="square" lIns="0" tIns="0" rIns="0" bIns="0" rtlCol="0" anchor="t"/>
          <a:lstStyle/>
          <a:p>
            <a:pPr indent="0" marL="0">
              <a:buNone/>
            </a:pPr>
            <a:r>
              <a:rPr lang="en-US" sz="3600" b="1" dirty="0">
                <a:solidFill>
                  <a:srgbClr val="1B5A55"/>
                </a:solidFill>
                <a:latin typeface="Cambria" pitchFamily="34" charset="0"/>
                <a:ea typeface="Cambria" pitchFamily="34" charset="-122"/>
                <a:cs typeface="Cambria" pitchFamily="34" charset="-120"/>
              </a:rPr>
              <a:t>13</a:t>
            </a:r>
            <a:endParaRPr lang="en-US" sz="3600" dirty="0"/>
          </a:p>
        </p:txBody>
      </p:sp>
      <p:sp>
        <p:nvSpPr>
          <p:cNvPr id="8" name="Text 6"/>
          <p:cNvSpPr txBox="1"/>
          <p:nvPr/>
        </p:nvSpPr>
        <p:spPr>
          <a:xfrm>
            <a:off x="777240" y="2331720"/>
            <a:ext cx="2651760" cy="320040"/>
          </a:xfrm>
          <a:prstGeom prst="rect">
            <a:avLst/>
          </a:prstGeom>
          <a:noFill/>
          <a:ln/>
        </p:spPr>
        <p:txBody>
          <a:bodyPr wrap="square" lIns="0" tIns="0" rIns="0" bIns="0" rtlCol="0" anchor="t"/>
          <a:lstStyle/>
          <a:p>
            <a:pPr indent="0" marL="0">
              <a:buNone/>
            </a:pPr>
            <a:r>
              <a:rPr lang="en-US" sz="1350" b="1" dirty="0">
                <a:solidFill>
                  <a:srgbClr val="14201E"/>
                </a:solidFill>
                <a:latin typeface="Calibri" pitchFamily="34" charset="0"/>
                <a:ea typeface="Calibri" pitchFamily="34" charset="-122"/>
                <a:cs typeface="Calibri" pitchFamily="34" charset="-120"/>
              </a:rPr>
              <a:t>вопросов анкеты бота</a:t>
            </a:r>
            <a:endParaRPr lang="en-US" sz="1350" dirty="0"/>
          </a:p>
        </p:txBody>
      </p:sp>
      <p:sp>
        <p:nvSpPr>
          <p:cNvPr id="9" name="Text 7"/>
          <p:cNvSpPr txBox="1"/>
          <p:nvPr/>
        </p:nvSpPr>
        <p:spPr>
          <a:xfrm>
            <a:off x="777240" y="2788920"/>
            <a:ext cx="2606040" cy="2377440"/>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передвижение · повороты · еда · питьё · мытьё · туалет · одевание · речь · ориентация · можно ли оставить одного · кто ухаживает · сколько часов · силы ухаживающего</a:t>
            </a:r>
            <a:endParaRPr lang="en-US" sz="1250" dirty="0"/>
          </a:p>
        </p:txBody>
      </p:sp>
      <p:sp>
        <p:nvSpPr>
          <p:cNvPr id="10" name="Shape 8"/>
          <p:cNvSpPr/>
          <p:nvPr/>
        </p:nvSpPr>
        <p:spPr>
          <a:xfrm>
            <a:off x="3566160" y="2743200"/>
            <a:ext cx="685800" cy="914"/>
          </a:xfrm>
          <a:prstGeom prst="line">
            <a:avLst/>
          </a:prstGeom>
          <a:noFill/>
          <a:ln w="19050">
            <a:solidFill>
              <a:srgbClr val="1B5A55"/>
            </a:solidFill>
            <a:prstDash val="solid"/>
            <a:tailEnd type="triangle"/>
          </a:ln>
        </p:spPr>
      </p:sp>
      <p:sp>
        <p:nvSpPr>
          <p:cNvPr id="11" name="Shape 9"/>
          <p:cNvSpPr/>
          <p:nvPr/>
        </p:nvSpPr>
        <p:spPr>
          <a:xfrm>
            <a:off x="3566160" y="4572000"/>
            <a:ext cx="685800" cy="914"/>
          </a:xfrm>
          <a:prstGeom prst="line">
            <a:avLst/>
          </a:prstGeom>
          <a:noFill/>
          <a:ln w="19050">
            <a:solidFill>
              <a:srgbClr val="1B5A55"/>
            </a:solidFill>
            <a:prstDash val="solid"/>
            <a:tailEnd type="triangle"/>
          </a:ln>
        </p:spPr>
      </p:sp>
      <p:sp>
        <p:nvSpPr>
          <p:cNvPr id="12" name="Shape 10"/>
          <p:cNvSpPr/>
          <p:nvPr/>
        </p:nvSpPr>
        <p:spPr>
          <a:xfrm>
            <a:off x="4251960" y="1554480"/>
            <a:ext cx="3520440" cy="2148840"/>
          </a:xfrm>
          <a:prstGeom prst="roundRect">
            <a:avLst>
              <a:gd name="adj" fmla="val 3404"/>
            </a:avLst>
          </a:prstGeom>
          <a:solidFill>
            <a:srgbClr val="FFFFFF"/>
          </a:solidFill>
          <a:ln w="12700">
            <a:solidFill>
              <a:srgbClr val="CBD6D2"/>
            </a:solidFill>
            <a:prstDash val="solid"/>
          </a:ln>
        </p:spPr>
      </p:sp>
      <p:sp>
        <p:nvSpPr>
          <p:cNvPr id="13" name="Text 11"/>
          <p:cNvSpPr txBox="1"/>
          <p:nvPr/>
        </p:nvSpPr>
        <p:spPr>
          <a:xfrm>
            <a:off x="4480560" y="1691640"/>
            <a:ext cx="3108960" cy="548640"/>
          </a:xfrm>
          <a:prstGeom prst="rect">
            <a:avLst/>
          </a:prstGeom>
          <a:noFill/>
          <a:ln/>
        </p:spPr>
        <p:txBody>
          <a:bodyPr wrap="square" lIns="0" tIns="0" rIns="0" bIns="0" rtlCol="0" anchor="t"/>
          <a:lstStyle/>
          <a:p>
            <a:pPr indent="0" marL="0">
              <a:buNone/>
            </a:pPr>
            <a:r>
              <a:rPr lang="en-US" sz="3000" b="1" dirty="0">
                <a:solidFill>
                  <a:srgbClr val="1B5A55"/>
                </a:solidFill>
                <a:latin typeface="Cambria" pitchFamily="34" charset="0"/>
                <a:ea typeface="Cambria" pitchFamily="34" charset="-122"/>
                <a:cs typeface="Cambria" pitchFamily="34" charset="-120"/>
              </a:rPr>
              <a:t>14 из 21</a:t>
            </a:r>
            <a:endParaRPr lang="en-US" sz="3000" dirty="0"/>
          </a:p>
        </p:txBody>
      </p:sp>
      <p:sp>
        <p:nvSpPr>
          <p:cNvPr id="14" name="Text 12"/>
          <p:cNvSpPr txBox="1"/>
          <p:nvPr/>
        </p:nvSpPr>
        <p:spPr>
          <a:xfrm>
            <a:off x="4480560" y="2240280"/>
            <a:ext cx="3108960" cy="594360"/>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позиции оценочной шкалы Приказа № 731; остальные 7 человек отмечает сам</a:t>
            </a:r>
            <a:endParaRPr lang="en-US" sz="1250" dirty="0"/>
          </a:p>
        </p:txBody>
      </p:sp>
      <p:sp>
        <p:nvSpPr>
          <p:cNvPr id="15" name="Text 13"/>
          <p:cNvSpPr txBox="1"/>
          <p:nvPr/>
        </p:nvSpPr>
        <p:spPr>
          <a:xfrm>
            <a:off x="4480560" y="2926080"/>
            <a:ext cx="3108960" cy="640080"/>
          </a:xfrm>
          <a:prstGeom prst="rect">
            <a:avLst/>
          </a:prstGeom>
          <a:noFill/>
          <a:ln/>
        </p:spPr>
        <p:txBody>
          <a:bodyPr wrap="square" lIns="0" tIns="0" rIns="0" bIns="0" rtlCol="0" anchor="t"/>
          <a:lstStyle/>
          <a:p>
            <a:pPr indent="0" marL="0">
              <a:buNone/>
            </a:pPr>
            <a:r>
              <a:rPr lang="en-US" sz="1100" i="1" dirty="0">
                <a:solidFill>
                  <a:srgbClr val="1B5A55"/>
                </a:solidFill>
                <a:latin typeface="Calibri" pitchFamily="34" charset="0"/>
                <a:ea typeface="Calibri" pitchFamily="34" charset="-122"/>
                <a:cs typeface="Calibri" pitchFamily="34" charset="-120"/>
              </a:rPr>
              <a:t>«Не встаёт» → пересаживание, ходьба по дому, выход на улицу: «не может»</a:t>
            </a:r>
            <a:endParaRPr lang="en-US" sz="1100" dirty="0"/>
          </a:p>
        </p:txBody>
      </p:sp>
      <p:sp>
        <p:nvSpPr>
          <p:cNvPr id="16" name="Shape 14"/>
          <p:cNvSpPr/>
          <p:nvPr/>
        </p:nvSpPr>
        <p:spPr>
          <a:xfrm>
            <a:off x="4251960" y="3931920"/>
            <a:ext cx="3520440" cy="2148840"/>
          </a:xfrm>
          <a:prstGeom prst="roundRect">
            <a:avLst>
              <a:gd name="adj" fmla="val 3404"/>
            </a:avLst>
          </a:prstGeom>
          <a:solidFill>
            <a:srgbClr val="FFFFFF"/>
          </a:solidFill>
          <a:ln w="12700">
            <a:solidFill>
              <a:srgbClr val="CBD6D2"/>
            </a:solidFill>
            <a:prstDash val="solid"/>
          </a:ln>
        </p:spPr>
      </p:sp>
      <p:sp>
        <p:nvSpPr>
          <p:cNvPr id="17" name="Text 15"/>
          <p:cNvSpPr txBox="1"/>
          <p:nvPr/>
        </p:nvSpPr>
        <p:spPr>
          <a:xfrm>
            <a:off x="4480560" y="4069080"/>
            <a:ext cx="3108960" cy="548640"/>
          </a:xfrm>
          <a:prstGeom prst="rect">
            <a:avLst/>
          </a:prstGeom>
          <a:noFill/>
          <a:ln/>
        </p:spPr>
        <p:txBody>
          <a:bodyPr wrap="square" lIns="0" tIns="0" rIns="0" bIns="0" rtlCol="0" anchor="t"/>
          <a:lstStyle/>
          <a:p>
            <a:pPr indent="0" marL="0">
              <a:buNone/>
            </a:pPr>
            <a:r>
              <a:rPr lang="en-US" sz="3000" b="1" dirty="0">
                <a:solidFill>
                  <a:srgbClr val="1B5A55"/>
                </a:solidFill>
                <a:latin typeface="Cambria" pitchFamily="34" charset="0"/>
                <a:ea typeface="Cambria" pitchFamily="34" charset="-122"/>
                <a:cs typeface="Cambria" pitchFamily="34" charset="-120"/>
              </a:rPr>
              <a:t>8 из 9</a:t>
            </a:r>
            <a:endParaRPr lang="en-US" sz="3000" dirty="0"/>
          </a:p>
        </p:txBody>
      </p:sp>
      <p:sp>
        <p:nvSpPr>
          <p:cNvPr id="18" name="Text 16"/>
          <p:cNvSpPr txBox="1"/>
          <p:nvPr/>
        </p:nvSpPr>
        <p:spPr>
          <a:xfrm>
            <a:off x="4480560" y="4617720"/>
            <a:ext cx="3108960" cy="594360"/>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вопросов плана ухода — на полной анкете; без них не было бы ни плана, ни цены</a:t>
            </a:r>
            <a:endParaRPr lang="en-US" sz="1250" dirty="0"/>
          </a:p>
        </p:txBody>
      </p:sp>
      <p:sp>
        <p:nvSpPr>
          <p:cNvPr id="19" name="Text 17"/>
          <p:cNvSpPr txBox="1"/>
          <p:nvPr/>
        </p:nvSpPr>
        <p:spPr>
          <a:xfrm>
            <a:off x="4480560" y="5303520"/>
            <a:ext cx="3108960" cy="640080"/>
          </a:xfrm>
          <a:prstGeom prst="rect">
            <a:avLst/>
          </a:prstGeom>
          <a:noFill/>
          <a:ln/>
        </p:spPr>
        <p:txBody>
          <a:bodyPr wrap="square" lIns="0" tIns="0" rIns="0" bIns="0" rtlCol="0" anchor="t"/>
          <a:lstStyle/>
          <a:p>
            <a:pPr indent="0" marL="0">
              <a:buNone/>
            </a:pPr>
            <a:r>
              <a:rPr lang="en-US" sz="1100" i="1" dirty="0">
                <a:solidFill>
                  <a:srgbClr val="1B5A55"/>
                </a:solidFill>
                <a:latin typeface="Calibri" pitchFamily="34" charset="0"/>
                <a:ea typeface="Calibri" pitchFamily="34" charset="-122"/>
                <a:cs typeface="Calibri" pitchFamily="34" charset="-120"/>
              </a:rPr>
              <a:t>«Не встаёт» → день проходит «в кровати» → шаблон «Постельный уход»</a:t>
            </a:r>
            <a:endParaRPr lang="en-US" sz="1100" dirty="0"/>
          </a:p>
        </p:txBody>
      </p:sp>
      <p:sp>
        <p:nvSpPr>
          <p:cNvPr id="20" name="Text 18"/>
          <p:cNvSpPr txBox="1"/>
          <p:nvPr/>
        </p:nvSpPr>
        <p:spPr>
          <a:xfrm>
            <a:off x="8138160" y="1572768"/>
            <a:ext cx="3566160" cy="320040"/>
          </a:xfrm>
          <a:prstGeom prst="rect">
            <a:avLst/>
          </a:prstGeom>
          <a:noFill/>
          <a:ln/>
        </p:spPr>
        <p:txBody>
          <a:bodyPr wrap="square" lIns="0" tIns="0" rIns="0" bIns="0" rtlCol="0" anchor="t"/>
          <a:lstStyle/>
          <a:p>
            <a:pPr indent="0" marL="0">
              <a:buNone/>
            </a:pPr>
            <a:r>
              <a:rPr lang="en-US" sz="1400" b="1" dirty="0">
                <a:solidFill>
                  <a:srgbClr val="1B5A55"/>
                </a:solidFill>
                <a:latin typeface="Calibri" pitchFamily="34" charset="0"/>
                <a:ea typeface="Calibri" pitchFamily="34" charset="-122"/>
                <a:cs typeface="Calibri" pitchFamily="34" charset="-120"/>
              </a:rPr>
              <a:t>Правила вывода</a:t>
            </a:r>
            <a:endParaRPr lang="en-US" sz="1400" dirty="0"/>
          </a:p>
        </p:txBody>
      </p:sp>
      <p:sp>
        <p:nvSpPr>
          <p:cNvPr id="21" name="Text 19"/>
          <p:cNvSpPr txBox="1"/>
          <p:nvPr/>
        </p:nvSpPr>
        <p:spPr>
          <a:xfrm>
            <a:off x="8138160" y="1965960"/>
            <a:ext cx="3611880" cy="4114800"/>
          </a:xfrm>
          <a:prstGeom prst="rect">
            <a:avLst/>
          </a:prstGeom>
          <a:noFill/>
          <a:ln/>
        </p:spPr>
        <p:txBody>
          <a:bodyPr wrap="square" lIns="0" tIns="0" rIns="0" bIns="0" rtlCol="0" anchor="t"/>
          <a:lstStyle/>
          <a:p>
            <a:pPr indent="0" marL="0">
              <a:buNone/>
            </a:pPr>
            <a:r>
              <a:rPr lang="en-US" sz="1250" b="1" dirty="0">
                <a:solidFill>
                  <a:srgbClr val="14201E"/>
                </a:solidFill>
                <a:latin typeface="Calibri" pitchFamily="34" charset="0"/>
                <a:ea typeface="Calibri" pitchFamily="34" charset="-122"/>
                <a:cs typeface="Calibri" pitchFamily="34" charset="-120"/>
              </a:rPr>
              <a:t>При сомнении — вариант полегче. </a:t>
            </a:r>
            <a:pPr indent="0" marL="0">
              <a:spcAft>
                <a:spcPts val="800"/>
              </a:spcAft>
              <a:buNone/>
            </a:pPr>
            <a:r>
              <a:rPr lang="en-US" sz="1250" dirty="0">
                <a:solidFill>
                  <a:srgbClr val="4B5A56"/>
                </a:solidFill>
                <a:latin typeface="Calibri" pitchFamily="34" charset="0"/>
                <a:ea typeface="Calibri" pitchFamily="34" charset="-122"/>
                <a:cs typeface="Calibri" pitchFamily="34" charset="-120"/>
              </a:rPr>
              <a:t>Завысить нуждаемость — пообещать часы, которых не дадут: «моем мы» даёт утреннему туалету «частично», а не «не может».</a:t>
            </a:r>
            <a:endParaRPr lang="en-US" sz="1250" dirty="0"/>
          </a:p>
          <a:p>
            <a:pPr indent="0" marL="0">
              <a:buNone/>
            </a:pPr>
            <a:r>
              <a:rPr lang="en-US" sz="1250" b="1" dirty="0">
                <a:solidFill>
                  <a:srgbClr val="14201E"/>
                </a:solidFill>
                <a:latin typeface="Calibri" pitchFamily="34" charset="0"/>
                <a:ea typeface="Calibri" pitchFamily="34" charset="-122"/>
                <a:cs typeface="Calibri" pitchFamily="34" charset="-120"/>
              </a:rPr>
              <a:t>Своё не перебиваем. </a:t>
            </a:r>
            <a:pPr indent="0" marL="0">
              <a:spcAft>
                <a:spcPts val="800"/>
              </a:spcAft>
              <a:buNone/>
            </a:pPr>
            <a:r>
              <a:rPr lang="en-US" sz="1250" dirty="0">
                <a:solidFill>
                  <a:srgbClr val="4B5A56"/>
                </a:solidFill>
                <a:latin typeface="Calibri" pitchFamily="34" charset="0"/>
                <a:ea typeface="Calibri" pitchFamily="34" charset="-122"/>
                <a:cs typeface="Calibri" pitchFamily="34" charset="-120"/>
              </a:rPr>
              <a:t>Ответ, отмеченный человеком, важнее вывода.</a:t>
            </a:r>
            <a:endParaRPr lang="en-US" sz="1250" dirty="0"/>
          </a:p>
          <a:p>
            <a:pPr indent="0" marL="0">
              <a:buNone/>
            </a:pPr>
            <a:r>
              <a:rPr lang="en-US" sz="1250" b="1" dirty="0">
                <a:solidFill>
                  <a:srgbClr val="14201E"/>
                </a:solidFill>
                <a:latin typeface="Calibri" pitchFamily="34" charset="0"/>
                <a:ea typeface="Calibri" pitchFamily="34" charset="-122"/>
                <a:cs typeface="Calibri" pitchFamily="34" charset="-120"/>
              </a:rPr>
              <a:t>Каждый вывод помечен. </a:t>
            </a:r>
            <a:pPr indent="0" marL="0">
              <a:spcAft>
                <a:spcPts val="800"/>
              </a:spcAft>
              <a:buNone/>
            </a:pPr>
            <a:r>
              <a:rPr lang="en-US" sz="1250" dirty="0">
                <a:solidFill>
                  <a:srgbClr val="4B5A56"/>
                </a:solidFill>
                <a:latin typeface="Calibri" pitchFamily="34" charset="0"/>
                <a:ea typeface="Calibri" pitchFamily="34" charset="-122"/>
                <a:cs typeface="Calibri" pitchFamily="34" charset="-120"/>
              </a:rPr>
              <a:t>Метка «из вашей анкеты» снимается одним нажатием.</a:t>
            </a:r>
            <a:endParaRPr lang="en-US" sz="1250" dirty="0"/>
          </a:p>
          <a:p>
            <a:pPr indent="0" marL="0">
              <a:buNone/>
            </a:pPr>
            <a:r>
              <a:rPr lang="en-US" sz="1250" b="1" dirty="0">
                <a:solidFill>
                  <a:srgbClr val="14201E"/>
                </a:solidFill>
                <a:latin typeface="Calibri" pitchFamily="34" charset="0"/>
                <a:ea typeface="Calibri" pitchFamily="34" charset="-122"/>
                <a:cs typeface="Calibri" pitchFamily="34" charset="-120"/>
              </a:rPr>
              <a:t>Неполная шкала — нижняя граница. </a:t>
            </a:r>
            <a:pPr indent="0" marL="0">
              <a:spcAft>
                <a:spcPts val="800"/>
              </a:spcAft>
              <a:buNone/>
            </a:pPr>
            <a:r>
              <a:rPr lang="en-US" sz="1250" dirty="0">
                <a:solidFill>
                  <a:srgbClr val="4B5A56"/>
                </a:solidFill>
                <a:latin typeface="Calibri" pitchFamily="34" charset="0"/>
                <a:ea typeface="Calibri" pitchFamily="34" charset="-122"/>
                <a:cs typeface="Calibri" pitchFamily="34" charset="-120"/>
              </a:rPr>
              <a:t>Неотмеченная позиция даёт 0 баллов: уровень может только вырасти.</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5A55"/>
                </a:solidFill>
                <a:latin typeface="Calibri" pitchFamily="34" charset="0"/>
                <a:ea typeface="Calibri" pitchFamily="34" charset="-122"/>
                <a:cs typeface="Calibri" pitchFamily="34" charset="-120"/>
              </a:rPr>
              <a:t>МИНИ-ПРИЛОЖЕНИЕ · ЧАСЫ</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01E"/>
                </a:solidFill>
                <a:latin typeface="Cambria" pitchFamily="34" charset="0"/>
                <a:ea typeface="Cambria" pitchFamily="34" charset="-122"/>
                <a:cs typeface="Cambria" pitchFamily="34" charset="-120"/>
              </a:rPr>
              <a:t>Оценочная шкала: 21 позиция, 55 баллов, 3 уровня</a:t>
            </a:r>
            <a:endParaRPr lang="en-US" sz="2800" dirty="0"/>
          </a:p>
        </p:txBody>
      </p:sp>
      <p:sp>
        <p:nvSpPr>
          <p:cNvPr id="4" name="Text 2"/>
          <p:cNvSpPr txBox="1"/>
          <p:nvPr/>
        </p:nvSpPr>
        <p:spPr>
          <a:xfrm>
            <a:off x="548640" y="6419088"/>
            <a:ext cx="7315200" cy="228600"/>
          </a:xfrm>
          <a:prstGeom prst="rect">
            <a:avLst/>
          </a:prstGeom>
          <a:noFill/>
          <a:ln/>
        </p:spPr>
        <p:txBody>
          <a:bodyPr wrap="square" lIns="0" tIns="0" rIns="0" bIns="0" rtlCol="0" anchor="t"/>
          <a:lstStyle/>
          <a:p>
            <a:pPr indent="0" marL="0">
              <a:buNone/>
            </a:pPr>
            <a:r>
              <a:rPr lang="en-US" sz="900" dirty="0">
                <a:solidFill>
                  <a:srgbClr val="748480"/>
                </a:solidFill>
                <a:latin typeface="Calibri" pitchFamily="34" charset="0"/>
                <a:ea typeface="Calibri" pitchFamily="34" charset="-122"/>
                <a:cs typeface="Calibri" pitchFamily="34" charset="-120"/>
              </a:rPr>
              <a:t>АНО «СДУТ» · листинг комплекса «Бот SDUT63 и мини-приложение»</a:t>
            </a:r>
            <a:endParaRPr lang="en-US" sz="900" dirty="0"/>
          </a:p>
        </p:txBody>
      </p:sp>
      <p:sp>
        <p:nvSpPr>
          <p:cNvPr id="5" name="Text 3"/>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900" dirty="0">
                <a:solidFill>
                  <a:srgbClr val="748480"/>
                </a:solidFill>
                <a:latin typeface="Calibri" pitchFamily="34" charset="0"/>
                <a:ea typeface="Calibri" pitchFamily="34" charset="-122"/>
                <a:cs typeface="Calibri" pitchFamily="34" charset="-120"/>
              </a:rPr>
              <a:t>12 / 22</a:t>
            </a:r>
            <a:endParaRPr lang="en-US" sz="900" dirty="0"/>
          </a:p>
        </p:txBody>
      </p:sp>
      <p:pic>
        <p:nvPicPr>
          <p:cNvPr id="6" name="Image 0" descr="Экран мини-приложения">    </p:cNvPr>
          <p:cNvPicPr>
            <a:picLocks noChangeAspect="1"/>
          </p:cNvPicPr>
          <p:nvPr/>
        </p:nvPicPr>
        <p:blipFill>
          <a:blip r:embed="rId1"/>
          <a:stretch>
            <a:fillRect/>
          </a:stretch>
        </p:blipFill>
        <p:spPr>
          <a:xfrm>
            <a:off x="548640" y="1463040"/>
            <a:ext cx="2500070" cy="4754880"/>
          </a:xfrm>
          <a:prstGeom prst="rect">
            <a:avLst/>
          </a:prstGeom>
        </p:spPr>
      </p:pic>
      <p:sp>
        <p:nvSpPr>
          <p:cNvPr id="7" name="Shape 4"/>
          <p:cNvSpPr/>
          <p:nvPr/>
        </p:nvSpPr>
        <p:spPr>
          <a:xfrm>
            <a:off x="3657600" y="2926080"/>
            <a:ext cx="2468880" cy="1234440"/>
          </a:xfrm>
          <a:prstGeom prst="roundRect">
            <a:avLst>
              <a:gd name="adj" fmla="val 4444"/>
            </a:avLst>
          </a:prstGeom>
          <a:solidFill>
            <a:srgbClr val="D6E6E3"/>
          </a:solidFill>
          <a:ln w="12700">
            <a:solidFill>
              <a:srgbClr val="D6E6E3"/>
            </a:solidFill>
            <a:prstDash val="solid"/>
          </a:ln>
        </p:spPr>
      </p:sp>
      <p:sp>
        <p:nvSpPr>
          <p:cNvPr id="8" name="Text 5"/>
          <p:cNvSpPr txBox="1"/>
          <p:nvPr/>
        </p:nvSpPr>
        <p:spPr>
          <a:xfrm>
            <a:off x="3840480" y="3063240"/>
            <a:ext cx="2103120" cy="548640"/>
          </a:xfrm>
          <a:prstGeom prst="rect">
            <a:avLst/>
          </a:prstGeom>
          <a:noFill/>
          <a:ln/>
        </p:spPr>
        <p:txBody>
          <a:bodyPr wrap="square" lIns="0" tIns="0" rIns="0" bIns="0" rtlCol="0" anchor="t"/>
          <a:lstStyle/>
          <a:p>
            <a:pPr indent="0" marL="0">
              <a:buNone/>
            </a:pPr>
            <a:r>
              <a:rPr lang="en-US" sz="2800" b="1" dirty="0">
                <a:solidFill>
                  <a:srgbClr val="1B5A55"/>
                </a:solidFill>
                <a:latin typeface="Cambria" pitchFamily="34" charset="0"/>
                <a:ea typeface="Cambria" pitchFamily="34" charset="-122"/>
                <a:cs typeface="Cambria" pitchFamily="34" charset="-120"/>
              </a:rPr>
              <a:t>11–14</a:t>
            </a:r>
            <a:endParaRPr lang="en-US" sz="2800" dirty="0"/>
          </a:p>
        </p:txBody>
      </p:sp>
      <p:sp>
        <p:nvSpPr>
          <p:cNvPr id="9" name="Text 6"/>
          <p:cNvSpPr txBox="1"/>
          <p:nvPr/>
        </p:nvSpPr>
        <p:spPr>
          <a:xfrm>
            <a:off x="3840480" y="3611880"/>
            <a:ext cx="2103120" cy="274320"/>
          </a:xfrm>
          <a:prstGeom prst="rect">
            <a:avLst/>
          </a:prstGeom>
          <a:noFill/>
          <a:ln/>
        </p:spPr>
        <p:txBody>
          <a:bodyPr wrap="square" lIns="0" tIns="0" rIns="0" bIns="0" rtlCol="0" anchor="t"/>
          <a:lstStyle/>
          <a:p>
            <a:pPr indent="0" marL="0">
              <a:buNone/>
            </a:pPr>
            <a:r>
              <a:rPr lang="en-US" sz="1150" dirty="0">
                <a:solidFill>
                  <a:srgbClr val="1B5A55"/>
                </a:solidFill>
                <a:latin typeface="Calibri" pitchFamily="34" charset="0"/>
                <a:ea typeface="Calibri" pitchFamily="34" charset="-122"/>
                <a:cs typeface="Calibri" pitchFamily="34" charset="-120"/>
              </a:rPr>
              <a:t>часов в неделю</a:t>
            </a:r>
            <a:endParaRPr lang="en-US" sz="1150" dirty="0"/>
          </a:p>
        </p:txBody>
      </p:sp>
      <p:sp>
        <p:nvSpPr>
          <p:cNvPr id="10" name="Text 7"/>
          <p:cNvSpPr txBox="1"/>
          <p:nvPr/>
        </p:nvSpPr>
        <p:spPr>
          <a:xfrm>
            <a:off x="3657600" y="4279392"/>
            <a:ext cx="2468880" cy="292608"/>
          </a:xfrm>
          <a:prstGeom prst="rect">
            <a:avLst/>
          </a:prstGeom>
          <a:noFill/>
          <a:ln/>
        </p:spPr>
        <p:txBody>
          <a:bodyPr wrap="square" lIns="0" tIns="0" rIns="0" bIns="0" rtlCol="0" anchor="t"/>
          <a:lstStyle/>
          <a:p>
            <a:pPr indent="0" marL="0">
              <a:buNone/>
            </a:pPr>
            <a:r>
              <a:rPr lang="en-US" sz="1400" b="1" dirty="0">
                <a:solidFill>
                  <a:srgbClr val="14201E"/>
                </a:solidFill>
                <a:latin typeface="Calibri" pitchFamily="34" charset="0"/>
                <a:ea typeface="Calibri" pitchFamily="34" charset="-122"/>
                <a:cs typeface="Calibri" pitchFamily="34" charset="-120"/>
              </a:rPr>
              <a:t>I уровень</a:t>
            </a:r>
            <a:endParaRPr lang="en-US" sz="1400" dirty="0"/>
          </a:p>
        </p:txBody>
      </p:sp>
      <p:sp>
        <p:nvSpPr>
          <p:cNvPr id="11" name="Text 8"/>
          <p:cNvSpPr txBox="1"/>
          <p:nvPr/>
        </p:nvSpPr>
        <p:spPr>
          <a:xfrm>
            <a:off x="3657600" y="4572000"/>
            <a:ext cx="2468880" cy="274320"/>
          </a:xfrm>
          <a:prstGeom prst="rect">
            <a:avLst/>
          </a:prstGeom>
          <a:noFill/>
          <a:ln/>
        </p:spPr>
        <p:txBody>
          <a:bodyPr wrap="square" lIns="0" tIns="0" rIns="0" bIns="0" rtlCol="0" anchor="t"/>
          <a:lstStyle/>
          <a:p>
            <a:pPr indent="0" marL="0">
              <a:buNone/>
            </a:pPr>
            <a:r>
              <a:rPr lang="en-US" sz="1200" dirty="0">
                <a:solidFill>
                  <a:srgbClr val="4B5A56"/>
                </a:solidFill>
                <a:latin typeface="Calibri" pitchFamily="34" charset="0"/>
                <a:ea typeface="Calibri" pitchFamily="34" charset="-122"/>
                <a:cs typeface="Calibri" pitchFamily="34" charset="-120"/>
              </a:rPr>
              <a:t>15,5–26 баллов</a:t>
            </a:r>
            <a:endParaRPr lang="en-US" sz="1200" dirty="0"/>
          </a:p>
        </p:txBody>
      </p:sp>
      <p:sp>
        <p:nvSpPr>
          <p:cNvPr id="12" name="Shape 9"/>
          <p:cNvSpPr/>
          <p:nvPr/>
        </p:nvSpPr>
        <p:spPr>
          <a:xfrm>
            <a:off x="6355080" y="2240280"/>
            <a:ext cx="2468880" cy="1920240"/>
          </a:xfrm>
          <a:prstGeom prst="roundRect">
            <a:avLst>
              <a:gd name="adj" fmla="val 2857"/>
            </a:avLst>
          </a:prstGeom>
          <a:solidFill>
            <a:srgbClr val="A9CBC4"/>
          </a:solidFill>
          <a:ln w="12700">
            <a:solidFill>
              <a:srgbClr val="A9CBC4"/>
            </a:solidFill>
            <a:prstDash val="solid"/>
          </a:ln>
        </p:spPr>
      </p:sp>
      <p:sp>
        <p:nvSpPr>
          <p:cNvPr id="13" name="Text 10"/>
          <p:cNvSpPr txBox="1"/>
          <p:nvPr/>
        </p:nvSpPr>
        <p:spPr>
          <a:xfrm>
            <a:off x="6537960" y="2377440"/>
            <a:ext cx="2103120" cy="548640"/>
          </a:xfrm>
          <a:prstGeom prst="rect">
            <a:avLst/>
          </a:prstGeom>
          <a:noFill/>
          <a:ln/>
        </p:spPr>
        <p:txBody>
          <a:bodyPr wrap="square" lIns="0" tIns="0" rIns="0" bIns="0" rtlCol="0" anchor="t"/>
          <a:lstStyle/>
          <a:p>
            <a:pPr indent="0" marL="0">
              <a:buNone/>
            </a:pPr>
            <a:r>
              <a:rPr lang="en-US" sz="2800" b="1" dirty="0">
                <a:solidFill>
                  <a:srgbClr val="14201E"/>
                </a:solidFill>
                <a:latin typeface="Cambria" pitchFamily="34" charset="0"/>
                <a:ea typeface="Cambria" pitchFamily="34" charset="-122"/>
                <a:cs typeface="Cambria" pitchFamily="34" charset="-120"/>
              </a:rPr>
              <a:t>18–21</a:t>
            </a:r>
            <a:endParaRPr lang="en-US" sz="2800" dirty="0"/>
          </a:p>
        </p:txBody>
      </p:sp>
      <p:sp>
        <p:nvSpPr>
          <p:cNvPr id="14" name="Text 11"/>
          <p:cNvSpPr txBox="1"/>
          <p:nvPr/>
        </p:nvSpPr>
        <p:spPr>
          <a:xfrm>
            <a:off x="6537960" y="2926080"/>
            <a:ext cx="2103120" cy="274320"/>
          </a:xfrm>
          <a:prstGeom prst="rect">
            <a:avLst/>
          </a:prstGeom>
          <a:noFill/>
          <a:ln/>
        </p:spPr>
        <p:txBody>
          <a:bodyPr wrap="square" lIns="0" tIns="0" rIns="0" bIns="0" rtlCol="0" anchor="t"/>
          <a:lstStyle/>
          <a:p>
            <a:pPr indent="0" marL="0">
              <a:buNone/>
            </a:pPr>
            <a:r>
              <a:rPr lang="en-US" sz="1150" dirty="0">
                <a:solidFill>
                  <a:srgbClr val="14201E"/>
                </a:solidFill>
                <a:latin typeface="Calibri" pitchFamily="34" charset="0"/>
                <a:ea typeface="Calibri" pitchFamily="34" charset="-122"/>
                <a:cs typeface="Calibri" pitchFamily="34" charset="-120"/>
              </a:rPr>
              <a:t>часов в неделю</a:t>
            </a:r>
            <a:endParaRPr lang="en-US" sz="1150" dirty="0"/>
          </a:p>
        </p:txBody>
      </p:sp>
      <p:sp>
        <p:nvSpPr>
          <p:cNvPr id="15" name="Text 12"/>
          <p:cNvSpPr txBox="1"/>
          <p:nvPr/>
        </p:nvSpPr>
        <p:spPr>
          <a:xfrm>
            <a:off x="6355080" y="4279392"/>
            <a:ext cx="2468880" cy="292608"/>
          </a:xfrm>
          <a:prstGeom prst="rect">
            <a:avLst/>
          </a:prstGeom>
          <a:noFill/>
          <a:ln/>
        </p:spPr>
        <p:txBody>
          <a:bodyPr wrap="square" lIns="0" tIns="0" rIns="0" bIns="0" rtlCol="0" anchor="t"/>
          <a:lstStyle/>
          <a:p>
            <a:pPr indent="0" marL="0">
              <a:buNone/>
            </a:pPr>
            <a:r>
              <a:rPr lang="en-US" sz="1400" b="1" dirty="0">
                <a:solidFill>
                  <a:srgbClr val="14201E"/>
                </a:solidFill>
                <a:latin typeface="Calibri" pitchFamily="34" charset="0"/>
                <a:ea typeface="Calibri" pitchFamily="34" charset="-122"/>
                <a:cs typeface="Calibri" pitchFamily="34" charset="-120"/>
              </a:rPr>
              <a:t>II уровень</a:t>
            </a:r>
            <a:endParaRPr lang="en-US" sz="1400" dirty="0"/>
          </a:p>
        </p:txBody>
      </p:sp>
      <p:sp>
        <p:nvSpPr>
          <p:cNvPr id="16" name="Text 13"/>
          <p:cNvSpPr txBox="1"/>
          <p:nvPr/>
        </p:nvSpPr>
        <p:spPr>
          <a:xfrm>
            <a:off x="6355080" y="4572000"/>
            <a:ext cx="2468880" cy="274320"/>
          </a:xfrm>
          <a:prstGeom prst="rect">
            <a:avLst/>
          </a:prstGeom>
          <a:noFill/>
          <a:ln/>
        </p:spPr>
        <p:txBody>
          <a:bodyPr wrap="square" lIns="0" tIns="0" rIns="0" bIns="0" rtlCol="0" anchor="t"/>
          <a:lstStyle/>
          <a:p>
            <a:pPr indent="0" marL="0">
              <a:buNone/>
            </a:pPr>
            <a:r>
              <a:rPr lang="en-US" sz="1200" dirty="0">
                <a:solidFill>
                  <a:srgbClr val="4B5A56"/>
                </a:solidFill>
                <a:latin typeface="Calibri" pitchFamily="34" charset="0"/>
                <a:ea typeface="Calibri" pitchFamily="34" charset="-122"/>
                <a:cs typeface="Calibri" pitchFamily="34" charset="-120"/>
              </a:rPr>
              <a:t>26,5–35 баллов</a:t>
            </a:r>
            <a:endParaRPr lang="en-US" sz="1200" dirty="0"/>
          </a:p>
        </p:txBody>
      </p:sp>
      <p:sp>
        <p:nvSpPr>
          <p:cNvPr id="17" name="Shape 14"/>
          <p:cNvSpPr/>
          <p:nvPr/>
        </p:nvSpPr>
        <p:spPr>
          <a:xfrm>
            <a:off x="9052560" y="1554480"/>
            <a:ext cx="2468880" cy="2606040"/>
          </a:xfrm>
          <a:prstGeom prst="roundRect">
            <a:avLst>
              <a:gd name="adj" fmla="val 2222"/>
            </a:avLst>
          </a:prstGeom>
          <a:solidFill>
            <a:srgbClr val="1B5A55"/>
          </a:solidFill>
          <a:ln w="12700">
            <a:solidFill>
              <a:srgbClr val="1B5A55"/>
            </a:solidFill>
            <a:prstDash val="solid"/>
          </a:ln>
        </p:spPr>
      </p:sp>
      <p:sp>
        <p:nvSpPr>
          <p:cNvPr id="18" name="Text 15"/>
          <p:cNvSpPr txBox="1"/>
          <p:nvPr/>
        </p:nvSpPr>
        <p:spPr>
          <a:xfrm>
            <a:off x="9235440" y="1691640"/>
            <a:ext cx="2103120" cy="5486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25–28</a:t>
            </a:r>
            <a:endParaRPr lang="en-US" sz="2800" dirty="0"/>
          </a:p>
        </p:txBody>
      </p:sp>
      <p:sp>
        <p:nvSpPr>
          <p:cNvPr id="19" name="Text 16"/>
          <p:cNvSpPr txBox="1"/>
          <p:nvPr/>
        </p:nvSpPr>
        <p:spPr>
          <a:xfrm>
            <a:off x="9235440" y="2240280"/>
            <a:ext cx="2103120" cy="2743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часов в неделю</a:t>
            </a:r>
            <a:endParaRPr lang="en-US" sz="1150" dirty="0"/>
          </a:p>
        </p:txBody>
      </p:sp>
      <p:sp>
        <p:nvSpPr>
          <p:cNvPr id="20" name="Text 17"/>
          <p:cNvSpPr txBox="1"/>
          <p:nvPr/>
        </p:nvSpPr>
        <p:spPr>
          <a:xfrm>
            <a:off x="9052560" y="4279392"/>
            <a:ext cx="2468880" cy="292608"/>
          </a:xfrm>
          <a:prstGeom prst="rect">
            <a:avLst/>
          </a:prstGeom>
          <a:noFill/>
          <a:ln/>
        </p:spPr>
        <p:txBody>
          <a:bodyPr wrap="square" lIns="0" tIns="0" rIns="0" bIns="0" rtlCol="0" anchor="t"/>
          <a:lstStyle/>
          <a:p>
            <a:pPr indent="0" marL="0">
              <a:buNone/>
            </a:pPr>
            <a:r>
              <a:rPr lang="en-US" sz="1400" b="1" dirty="0">
                <a:solidFill>
                  <a:srgbClr val="14201E"/>
                </a:solidFill>
                <a:latin typeface="Calibri" pitchFamily="34" charset="0"/>
                <a:ea typeface="Calibri" pitchFamily="34" charset="-122"/>
                <a:cs typeface="Calibri" pitchFamily="34" charset="-120"/>
              </a:rPr>
              <a:t>III уровень</a:t>
            </a:r>
            <a:endParaRPr lang="en-US" sz="1400" dirty="0"/>
          </a:p>
        </p:txBody>
      </p:sp>
      <p:sp>
        <p:nvSpPr>
          <p:cNvPr id="21" name="Text 18"/>
          <p:cNvSpPr txBox="1"/>
          <p:nvPr/>
        </p:nvSpPr>
        <p:spPr>
          <a:xfrm>
            <a:off x="9052560" y="4572000"/>
            <a:ext cx="2468880" cy="274320"/>
          </a:xfrm>
          <a:prstGeom prst="rect">
            <a:avLst/>
          </a:prstGeom>
          <a:noFill/>
          <a:ln/>
        </p:spPr>
        <p:txBody>
          <a:bodyPr wrap="square" lIns="0" tIns="0" rIns="0" bIns="0" rtlCol="0" anchor="t"/>
          <a:lstStyle/>
          <a:p>
            <a:pPr indent="0" marL="0">
              <a:buNone/>
            </a:pPr>
            <a:r>
              <a:rPr lang="en-US" sz="1200" dirty="0">
                <a:solidFill>
                  <a:srgbClr val="4B5A56"/>
                </a:solidFill>
                <a:latin typeface="Calibri" pitchFamily="34" charset="0"/>
                <a:ea typeface="Calibri" pitchFamily="34" charset="-122"/>
                <a:cs typeface="Calibri" pitchFamily="34" charset="-120"/>
              </a:rPr>
              <a:t>35,5–55 баллов</a:t>
            </a:r>
            <a:endParaRPr lang="en-US" sz="1200" dirty="0"/>
          </a:p>
        </p:txBody>
      </p:sp>
      <p:sp>
        <p:nvSpPr>
          <p:cNvPr id="22" name="Text 19"/>
          <p:cNvSpPr txBox="1"/>
          <p:nvPr/>
        </p:nvSpPr>
        <p:spPr>
          <a:xfrm>
            <a:off x="3657600" y="5029200"/>
            <a:ext cx="7955280" cy="1143000"/>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По каждой позиции — три градации: сам, с трудом, не может. Пока отмечено не всё, приложение показывает уровень как нижнюю границу («пока не ниже II»), а не прячет его до последней отметки. Результат предварительный: уровень устанавливает эксперт на очной оценке.</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5A55"/>
                </a:solidFill>
                <a:latin typeface="Calibri" pitchFamily="34" charset="0"/>
                <a:ea typeface="Calibri" pitchFamily="34" charset="-122"/>
                <a:cs typeface="Calibri" pitchFamily="34" charset="-120"/>
              </a:rPr>
              <a:t>МИНИ-ПРИЛОЖЕНИЕ · СТОИМОСТЬ</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01E"/>
                </a:solidFill>
                <a:latin typeface="Cambria" pitchFamily="34" charset="0"/>
                <a:ea typeface="Cambria" pitchFamily="34" charset="-122"/>
                <a:cs typeface="Cambria" pitchFamily="34" charset="-120"/>
              </a:rPr>
              <a:t>Цену задаёт рынок, а не себестоимость</a:t>
            </a:r>
            <a:endParaRPr lang="en-US" sz="2800" dirty="0"/>
          </a:p>
        </p:txBody>
      </p:sp>
      <p:sp>
        <p:nvSpPr>
          <p:cNvPr id="4" name="Text 2"/>
          <p:cNvSpPr txBox="1"/>
          <p:nvPr/>
        </p:nvSpPr>
        <p:spPr>
          <a:xfrm>
            <a:off x="548640" y="6419088"/>
            <a:ext cx="7315200" cy="228600"/>
          </a:xfrm>
          <a:prstGeom prst="rect">
            <a:avLst/>
          </a:prstGeom>
          <a:noFill/>
          <a:ln/>
        </p:spPr>
        <p:txBody>
          <a:bodyPr wrap="square" lIns="0" tIns="0" rIns="0" bIns="0" rtlCol="0" anchor="t"/>
          <a:lstStyle/>
          <a:p>
            <a:pPr indent="0" marL="0">
              <a:buNone/>
            </a:pPr>
            <a:r>
              <a:rPr lang="en-US" sz="900" dirty="0">
                <a:solidFill>
                  <a:srgbClr val="748480"/>
                </a:solidFill>
                <a:latin typeface="Calibri" pitchFamily="34" charset="0"/>
                <a:ea typeface="Calibri" pitchFamily="34" charset="-122"/>
                <a:cs typeface="Calibri" pitchFamily="34" charset="-120"/>
              </a:rPr>
              <a:t>АНО «СДУТ» · листинг комплекса «Бот SDUT63 и мини-приложение»</a:t>
            </a:r>
            <a:endParaRPr lang="en-US" sz="900" dirty="0"/>
          </a:p>
        </p:txBody>
      </p:sp>
      <p:sp>
        <p:nvSpPr>
          <p:cNvPr id="5" name="Text 3"/>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900" dirty="0">
                <a:solidFill>
                  <a:srgbClr val="748480"/>
                </a:solidFill>
                <a:latin typeface="Calibri" pitchFamily="34" charset="0"/>
                <a:ea typeface="Calibri" pitchFamily="34" charset="-122"/>
                <a:cs typeface="Calibri" pitchFamily="34" charset="-120"/>
              </a:rPr>
              <a:t>13 / 22</a:t>
            </a:r>
            <a:endParaRPr lang="en-US" sz="900" dirty="0"/>
          </a:p>
        </p:txBody>
      </p:sp>
      <p:graphicFrame>
        <p:nvGraphicFramePr>
          <p:cNvPr id="6" name="Chart 0" descr=""/>
          <p:cNvGraphicFramePr/>
          <p:nvPr/>
        </p:nvGraphicFramePr>
        <p:xfrm>
          <a:off x="548640" y="1463040"/>
          <a:ext cx="5760720" cy="39319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5486400"/>
            <a:ext cx="5760720" cy="777240"/>
          </a:xfrm>
          <a:prstGeom prst="rect">
            <a:avLst/>
          </a:prstGeom>
          <a:noFill/>
          <a:ln/>
        </p:spPr>
        <p:txBody>
          <a:bodyPr wrap="square" lIns="0" tIns="0" rIns="0" bIns="0" rtlCol="0" anchor="t"/>
          <a:lstStyle/>
          <a:p>
            <a:pPr indent="0" marL="0">
              <a:buNone/>
            </a:pPr>
            <a:r>
              <a:rPr lang="en-US" sz="1150" dirty="0">
                <a:solidFill>
                  <a:srgbClr val="4B5A56"/>
                </a:solidFill>
                <a:latin typeface="Calibri" pitchFamily="34" charset="0"/>
                <a:ea typeface="Calibri" pitchFamily="34" charset="-122"/>
                <a:cs typeface="Calibri" pitchFamily="34" charset="-120"/>
              </a:rPr>
              <a:t>Пять типов городов; коэффициент от Санкт-Петербурга, где нашёлся полный прайс. Самопроверка: для Тольятти модель даёт 57 600 ₽ в месяц за сиделку с проживанием, наблюдение — 54 000 ₽; расхождение 7 %.</a:t>
            </a:r>
            <a:endParaRPr lang="en-US" sz="1150" dirty="0"/>
          </a:p>
        </p:txBody>
      </p:sp>
      <p:sp>
        <p:nvSpPr>
          <p:cNvPr id="8" name="Text 5"/>
          <p:cNvSpPr txBox="1"/>
          <p:nvPr/>
        </p:nvSpPr>
        <p:spPr>
          <a:xfrm>
            <a:off x="6720840" y="1481328"/>
            <a:ext cx="4846320" cy="320040"/>
          </a:xfrm>
          <a:prstGeom prst="rect">
            <a:avLst/>
          </a:prstGeom>
          <a:noFill/>
          <a:ln/>
        </p:spPr>
        <p:txBody>
          <a:bodyPr wrap="square" lIns="0" tIns="0" rIns="0" bIns="0" rtlCol="0" anchor="t"/>
          <a:lstStyle/>
          <a:p>
            <a:pPr indent="0" marL="0">
              <a:buNone/>
            </a:pPr>
            <a:r>
              <a:rPr lang="en-US" sz="1400" b="1" dirty="0">
                <a:solidFill>
                  <a:srgbClr val="1B5A55"/>
                </a:solidFill>
                <a:latin typeface="Calibri" pitchFamily="34" charset="0"/>
                <a:ea typeface="Calibri" pitchFamily="34" charset="-122"/>
                <a:cs typeface="Calibri" pitchFamily="34" charset="-120"/>
              </a:rPr>
              <a:t>Прайс службы с 01.10.2026</a:t>
            </a:r>
            <a:endParaRPr lang="en-US" sz="1400" dirty="0"/>
          </a:p>
        </p:txBody>
      </p:sp>
      <p:sp>
        <p:nvSpPr>
          <p:cNvPr id="9" name="Shape 6"/>
          <p:cNvSpPr/>
          <p:nvPr/>
        </p:nvSpPr>
        <p:spPr>
          <a:xfrm>
            <a:off x="6720840" y="2377440"/>
            <a:ext cx="4919472" cy="0"/>
          </a:xfrm>
          <a:prstGeom prst="line">
            <a:avLst/>
          </a:prstGeom>
          <a:noFill/>
          <a:ln w="9525">
            <a:solidFill>
              <a:srgbClr val="E4EAE7"/>
            </a:solidFill>
            <a:prstDash val="solid"/>
          </a:ln>
        </p:spPr>
      </p:sp>
      <p:sp>
        <p:nvSpPr>
          <p:cNvPr id="10" name="Text 7"/>
          <p:cNvSpPr txBox="1"/>
          <p:nvPr/>
        </p:nvSpPr>
        <p:spPr>
          <a:xfrm>
            <a:off x="6720840" y="1947672"/>
            <a:ext cx="2103120" cy="365760"/>
          </a:xfrm>
          <a:prstGeom prst="rect">
            <a:avLst/>
          </a:prstGeom>
          <a:noFill/>
          <a:ln/>
        </p:spPr>
        <p:txBody>
          <a:bodyPr wrap="square" lIns="0" tIns="0" rIns="0" bIns="0" rtlCol="0" anchor="t"/>
          <a:lstStyle/>
          <a:p>
            <a:pPr indent="0" marL="0">
              <a:buNone/>
            </a:pPr>
            <a:r>
              <a:rPr lang="en-US" sz="1300" dirty="0">
                <a:solidFill>
                  <a:srgbClr val="14201E"/>
                </a:solidFill>
                <a:latin typeface="Calibri" pitchFamily="34" charset="0"/>
                <a:ea typeface="Calibri" pitchFamily="34" charset="-122"/>
                <a:cs typeface="Calibri" pitchFamily="34" charset="-120"/>
              </a:rPr>
              <a:t>Визит 2 часа</a:t>
            </a:r>
            <a:endParaRPr lang="en-US" sz="1300" dirty="0"/>
          </a:p>
        </p:txBody>
      </p:sp>
      <p:sp>
        <p:nvSpPr>
          <p:cNvPr id="11" name="Text 8"/>
          <p:cNvSpPr txBox="1"/>
          <p:nvPr/>
        </p:nvSpPr>
        <p:spPr>
          <a:xfrm>
            <a:off x="8823960" y="1965960"/>
            <a:ext cx="1645920" cy="365760"/>
          </a:xfrm>
          <a:prstGeom prst="rect">
            <a:avLst/>
          </a:prstGeom>
          <a:noFill/>
          <a:ln/>
        </p:spPr>
        <p:txBody>
          <a:bodyPr wrap="square" lIns="0" tIns="0" rIns="0" bIns="0" rtlCol="0" anchor="t"/>
          <a:lstStyle/>
          <a:p>
            <a:pPr indent="0" marL="0">
              <a:buNone/>
            </a:pPr>
            <a:r>
              <a:rPr lang="en-US" sz="1050" dirty="0">
                <a:solidFill>
                  <a:srgbClr val="748480"/>
                </a:solidFill>
                <a:latin typeface="Calibri" pitchFamily="34" charset="0"/>
                <a:ea typeface="Calibri" pitchFamily="34" charset="-122"/>
                <a:cs typeface="Calibri" pitchFamily="34" charset="-120"/>
              </a:rPr>
              <a:t>350 ₽ за час</a:t>
            </a:r>
            <a:endParaRPr lang="en-US" sz="1050" dirty="0"/>
          </a:p>
        </p:txBody>
      </p:sp>
      <p:sp>
        <p:nvSpPr>
          <p:cNvPr id="12" name="Text 9"/>
          <p:cNvSpPr txBox="1"/>
          <p:nvPr/>
        </p:nvSpPr>
        <p:spPr>
          <a:xfrm>
            <a:off x="10469880" y="1920240"/>
            <a:ext cx="1170432" cy="365760"/>
          </a:xfrm>
          <a:prstGeom prst="rect">
            <a:avLst/>
          </a:prstGeom>
          <a:noFill/>
          <a:ln/>
        </p:spPr>
        <p:txBody>
          <a:bodyPr wrap="square" lIns="0" tIns="0" rIns="0" bIns="0" rtlCol="0" anchor="t"/>
          <a:lstStyle/>
          <a:p>
            <a:pPr algn="r" indent="0" marL="0">
              <a:buNone/>
            </a:pPr>
            <a:r>
              <a:rPr lang="en-US" sz="1500" b="1" dirty="0">
                <a:solidFill>
                  <a:srgbClr val="14201E"/>
                </a:solidFill>
                <a:latin typeface="Calibri" pitchFamily="34" charset="0"/>
                <a:ea typeface="Calibri" pitchFamily="34" charset="-122"/>
                <a:cs typeface="Calibri" pitchFamily="34" charset="-120"/>
              </a:rPr>
              <a:t>700 ₽</a:t>
            </a:r>
            <a:endParaRPr lang="en-US" sz="1500" dirty="0"/>
          </a:p>
        </p:txBody>
      </p:sp>
      <p:sp>
        <p:nvSpPr>
          <p:cNvPr id="13" name="Shape 10"/>
          <p:cNvSpPr/>
          <p:nvPr/>
        </p:nvSpPr>
        <p:spPr>
          <a:xfrm>
            <a:off x="6720840" y="2926080"/>
            <a:ext cx="4919472" cy="0"/>
          </a:xfrm>
          <a:prstGeom prst="line">
            <a:avLst/>
          </a:prstGeom>
          <a:noFill/>
          <a:ln w="9525">
            <a:solidFill>
              <a:srgbClr val="E4EAE7"/>
            </a:solidFill>
            <a:prstDash val="solid"/>
          </a:ln>
        </p:spPr>
      </p:sp>
      <p:sp>
        <p:nvSpPr>
          <p:cNvPr id="14" name="Text 11"/>
          <p:cNvSpPr txBox="1"/>
          <p:nvPr/>
        </p:nvSpPr>
        <p:spPr>
          <a:xfrm>
            <a:off x="6720840" y="2496312"/>
            <a:ext cx="2103120" cy="365760"/>
          </a:xfrm>
          <a:prstGeom prst="rect">
            <a:avLst/>
          </a:prstGeom>
          <a:noFill/>
          <a:ln/>
        </p:spPr>
        <p:txBody>
          <a:bodyPr wrap="square" lIns="0" tIns="0" rIns="0" bIns="0" rtlCol="0" anchor="t"/>
          <a:lstStyle/>
          <a:p>
            <a:pPr indent="0" marL="0">
              <a:buNone/>
            </a:pPr>
            <a:r>
              <a:rPr lang="en-US" sz="1300" dirty="0">
                <a:solidFill>
                  <a:srgbClr val="14201E"/>
                </a:solidFill>
                <a:latin typeface="Calibri" pitchFamily="34" charset="0"/>
                <a:ea typeface="Calibri" pitchFamily="34" charset="-122"/>
                <a:cs typeface="Calibri" pitchFamily="34" charset="-120"/>
              </a:rPr>
              <a:t>Смена 8 часов</a:t>
            </a:r>
            <a:endParaRPr lang="en-US" sz="1300" dirty="0"/>
          </a:p>
        </p:txBody>
      </p:sp>
      <p:sp>
        <p:nvSpPr>
          <p:cNvPr id="15" name="Text 12"/>
          <p:cNvSpPr txBox="1"/>
          <p:nvPr/>
        </p:nvSpPr>
        <p:spPr>
          <a:xfrm>
            <a:off x="8823960" y="2514600"/>
            <a:ext cx="1645920" cy="365760"/>
          </a:xfrm>
          <a:prstGeom prst="rect">
            <a:avLst/>
          </a:prstGeom>
          <a:noFill/>
          <a:ln/>
        </p:spPr>
        <p:txBody>
          <a:bodyPr wrap="square" lIns="0" tIns="0" rIns="0" bIns="0" rtlCol="0" anchor="t"/>
          <a:lstStyle/>
          <a:p>
            <a:pPr indent="0" marL="0">
              <a:buNone/>
            </a:pPr>
            <a:r>
              <a:rPr lang="en-US" sz="1050" dirty="0">
                <a:solidFill>
                  <a:srgbClr val="748480"/>
                </a:solidFill>
                <a:latin typeface="Calibri" pitchFamily="34" charset="0"/>
                <a:ea typeface="Calibri" pitchFamily="34" charset="-122"/>
                <a:cs typeface="Calibri" pitchFamily="34" charset="-120"/>
              </a:rPr>
              <a:t>275 ₽ за час</a:t>
            </a:r>
            <a:endParaRPr lang="en-US" sz="1050" dirty="0"/>
          </a:p>
        </p:txBody>
      </p:sp>
      <p:sp>
        <p:nvSpPr>
          <p:cNvPr id="16" name="Text 13"/>
          <p:cNvSpPr txBox="1"/>
          <p:nvPr/>
        </p:nvSpPr>
        <p:spPr>
          <a:xfrm>
            <a:off x="10469880" y="2468880"/>
            <a:ext cx="1170432" cy="365760"/>
          </a:xfrm>
          <a:prstGeom prst="rect">
            <a:avLst/>
          </a:prstGeom>
          <a:noFill/>
          <a:ln/>
        </p:spPr>
        <p:txBody>
          <a:bodyPr wrap="square" lIns="0" tIns="0" rIns="0" bIns="0" rtlCol="0" anchor="t"/>
          <a:lstStyle/>
          <a:p>
            <a:pPr algn="r" indent="0" marL="0">
              <a:buNone/>
            </a:pPr>
            <a:r>
              <a:rPr lang="en-US" sz="1500" b="1" dirty="0">
                <a:solidFill>
                  <a:srgbClr val="14201E"/>
                </a:solidFill>
                <a:latin typeface="Calibri" pitchFamily="34" charset="0"/>
                <a:ea typeface="Calibri" pitchFamily="34" charset="-122"/>
                <a:cs typeface="Calibri" pitchFamily="34" charset="-120"/>
              </a:rPr>
              <a:t>2 200 ₽</a:t>
            </a:r>
            <a:endParaRPr lang="en-US" sz="1500" dirty="0"/>
          </a:p>
        </p:txBody>
      </p:sp>
      <p:sp>
        <p:nvSpPr>
          <p:cNvPr id="17" name="Shape 14"/>
          <p:cNvSpPr/>
          <p:nvPr/>
        </p:nvSpPr>
        <p:spPr>
          <a:xfrm>
            <a:off x="6720840" y="3474720"/>
            <a:ext cx="4919472" cy="0"/>
          </a:xfrm>
          <a:prstGeom prst="line">
            <a:avLst/>
          </a:prstGeom>
          <a:noFill/>
          <a:ln w="9525">
            <a:solidFill>
              <a:srgbClr val="E4EAE7"/>
            </a:solidFill>
            <a:prstDash val="solid"/>
          </a:ln>
        </p:spPr>
      </p:sp>
      <p:sp>
        <p:nvSpPr>
          <p:cNvPr id="18" name="Text 15"/>
          <p:cNvSpPr txBox="1"/>
          <p:nvPr/>
        </p:nvSpPr>
        <p:spPr>
          <a:xfrm>
            <a:off x="6720840" y="3044952"/>
            <a:ext cx="2103120" cy="365760"/>
          </a:xfrm>
          <a:prstGeom prst="rect">
            <a:avLst/>
          </a:prstGeom>
          <a:noFill/>
          <a:ln/>
        </p:spPr>
        <p:txBody>
          <a:bodyPr wrap="square" lIns="0" tIns="0" rIns="0" bIns="0" rtlCol="0" anchor="t"/>
          <a:lstStyle/>
          <a:p>
            <a:pPr indent="0" marL="0">
              <a:buNone/>
            </a:pPr>
            <a:r>
              <a:rPr lang="en-US" sz="1300" dirty="0">
                <a:solidFill>
                  <a:srgbClr val="14201E"/>
                </a:solidFill>
                <a:latin typeface="Calibri" pitchFamily="34" charset="0"/>
                <a:ea typeface="Calibri" pitchFamily="34" charset="-122"/>
                <a:cs typeface="Calibri" pitchFamily="34" charset="-120"/>
              </a:rPr>
              <a:t>Пакет I уровня</a:t>
            </a:r>
            <a:endParaRPr lang="en-US" sz="1300" dirty="0"/>
          </a:p>
        </p:txBody>
      </p:sp>
      <p:sp>
        <p:nvSpPr>
          <p:cNvPr id="19" name="Text 16"/>
          <p:cNvSpPr txBox="1"/>
          <p:nvPr/>
        </p:nvSpPr>
        <p:spPr>
          <a:xfrm>
            <a:off x="8823960" y="3063240"/>
            <a:ext cx="1645920" cy="365760"/>
          </a:xfrm>
          <a:prstGeom prst="rect">
            <a:avLst/>
          </a:prstGeom>
          <a:noFill/>
          <a:ln/>
        </p:spPr>
        <p:txBody>
          <a:bodyPr wrap="square" lIns="0" tIns="0" rIns="0" bIns="0" rtlCol="0" anchor="t"/>
          <a:lstStyle/>
          <a:p>
            <a:pPr indent="0" marL="0">
              <a:buNone/>
            </a:pPr>
            <a:r>
              <a:rPr lang="en-US" sz="1050" dirty="0">
                <a:solidFill>
                  <a:srgbClr val="748480"/>
                </a:solidFill>
                <a:latin typeface="Calibri" pitchFamily="34" charset="0"/>
                <a:ea typeface="Calibri" pitchFamily="34" charset="-122"/>
                <a:cs typeface="Calibri" pitchFamily="34" charset="-120"/>
              </a:rPr>
              <a:t>в месяц · 12 ч в неделю</a:t>
            </a:r>
            <a:endParaRPr lang="en-US" sz="1050" dirty="0"/>
          </a:p>
        </p:txBody>
      </p:sp>
      <p:sp>
        <p:nvSpPr>
          <p:cNvPr id="20" name="Text 17"/>
          <p:cNvSpPr txBox="1"/>
          <p:nvPr/>
        </p:nvSpPr>
        <p:spPr>
          <a:xfrm>
            <a:off x="10469880" y="3017520"/>
            <a:ext cx="1170432" cy="365760"/>
          </a:xfrm>
          <a:prstGeom prst="rect">
            <a:avLst/>
          </a:prstGeom>
          <a:noFill/>
          <a:ln/>
        </p:spPr>
        <p:txBody>
          <a:bodyPr wrap="square" lIns="0" tIns="0" rIns="0" bIns="0" rtlCol="0" anchor="t"/>
          <a:lstStyle/>
          <a:p>
            <a:pPr algn="r" indent="0" marL="0">
              <a:buNone/>
            </a:pPr>
            <a:r>
              <a:rPr lang="en-US" sz="1500" b="1" dirty="0">
                <a:solidFill>
                  <a:srgbClr val="14201E"/>
                </a:solidFill>
                <a:latin typeface="Calibri" pitchFamily="34" charset="0"/>
                <a:ea typeface="Calibri" pitchFamily="34" charset="-122"/>
                <a:cs typeface="Calibri" pitchFamily="34" charset="-120"/>
              </a:rPr>
              <a:t>16 500 ₽</a:t>
            </a:r>
            <a:endParaRPr lang="en-US" sz="1500" dirty="0"/>
          </a:p>
        </p:txBody>
      </p:sp>
      <p:sp>
        <p:nvSpPr>
          <p:cNvPr id="21" name="Shape 18"/>
          <p:cNvSpPr/>
          <p:nvPr/>
        </p:nvSpPr>
        <p:spPr>
          <a:xfrm>
            <a:off x="6720840" y="4023360"/>
            <a:ext cx="4919472" cy="0"/>
          </a:xfrm>
          <a:prstGeom prst="line">
            <a:avLst/>
          </a:prstGeom>
          <a:noFill/>
          <a:ln w="9525">
            <a:solidFill>
              <a:srgbClr val="E4EAE7"/>
            </a:solidFill>
            <a:prstDash val="solid"/>
          </a:ln>
        </p:spPr>
      </p:sp>
      <p:sp>
        <p:nvSpPr>
          <p:cNvPr id="22" name="Text 19"/>
          <p:cNvSpPr txBox="1"/>
          <p:nvPr/>
        </p:nvSpPr>
        <p:spPr>
          <a:xfrm>
            <a:off x="6720840" y="3593592"/>
            <a:ext cx="2103120" cy="365760"/>
          </a:xfrm>
          <a:prstGeom prst="rect">
            <a:avLst/>
          </a:prstGeom>
          <a:noFill/>
          <a:ln/>
        </p:spPr>
        <p:txBody>
          <a:bodyPr wrap="square" lIns="0" tIns="0" rIns="0" bIns="0" rtlCol="0" anchor="t"/>
          <a:lstStyle/>
          <a:p>
            <a:pPr indent="0" marL="0">
              <a:buNone/>
            </a:pPr>
            <a:r>
              <a:rPr lang="en-US" sz="1300" dirty="0">
                <a:solidFill>
                  <a:srgbClr val="14201E"/>
                </a:solidFill>
                <a:latin typeface="Calibri" pitchFamily="34" charset="0"/>
                <a:ea typeface="Calibri" pitchFamily="34" charset="-122"/>
                <a:cs typeface="Calibri" pitchFamily="34" charset="-120"/>
              </a:rPr>
              <a:t>Пакет II уровня</a:t>
            </a:r>
            <a:endParaRPr lang="en-US" sz="1300" dirty="0"/>
          </a:p>
        </p:txBody>
      </p:sp>
      <p:sp>
        <p:nvSpPr>
          <p:cNvPr id="23" name="Text 20"/>
          <p:cNvSpPr txBox="1"/>
          <p:nvPr/>
        </p:nvSpPr>
        <p:spPr>
          <a:xfrm>
            <a:off x="8823960" y="3611880"/>
            <a:ext cx="1645920" cy="365760"/>
          </a:xfrm>
          <a:prstGeom prst="rect">
            <a:avLst/>
          </a:prstGeom>
          <a:noFill/>
          <a:ln/>
        </p:spPr>
        <p:txBody>
          <a:bodyPr wrap="square" lIns="0" tIns="0" rIns="0" bIns="0" rtlCol="0" anchor="t"/>
          <a:lstStyle/>
          <a:p>
            <a:pPr indent="0" marL="0">
              <a:buNone/>
            </a:pPr>
            <a:r>
              <a:rPr lang="en-US" sz="1050" dirty="0">
                <a:solidFill>
                  <a:srgbClr val="748480"/>
                </a:solidFill>
                <a:latin typeface="Calibri" pitchFamily="34" charset="0"/>
                <a:ea typeface="Calibri" pitchFamily="34" charset="-122"/>
                <a:cs typeface="Calibri" pitchFamily="34" charset="-120"/>
              </a:rPr>
              <a:t>в месяц · 20 ч в неделю</a:t>
            </a:r>
            <a:endParaRPr lang="en-US" sz="1050" dirty="0"/>
          </a:p>
        </p:txBody>
      </p:sp>
      <p:sp>
        <p:nvSpPr>
          <p:cNvPr id="24" name="Text 21"/>
          <p:cNvSpPr txBox="1"/>
          <p:nvPr/>
        </p:nvSpPr>
        <p:spPr>
          <a:xfrm>
            <a:off x="10469880" y="3566160"/>
            <a:ext cx="1170432" cy="365760"/>
          </a:xfrm>
          <a:prstGeom prst="rect">
            <a:avLst/>
          </a:prstGeom>
          <a:noFill/>
          <a:ln/>
        </p:spPr>
        <p:txBody>
          <a:bodyPr wrap="square" lIns="0" tIns="0" rIns="0" bIns="0" rtlCol="0" anchor="t"/>
          <a:lstStyle/>
          <a:p>
            <a:pPr algn="r" indent="0" marL="0">
              <a:buNone/>
            </a:pPr>
            <a:r>
              <a:rPr lang="en-US" sz="1500" b="1" dirty="0">
                <a:solidFill>
                  <a:srgbClr val="14201E"/>
                </a:solidFill>
                <a:latin typeface="Calibri" pitchFamily="34" charset="0"/>
                <a:ea typeface="Calibri" pitchFamily="34" charset="-122"/>
                <a:cs typeface="Calibri" pitchFamily="34" charset="-120"/>
              </a:rPr>
              <a:t>25 100 ₽</a:t>
            </a:r>
            <a:endParaRPr lang="en-US" sz="1500" dirty="0"/>
          </a:p>
        </p:txBody>
      </p:sp>
      <p:sp>
        <p:nvSpPr>
          <p:cNvPr id="25" name="Shape 22"/>
          <p:cNvSpPr/>
          <p:nvPr/>
        </p:nvSpPr>
        <p:spPr>
          <a:xfrm>
            <a:off x="6720840" y="4572000"/>
            <a:ext cx="4919472" cy="0"/>
          </a:xfrm>
          <a:prstGeom prst="line">
            <a:avLst/>
          </a:prstGeom>
          <a:noFill/>
          <a:ln w="9525">
            <a:solidFill>
              <a:srgbClr val="E4EAE7"/>
            </a:solidFill>
            <a:prstDash val="solid"/>
          </a:ln>
        </p:spPr>
      </p:sp>
      <p:sp>
        <p:nvSpPr>
          <p:cNvPr id="26" name="Text 23"/>
          <p:cNvSpPr txBox="1"/>
          <p:nvPr/>
        </p:nvSpPr>
        <p:spPr>
          <a:xfrm>
            <a:off x="6720840" y="4142232"/>
            <a:ext cx="2103120" cy="365760"/>
          </a:xfrm>
          <a:prstGeom prst="rect">
            <a:avLst/>
          </a:prstGeom>
          <a:noFill/>
          <a:ln/>
        </p:spPr>
        <p:txBody>
          <a:bodyPr wrap="square" lIns="0" tIns="0" rIns="0" bIns="0" rtlCol="0" anchor="t"/>
          <a:lstStyle/>
          <a:p>
            <a:pPr indent="0" marL="0">
              <a:buNone/>
            </a:pPr>
            <a:r>
              <a:rPr lang="en-US" sz="1300" dirty="0">
                <a:solidFill>
                  <a:srgbClr val="14201E"/>
                </a:solidFill>
                <a:latin typeface="Calibri" pitchFamily="34" charset="0"/>
                <a:ea typeface="Calibri" pitchFamily="34" charset="-122"/>
                <a:cs typeface="Calibri" pitchFamily="34" charset="-120"/>
              </a:rPr>
              <a:t>Пакет III уровня</a:t>
            </a:r>
            <a:endParaRPr lang="en-US" sz="1300" dirty="0"/>
          </a:p>
        </p:txBody>
      </p:sp>
      <p:sp>
        <p:nvSpPr>
          <p:cNvPr id="27" name="Text 24"/>
          <p:cNvSpPr txBox="1"/>
          <p:nvPr/>
        </p:nvSpPr>
        <p:spPr>
          <a:xfrm>
            <a:off x="8823960" y="4160520"/>
            <a:ext cx="1645920" cy="365760"/>
          </a:xfrm>
          <a:prstGeom prst="rect">
            <a:avLst/>
          </a:prstGeom>
          <a:noFill/>
          <a:ln/>
        </p:spPr>
        <p:txBody>
          <a:bodyPr wrap="square" lIns="0" tIns="0" rIns="0" bIns="0" rtlCol="0" anchor="t"/>
          <a:lstStyle/>
          <a:p>
            <a:pPr indent="0" marL="0">
              <a:buNone/>
            </a:pPr>
            <a:r>
              <a:rPr lang="en-US" sz="1050" dirty="0">
                <a:solidFill>
                  <a:srgbClr val="748480"/>
                </a:solidFill>
                <a:latin typeface="Calibri" pitchFamily="34" charset="0"/>
                <a:ea typeface="Calibri" pitchFamily="34" charset="-122"/>
                <a:cs typeface="Calibri" pitchFamily="34" charset="-120"/>
              </a:rPr>
              <a:t>в месяц · 26 ч в неделю</a:t>
            </a:r>
            <a:endParaRPr lang="en-US" sz="1050" dirty="0"/>
          </a:p>
        </p:txBody>
      </p:sp>
      <p:sp>
        <p:nvSpPr>
          <p:cNvPr id="28" name="Text 25"/>
          <p:cNvSpPr txBox="1"/>
          <p:nvPr/>
        </p:nvSpPr>
        <p:spPr>
          <a:xfrm>
            <a:off x="10469880" y="4114800"/>
            <a:ext cx="1170432" cy="365760"/>
          </a:xfrm>
          <a:prstGeom prst="rect">
            <a:avLst/>
          </a:prstGeom>
          <a:noFill/>
          <a:ln/>
        </p:spPr>
        <p:txBody>
          <a:bodyPr wrap="square" lIns="0" tIns="0" rIns="0" bIns="0" rtlCol="0" anchor="t"/>
          <a:lstStyle/>
          <a:p>
            <a:pPr algn="r" indent="0" marL="0">
              <a:buNone/>
            </a:pPr>
            <a:r>
              <a:rPr lang="en-US" sz="1500" b="1" dirty="0">
                <a:solidFill>
                  <a:srgbClr val="14201E"/>
                </a:solidFill>
                <a:latin typeface="Calibri" pitchFamily="34" charset="0"/>
                <a:ea typeface="Calibri" pitchFamily="34" charset="-122"/>
                <a:cs typeface="Calibri" pitchFamily="34" charset="-120"/>
              </a:rPr>
              <a:t>30 600 ₽</a:t>
            </a:r>
            <a:endParaRPr lang="en-US" sz="1500" dirty="0"/>
          </a:p>
        </p:txBody>
      </p:sp>
      <p:sp>
        <p:nvSpPr>
          <p:cNvPr id="29" name="Shape 26"/>
          <p:cNvSpPr/>
          <p:nvPr/>
        </p:nvSpPr>
        <p:spPr>
          <a:xfrm>
            <a:off x="6720840" y="5120640"/>
            <a:ext cx="4919472" cy="0"/>
          </a:xfrm>
          <a:prstGeom prst="line">
            <a:avLst/>
          </a:prstGeom>
          <a:noFill/>
          <a:ln w="9525">
            <a:solidFill>
              <a:srgbClr val="E4EAE7"/>
            </a:solidFill>
            <a:prstDash val="solid"/>
          </a:ln>
        </p:spPr>
      </p:sp>
      <p:sp>
        <p:nvSpPr>
          <p:cNvPr id="30" name="Text 27"/>
          <p:cNvSpPr txBox="1"/>
          <p:nvPr/>
        </p:nvSpPr>
        <p:spPr>
          <a:xfrm>
            <a:off x="6720840" y="4690872"/>
            <a:ext cx="2103120" cy="365760"/>
          </a:xfrm>
          <a:prstGeom prst="rect">
            <a:avLst/>
          </a:prstGeom>
          <a:noFill/>
          <a:ln/>
        </p:spPr>
        <p:txBody>
          <a:bodyPr wrap="square" lIns="0" tIns="0" rIns="0" bIns="0" rtlCol="0" anchor="t"/>
          <a:lstStyle/>
          <a:p>
            <a:pPr indent="0" marL="0">
              <a:buNone/>
            </a:pPr>
            <a:r>
              <a:rPr lang="en-US" sz="1300" dirty="0">
                <a:solidFill>
                  <a:srgbClr val="14201E"/>
                </a:solidFill>
                <a:latin typeface="Calibri" pitchFamily="34" charset="0"/>
                <a:ea typeface="Calibri" pitchFamily="34" charset="-122"/>
                <a:cs typeface="Calibri" pitchFamily="34" charset="-120"/>
              </a:rPr>
              <a:t>Круглосуточно</a:t>
            </a:r>
            <a:endParaRPr lang="en-US" sz="1300" dirty="0"/>
          </a:p>
        </p:txBody>
      </p:sp>
      <p:sp>
        <p:nvSpPr>
          <p:cNvPr id="31" name="Text 28"/>
          <p:cNvSpPr txBox="1"/>
          <p:nvPr/>
        </p:nvSpPr>
        <p:spPr>
          <a:xfrm>
            <a:off x="8823960" y="4709160"/>
            <a:ext cx="1645920" cy="365760"/>
          </a:xfrm>
          <a:prstGeom prst="rect">
            <a:avLst/>
          </a:prstGeom>
          <a:noFill/>
          <a:ln/>
        </p:spPr>
        <p:txBody>
          <a:bodyPr wrap="square" lIns="0" tIns="0" rIns="0" bIns="0" rtlCol="0" anchor="t"/>
          <a:lstStyle/>
          <a:p>
            <a:pPr indent="0" marL="0">
              <a:buNone/>
            </a:pPr>
            <a:r>
              <a:rPr lang="en-US" sz="1050" dirty="0">
                <a:solidFill>
                  <a:srgbClr val="748480"/>
                </a:solidFill>
                <a:latin typeface="Calibri" pitchFamily="34" charset="0"/>
                <a:ea typeface="Calibri" pitchFamily="34" charset="-122"/>
                <a:cs typeface="Calibri" pitchFamily="34" charset="-120"/>
              </a:rPr>
              <a:t>сутки, две смены по 12 ч</a:t>
            </a:r>
            <a:endParaRPr lang="en-US" sz="1050" dirty="0"/>
          </a:p>
        </p:txBody>
      </p:sp>
      <p:sp>
        <p:nvSpPr>
          <p:cNvPr id="32" name="Text 29"/>
          <p:cNvSpPr txBox="1"/>
          <p:nvPr/>
        </p:nvSpPr>
        <p:spPr>
          <a:xfrm>
            <a:off x="10469880" y="4663440"/>
            <a:ext cx="1170432" cy="365760"/>
          </a:xfrm>
          <a:prstGeom prst="rect">
            <a:avLst/>
          </a:prstGeom>
          <a:noFill/>
          <a:ln/>
        </p:spPr>
        <p:txBody>
          <a:bodyPr wrap="square" lIns="0" tIns="0" rIns="0" bIns="0" rtlCol="0" anchor="t"/>
          <a:lstStyle/>
          <a:p>
            <a:pPr algn="r" indent="0" marL="0">
              <a:buNone/>
            </a:pPr>
            <a:r>
              <a:rPr lang="en-US" sz="1500" b="1" dirty="0">
                <a:solidFill>
                  <a:srgbClr val="14201E"/>
                </a:solidFill>
                <a:latin typeface="Calibri" pitchFamily="34" charset="0"/>
                <a:ea typeface="Calibri" pitchFamily="34" charset="-122"/>
                <a:cs typeface="Calibri" pitchFamily="34" charset="-120"/>
              </a:rPr>
              <a:t>6 400 ₽</a:t>
            </a:r>
            <a:endParaRPr lang="en-US" sz="1500" dirty="0"/>
          </a:p>
        </p:txBody>
      </p:sp>
      <p:sp>
        <p:nvSpPr>
          <p:cNvPr id="33" name="Text 30"/>
          <p:cNvSpPr txBox="1"/>
          <p:nvPr/>
        </p:nvSpPr>
        <p:spPr>
          <a:xfrm>
            <a:off x="6720840" y="5257800"/>
            <a:ext cx="4919472" cy="1005840"/>
          </a:xfrm>
          <a:prstGeom prst="rect">
            <a:avLst/>
          </a:prstGeom>
          <a:noFill/>
          <a:ln/>
        </p:spPr>
        <p:txBody>
          <a:bodyPr wrap="square" lIns="0" tIns="0" rIns="0" bIns="0" rtlCol="0" anchor="t"/>
          <a:lstStyle/>
          <a:p>
            <a:pPr indent="0" marL="0">
              <a:buNone/>
            </a:pPr>
            <a:r>
              <a:rPr lang="en-US" sz="1150" dirty="0">
                <a:solidFill>
                  <a:srgbClr val="4B5A56"/>
                </a:solidFill>
                <a:latin typeface="Calibri" pitchFamily="34" charset="0"/>
                <a:ea typeface="Calibri" pitchFamily="34" charset="-122"/>
                <a:cs typeface="Calibri" pitchFamily="34" charset="-120"/>
              </a:rPr>
              <a:t>Цена ниже себестоимости: час пакета III обходится службе в 375 ₽, семья платит 271 ₽. Разницу служба добирает из пожертвований и целевых средств. Поправки к цене — 16, каталог — 50 услуг.</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5A55"/>
                </a:solidFill>
                <a:latin typeface="Calibri" pitchFamily="34" charset="0"/>
                <a:ea typeface="Calibri" pitchFamily="34" charset="-122"/>
                <a:cs typeface="Calibri" pitchFamily="34" charset="-120"/>
              </a:rPr>
              <a:t>СТОИМОСТЬ · СОФИНАНСИРОВАНИЕ</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01E"/>
                </a:solidFill>
                <a:latin typeface="Cambria" pitchFamily="34" charset="0"/>
                <a:ea typeface="Cambria" pitchFamily="34" charset="-122"/>
                <a:cs typeface="Cambria" pitchFamily="34" charset="-120"/>
              </a:rPr>
              <a:t>Семья платит цену целиком — это сказано прямо</a:t>
            </a:r>
            <a:endParaRPr lang="en-US" sz="2800" dirty="0"/>
          </a:p>
        </p:txBody>
      </p:sp>
      <p:sp>
        <p:nvSpPr>
          <p:cNvPr id="4" name="Text 2"/>
          <p:cNvSpPr txBox="1"/>
          <p:nvPr/>
        </p:nvSpPr>
        <p:spPr>
          <a:xfrm>
            <a:off x="548640" y="6419088"/>
            <a:ext cx="7315200" cy="228600"/>
          </a:xfrm>
          <a:prstGeom prst="rect">
            <a:avLst/>
          </a:prstGeom>
          <a:noFill/>
          <a:ln/>
        </p:spPr>
        <p:txBody>
          <a:bodyPr wrap="square" lIns="0" tIns="0" rIns="0" bIns="0" rtlCol="0" anchor="t"/>
          <a:lstStyle/>
          <a:p>
            <a:pPr indent="0" marL="0">
              <a:buNone/>
            </a:pPr>
            <a:r>
              <a:rPr lang="en-US" sz="900" dirty="0">
                <a:solidFill>
                  <a:srgbClr val="748480"/>
                </a:solidFill>
                <a:latin typeface="Calibri" pitchFamily="34" charset="0"/>
                <a:ea typeface="Calibri" pitchFamily="34" charset="-122"/>
                <a:cs typeface="Calibri" pitchFamily="34" charset="-120"/>
              </a:rPr>
              <a:t>АНО «СДУТ» · листинг комплекса «Бот SDUT63 и мини-приложение»</a:t>
            </a:r>
            <a:endParaRPr lang="en-US" sz="900" dirty="0"/>
          </a:p>
        </p:txBody>
      </p:sp>
      <p:sp>
        <p:nvSpPr>
          <p:cNvPr id="5" name="Text 3"/>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900" dirty="0">
                <a:solidFill>
                  <a:srgbClr val="748480"/>
                </a:solidFill>
                <a:latin typeface="Calibri" pitchFamily="34" charset="0"/>
                <a:ea typeface="Calibri" pitchFamily="34" charset="-122"/>
                <a:cs typeface="Calibri" pitchFamily="34" charset="-120"/>
              </a:rPr>
              <a:t>14 / 22</a:t>
            </a:r>
            <a:endParaRPr lang="en-US" sz="900" dirty="0"/>
          </a:p>
        </p:txBody>
      </p:sp>
      <p:pic>
        <p:nvPicPr>
          <p:cNvPr id="6" name="Image 0" descr="Экран мини-приложения">    </p:cNvPr>
          <p:cNvPicPr>
            <a:picLocks noChangeAspect="1"/>
          </p:cNvPicPr>
          <p:nvPr/>
        </p:nvPicPr>
        <p:blipFill>
          <a:blip r:embed="rId1"/>
          <a:stretch>
            <a:fillRect/>
          </a:stretch>
        </p:blipFill>
        <p:spPr>
          <a:xfrm>
            <a:off x="548640" y="1463040"/>
            <a:ext cx="2500070" cy="4754880"/>
          </a:xfrm>
          <a:prstGeom prst="rect">
            <a:avLst/>
          </a:prstGeom>
        </p:spPr>
      </p:pic>
      <p:sp>
        <p:nvSpPr>
          <p:cNvPr id="7" name="Shape 4"/>
          <p:cNvSpPr/>
          <p:nvPr/>
        </p:nvSpPr>
        <p:spPr>
          <a:xfrm>
            <a:off x="3657600" y="1481328"/>
            <a:ext cx="7982712" cy="822960"/>
          </a:xfrm>
          <a:prstGeom prst="roundRect">
            <a:avLst>
              <a:gd name="adj" fmla="val 8889"/>
            </a:avLst>
          </a:prstGeom>
          <a:solidFill>
            <a:srgbClr val="FFFFFF"/>
          </a:solidFill>
          <a:ln w="12700">
            <a:solidFill>
              <a:srgbClr val="CBD6D2"/>
            </a:solidFill>
            <a:prstDash val="solid"/>
          </a:ln>
        </p:spPr>
      </p:sp>
      <p:sp>
        <p:nvSpPr>
          <p:cNvPr id="8" name="Shape 5"/>
          <p:cNvSpPr/>
          <p:nvPr/>
        </p:nvSpPr>
        <p:spPr>
          <a:xfrm>
            <a:off x="3840480" y="1746504"/>
            <a:ext cx="1325880" cy="292608"/>
          </a:xfrm>
          <a:prstGeom prst="roundRect">
            <a:avLst>
              <a:gd name="adj" fmla="val 18750"/>
            </a:avLst>
          </a:prstGeom>
          <a:solidFill>
            <a:srgbClr val="F2E8CE"/>
          </a:solidFill>
          <a:ln w="12700">
            <a:solidFill>
              <a:srgbClr val="F2E8CE"/>
            </a:solidFill>
            <a:prstDash val="solid"/>
          </a:ln>
        </p:spPr>
      </p:sp>
      <p:sp>
        <p:nvSpPr>
          <p:cNvPr id="9" name="Text 6"/>
          <p:cNvSpPr txBox="1"/>
          <p:nvPr/>
        </p:nvSpPr>
        <p:spPr>
          <a:xfrm>
            <a:off x="3840480" y="1746504"/>
            <a:ext cx="1325880" cy="292608"/>
          </a:xfrm>
          <a:prstGeom prst="rect">
            <a:avLst/>
          </a:prstGeom>
          <a:noFill/>
          <a:ln/>
        </p:spPr>
        <p:txBody>
          <a:bodyPr wrap="square" lIns="0" tIns="0" rIns="0" bIns="0" rtlCol="0" anchor="ctr"/>
          <a:lstStyle/>
          <a:p>
            <a:pPr algn="ctr" indent="0" marL="0">
              <a:buNone/>
            </a:pPr>
            <a:r>
              <a:rPr lang="en-US" sz="1050" b="1" spc="100" kern="0" dirty="0">
                <a:solidFill>
                  <a:srgbClr val="83600F"/>
                </a:solidFill>
                <a:latin typeface="Calibri" pitchFamily="34" charset="0"/>
                <a:ea typeface="Calibri" pitchFamily="34" charset="-122"/>
                <a:cs typeface="Calibri" pitchFamily="34" charset="-120"/>
              </a:rPr>
              <a:t>В ОЖИДАНИИ</a:t>
            </a:r>
            <a:endParaRPr lang="en-US" sz="1050" dirty="0"/>
          </a:p>
        </p:txBody>
      </p:sp>
      <p:sp>
        <p:nvSpPr>
          <p:cNvPr id="10" name="Text 7"/>
          <p:cNvSpPr txBox="1"/>
          <p:nvPr/>
        </p:nvSpPr>
        <p:spPr>
          <a:xfrm>
            <a:off x="5394960" y="1572768"/>
            <a:ext cx="6035040" cy="274320"/>
          </a:xfrm>
          <a:prstGeom prst="rect">
            <a:avLst/>
          </a:prstGeom>
          <a:noFill/>
          <a:ln/>
        </p:spPr>
        <p:txBody>
          <a:bodyPr wrap="square" lIns="0" tIns="0" rIns="0" bIns="0" rtlCol="0" anchor="t"/>
          <a:lstStyle/>
          <a:p>
            <a:pPr indent="0" marL="0">
              <a:buNone/>
            </a:pPr>
            <a:r>
              <a:rPr lang="en-US" sz="1350" b="1" dirty="0">
                <a:solidFill>
                  <a:srgbClr val="14201E"/>
                </a:solidFill>
                <a:latin typeface="Calibri" pitchFamily="34" charset="0"/>
                <a:ea typeface="Calibri" pitchFamily="34" charset="-122"/>
                <a:cs typeface="Calibri" pitchFamily="34" charset="-120"/>
              </a:rPr>
              <a:t>Система долговременного ухода</a:t>
            </a:r>
            <a:endParaRPr lang="en-US" sz="1350" dirty="0"/>
          </a:p>
        </p:txBody>
      </p:sp>
      <p:sp>
        <p:nvSpPr>
          <p:cNvPr id="11" name="Text 8"/>
          <p:cNvSpPr txBox="1"/>
          <p:nvPr/>
        </p:nvSpPr>
        <p:spPr>
          <a:xfrm>
            <a:off x="5394960" y="1847088"/>
            <a:ext cx="6080760" cy="438912"/>
          </a:xfrm>
          <a:prstGeom prst="rect">
            <a:avLst/>
          </a:prstGeom>
          <a:noFill/>
          <a:ln/>
        </p:spPr>
        <p:txBody>
          <a:bodyPr wrap="square" lIns="0" tIns="0" rIns="0" bIns="0" rtlCol="0" anchor="t"/>
          <a:lstStyle/>
          <a:p>
            <a:pPr indent="0" marL="0">
              <a:buNone/>
            </a:pPr>
            <a:r>
              <a:rPr lang="en-US" sz="1100" dirty="0">
                <a:solidFill>
                  <a:srgbClr val="4B5A56"/>
                </a:solidFill>
                <a:latin typeface="Calibri" pitchFamily="34" charset="0"/>
                <a:ea typeface="Calibri" pitchFamily="34" charset="-122"/>
                <a:cs typeface="Calibri" pitchFamily="34" charset="-120"/>
              </a:rPr>
              <a:t>Пилот в отдельных муниципальных образованиях Самарской области; в Тольятти официального представления пока нет, ожидается с 2027 года. Оценку по шкале служба проводит уже сейчас</a:t>
            </a:r>
            <a:endParaRPr lang="en-US" sz="1100" dirty="0"/>
          </a:p>
        </p:txBody>
      </p:sp>
      <p:sp>
        <p:nvSpPr>
          <p:cNvPr id="12" name="Shape 9"/>
          <p:cNvSpPr/>
          <p:nvPr/>
        </p:nvSpPr>
        <p:spPr>
          <a:xfrm>
            <a:off x="3657600" y="2414016"/>
            <a:ext cx="7982712" cy="822960"/>
          </a:xfrm>
          <a:prstGeom prst="roundRect">
            <a:avLst>
              <a:gd name="adj" fmla="val 8889"/>
            </a:avLst>
          </a:prstGeom>
          <a:solidFill>
            <a:srgbClr val="FFFFFF"/>
          </a:solidFill>
          <a:ln w="12700">
            <a:solidFill>
              <a:srgbClr val="CBD6D2"/>
            </a:solidFill>
            <a:prstDash val="solid"/>
          </a:ln>
        </p:spPr>
      </p:sp>
      <p:sp>
        <p:nvSpPr>
          <p:cNvPr id="13" name="Shape 10"/>
          <p:cNvSpPr/>
          <p:nvPr/>
        </p:nvSpPr>
        <p:spPr>
          <a:xfrm>
            <a:off x="3840480" y="2679192"/>
            <a:ext cx="1325880" cy="292608"/>
          </a:xfrm>
          <a:prstGeom prst="roundRect">
            <a:avLst>
              <a:gd name="adj" fmla="val 18750"/>
            </a:avLst>
          </a:prstGeom>
          <a:solidFill>
            <a:srgbClr val="F2E8CE"/>
          </a:solidFill>
          <a:ln w="12700">
            <a:solidFill>
              <a:srgbClr val="F2E8CE"/>
            </a:solidFill>
            <a:prstDash val="solid"/>
          </a:ln>
        </p:spPr>
      </p:sp>
      <p:sp>
        <p:nvSpPr>
          <p:cNvPr id="14" name="Text 11"/>
          <p:cNvSpPr txBox="1"/>
          <p:nvPr/>
        </p:nvSpPr>
        <p:spPr>
          <a:xfrm>
            <a:off x="3840480" y="2679192"/>
            <a:ext cx="1325880" cy="292608"/>
          </a:xfrm>
          <a:prstGeom prst="rect">
            <a:avLst/>
          </a:prstGeom>
          <a:noFill/>
          <a:ln/>
        </p:spPr>
        <p:txBody>
          <a:bodyPr wrap="square" lIns="0" tIns="0" rIns="0" bIns="0" rtlCol="0" anchor="ctr"/>
          <a:lstStyle/>
          <a:p>
            <a:pPr algn="ctr" indent="0" marL="0">
              <a:buNone/>
            </a:pPr>
            <a:r>
              <a:rPr lang="en-US" sz="1050" b="1" spc="100" kern="0" dirty="0">
                <a:solidFill>
                  <a:srgbClr val="83600F"/>
                </a:solidFill>
                <a:latin typeface="Calibri" pitchFamily="34" charset="0"/>
                <a:ea typeface="Calibri" pitchFamily="34" charset="-122"/>
                <a:cs typeface="Calibri" pitchFamily="34" charset="-120"/>
              </a:rPr>
              <a:t>В ОЖИДАНИИ</a:t>
            </a:r>
            <a:endParaRPr lang="en-US" sz="1050" dirty="0"/>
          </a:p>
        </p:txBody>
      </p:sp>
      <p:sp>
        <p:nvSpPr>
          <p:cNvPr id="15" name="Text 12"/>
          <p:cNvSpPr txBox="1"/>
          <p:nvPr/>
        </p:nvSpPr>
        <p:spPr>
          <a:xfrm>
            <a:off x="5394960" y="2505456"/>
            <a:ext cx="6035040" cy="274320"/>
          </a:xfrm>
          <a:prstGeom prst="rect">
            <a:avLst/>
          </a:prstGeom>
          <a:noFill/>
          <a:ln/>
        </p:spPr>
        <p:txBody>
          <a:bodyPr wrap="square" lIns="0" tIns="0" rIns="0" bIns="0" rtlCol="0" anchor="t"/>
          <a:lstStyle/>
          <a:p>
            <a:pPr indent="0" marL="0">
              <a:buNone/>
            </a:pPr>
            <a:r>
              <a:rPr lang="en-US" sz="1350" b="1" dirty="0">
                <a:solidFill>
                  <a:srgbClr val="14201E"/>
                </a:solidFill>
                <a:latin typeface="Calibri" pitchFamily="34" charset="0"/>
                <a:ea typeface="Calibri" pitchFamily="34" charset="-122"/>
                <a:cs typeface="Calibri" pitchFamily="34" charset="-120"/>
              </a:rPr>
              <a:t>Реестр поставщиков социальных услуг</a:t>
            </a:r>
            <a:endParaRPr lang="en-US" sz="1350" dirty="0"/>
          </a:p>
        </p:txBody>
      </p:sp>
      <p:sp>
        <p:nvSpPr>
          <p:cNvPr id="16" name="Text 13"/>
          <p:cNvSpPr txBox="1"/>
          <p:nvPr/>
        </p:nvSpPr>
        <p:spPr>
          <a:xfrm>
            <a:off x="5394960" y="2779776"/>
            <a:ext cx="6080760" cy="438912"/>
          </a:xfrm>
          <a:prstGeom prst="rect">
            <a:avLst/>
          </a:prstGeom>
          <a:noFill/>
          <a:ln/>
        </p:spPr>
        <p:txBody>
          <a:bodyPr wrap="square" lIns="0" tIns="0" rIns="0" bIns="0" rtlCol="0" anchor="t"/>
          <a:lstStyle/>
          <a:p>
            <a:pPr indent="0" marL="0">
              <a:buNone/>
            </a:pPr>
            <a:r>
              <a:rPr lang="en-US" sz="1100" dirty="0">
                <a:solidFill>
                  <a:srgbClr val="4B5A56"/>
                </a:solidFill>
                <a:latin typeface="Calibri" pitchFamily="34" charset="0"/>
                <a:ea typeface="Calibri" pitchFamily="34" charset="-122"/>
                <a:cs typeface="Calibri" pitchFamily="34" charset="-120"/>
              </a:rPr>
              <a:t>Возмещение по программе соцобслуживания — после включения службы в реестр области</a:t>
            </a:r>
            <a:endParaRPr lang="en-US" sz="1100" dirty="0"/>
          </a:p>
        </p:txBody>
      </p:sp>
      <p:sp>
        <p:nvSpPr>
          <p:cNvPr id="17" name="Shape 14"/>
          <p:cNvSpPr/>
          <p:nvPr/>
        </p:nvSpPr>
        <p:spPr>
          <a:xfrm>
            <a:off x="3657600" y="3346704"/>
            <a:ext cx="7982712" cy="822960"/>
          </a:xfrm>
          <a:prstGeom prst="roundRect">
            <a:avLst>
              <a:gd name="adj" fmla="val 8889"/>
            </a:avLst>
          </a:prstGeom>
          <a:solidFill>
            <a:srgbClr val="FFFFFF"/>
          </a:solidFill>
          <a:ln w="12700">
            <a:solidFill>
              <a:srgbClr val="CBD6D2"/>
            </a:solidFill>
            <a:prstDash val="solid"/>
          </a:ln>
        </p:spPr>
      </p:sp>
      <p:sp>
        <p:nvSpPr>
          <p:cNvPr id="18" name="Shape 15"/>
          <p:cNvSpPr/>
          <p:nvPr/>
        </p:nvSpPr>
        <p:spPr>
          <a:xfrm>
            <a:off x="3840480" y="3611880"/>
            <a:ext cx="1325880" cy="292608"/>
          </a:xfrm>
          <a:prstGeom prst="roundRect">
            <a:avLst>
              <a:gd name="adj" fmla="val 18750"/>
            </a:avLst>
          </a:prstGeom>
          <a:solidFill>
            <a:srgbClr val="F2E8CE"/>
          </a:solidFill>
          <a:ln w="12700">
            <a:solidFill>
              <a:srgbClr val="F2E8CE"/>
            </a:solidFill>
            <a:prstDash val="solid"/>
          </a:ln>
        </p:spPr>
      </p:sp>
      <p:sp>
        <p:nvSpPr>
          <p:cNvPr id="19" name="Text 16"/>
          <p:cNvSpPr txBox="1"/>
          <p:nvPr/>
        </p:nvSpPr>
        <p:spPr>
          <a:xfrm>
            <a:off x="3840480" y="3611880"/>
            <a:ext cx="1325880" cy="292608"/>
          </a:xfrm>
          <a:prstGeom prst="rect">
            <a:avLst/>
          </a:prstGeom>
          <a:noFill/>
          <a:ln/>
        </p:spPr>
        <p:txBody>
          <a:bodyPr wrap="square" lIns="0" tIns="0" rIns="0" bIns="0" rtlCol="0" anchor="ctr"/>
          <a:lstStyle/>
          <a:p>
            <a:pPr algn="ctr" indent="0" marL="0">
              <a:buNone/>
            </a:pPr>
            <a:r>
              <a:rPr lang="en-US" sz="1050" b="1" spc="100" kern="0" dirty="0">
                <a:solidFill>
                  <a:srgbClr val="83600F"/>
                </a:solidFill>
                <a:latin typeface="Calibri" pitchFamily="34" charset="0"/>
                <a:ea typeface="Calibri" pitchFamily="34" charset="-122"/>
                <a:cs typeface="Calibri" pitchFamily="34" charset="-120"/>
              </a:rPr>
              <a:t>В ОЖИДАНИИ</a:t>
            </a:r>
            <a:endParaRPr lang="en-US" sz="1050" dirty="0"/>
          </a:p>
        </p:txBody>
      </p:sp>
      <p:sp>
        <p:nvSpPr>
          <p:cNvPr id="20" name="Text 17"/>
          <p:cNvSpPr txBox="1"/>
          <p:nvPr/>
        </p:nvSpPr>
        <p:spPr>
          <a:xfrm>
            <a:off x="5394960" y="3438144"/>
            <a:ext cx="6035040" cy="274320"/>
          </a:xfrm>
          <a:prstGeom prst="rect">
            <a:avLst/>
          </a:prstGeom>
          <a:noFill/>
          <a:ln/>
        </p:spPr>
        <p:txBody>
          <a:bodyPr wrap="square" lIns="0" tIns="0" rIns="0" bIns="0" rtlCol="0" anchor="t"/>
          <a:lstStyle/>
          <a:p>
            <a:pPr indent="0" marL="0">
              <a:buNone/>
            </a:pPr>
            <a:r>
              <a:rPr lang="en-US" sz="1350" b="1" dirty="0">
                <a:solidFill>
                  <a:srgbClr val="14201E"/>
                </a:solidFill>
                <a:latin typeface="Calibri" pitchFamily="34" charset="0"/>
                <a:ea typeface="Calibri" pitchFamily="34" charset="-122"/>
                <a:cs typeface="Calibri" pitchFamily="34" charset="-120"/>
              </a:rPr>
              <a:t>Гранты и целевые программы</a:t>
            </a:r>
            <a:endParaRPr lang="en-US" sz="1350" dirty="0"/>
          </a:p>
        </p:txBody>
      </p:sp>
      <p:sp>
        <p:nvSpPr>
          <p:cNvPr id="21" name="Text 18"/>
          <p:cNvSpPr txBox="1"/>
          <p:nvPr/>
        </p:nvSpPr>
        <p:spPr>
          <a:xfrm>
            <a:off x="5394960" y="3712464"/>
            <a:ext cx="6080760" cy="438912"/>
          </a:xfrm>
          <a:prstGeom prst="rect">
            <a:avLst/>
          </a:prstGeom>
          <a:noFill/>
          <a:ln/>
        </p:spPr>
        <p:txBody>
          <a:bodyPr wrap="square" lIns="0" tIns="0" rIns="0" bIns="0" rtlCol="0" anchor="t"/>
          <a:lstStyle/>
          <a:p>
            <a:pPr indent="0" marL="0">
              <a:buNone/>
            </a:pPr>
            <a:r>
              <a:rPr lang="en-US" sz="1100" dirty="0">
                <a:solidFill>
                  <a:srgbClr val="4B5A56"/>
                </a:solidFill>
                <a:latin typeface="Calibri" pitchFamily="34" charset="0"/>
                <a:ea typeface="Calibri" pitchFamily="34" charset="-122"/>
                <a:cs typeface="Calibri" pitchFamily="34" charset="-120"/>
              </a:rPr>
              <a:t>Обучение помощников и родственников, работа координатора — по итогам конкурсов</a:t>
            </a:r>
            <a:endParaRPr lang="en-US" sz="1100" dirty="0"/>
          </a:p>
        </p:txBody>
      </p:sp>
      <p:sp>
        <p:nvSpPr>
          <p:cNvPr id="22" name="Shape 19"/>
          <p:cNvSpPr/>
          <p:nvPr/>
        </p:nvSpPr>
        <p:spPr>
          <a:xfrm>
            <a:off x="3657600" y="4279392"/>
            <a:ext cx="7982712" cy="822960"/>
          </a:xfrm>
          <a:prstGeom prst="roundRect">
            <a:avLst>
              <a:gd name="adj" fmla="val 8889"/>
            </a:avLst>
          </a:prstGeom>
          <a:solidFill>
            <a:srgbClr val="FFFFFF"/>
          </a:solidFill>
          <a:ln w="12700">
            <a:solidFill>
              <a:srgbClr val="CBD6D2"/>
            </a:solidFill>
            <a:prstDash val="solid"/>
          </a:ln>
        </p:spPr>
      </p:sp>
      <p:sp>
        <p:nvSpPr>
          <p:cNvPr id="23" name="Shape 20"/>
          <p:cNvSpPr/>
          <p:nvPr/>
        </p:nvSpPr>
        <p:spPr>
          <a:xfrm>
            <a:off x="3840480" y="4544568"/>
            <a:ext cx="1325880" cy="292608"/>
          </a:xfrm>
          <a:prstGeom prst="roundRect">
            <a:avLst>
              <a:gd name="adj" fmla="val 18750"/>
            </a:avLst>
          </a:prstGeom>
          <a:solidFill>
            <a:srgbClr val="DCEBE2"/>
          </a:solidFill>
          <a:ln w="12700">
            <a:solidFill>
              <a:srgbClr val="DCEBE2"/>
            </a:solidFill>
            <a:prstDash val="solid"/>
          </a:ln>
        </p:spPr>
      </p:sp>
      <p:sp>
        <p:nvSpPr>
          <p:cNvPr id="24" name="Text 21"/>
          <p:cNvSpPr txBox="1"/>
          <p:nvPr/>
        </p:nvSpPr>
        <p:spPr>
          <a:xfrm>
            <a:off x="3840480" y="4544568"/>
            <a:ext cx="1325880" cy="292608"/>
          </a:xfrm>
          <a:prstGeom prst="rect">
            <a:avLst/>
          </a:prstGeom>
          <a:noFill/>
          <a:ln/>
        </p:spPr>
        <p:txBody>
          <a:bodyPr wrap="square" lIns="0" tIns="0" rIns="0" bIns="0" rtlCol="0" anchor="ctr"/>
          <a:lstStyle/>
          <a:p>
            <a:pPr algn="ctr" indent="0" marL="0">
              <a:buNone/>
            </a:pPr>
            <a:r>
              <a:rPr lang="en-US" sz="1050" b="1" spc="100" kern="0" dirty="0">
                <a:solidFill>
                  <a:srgbClr val="2C6647"/>
                </a:solidFill>
                <a:latin typeface="Calibri" pitchFamily="34" charset="0"/>
                <a:ea typeface="Calibri" pitchFamily="34" charset="-122"/>
                <a:cs typeface="Calibri" pitchFamily="34" charset="-120"/>
              </a:rPr>
              <a:t>ДЕЙСТВУЕТ</a:t>
            </a:r>
            <a:endParaRPr lang="en-US" sz="1050" dirty="0"/>
          </a:p>
        </p:txBody>
      </p:sp>
      <p:sp>
        <p:nvSpPr>
          <p:cNvPr id="25" name="Text 22"/>
          <p:cNvSpPr txBox="1"/>
          <p:nvPr/>
        </p:nvSpPr>
        <p:spPr>
          <a:xfrm>
            <a:off x="5394960" y="4370832"/>
            <a:ext cx="6035040" cy="274320"/>
          </a:xfrm>
          <a:prstGeom prst="rect">
            <a:avLst/>
          </a:prstGeom>
          <a:noFill/>
          <a:ln/>
        </p:spPr>
        <p:txBody>
          <a:bodyPr wrap="square" lIns="0" tIns="0" rIns="0" bIns="0" rtlCol="0" anchor="t"/>
          <a:lstStyle/>
          <a:p>
            <a:pPr indent="0" marL="0">
              <a:buNone/>
            </a:pPr>
            <a:r>
              <a:rPr lang="en-US" sz="1350" b="1" dirty="0">
                <a:solidFill>
                  <a:srgbClr val="14201E"/>
                </a:solidFill>
                <a:latin typeface="Calibri" pitchFamily="34" charset="0"/>
                <a:ea typeface="Calibri" pitchFamily="34" charset="-122"/>
                <a:cs typeface="Calibri" pitchFamily="34" charset="-120"/>
              </a:rPr>
              <a:t>Пожертвования и целевые взносы</a:t>
            </a:r>
            <a:endParaRPr lang="en-US" sz="1350" dirty="0"/>
          </a:p>
        </p:txBody>
      </p:sp>
      <p:sp>
        <p:nvSpPr>
          <p:cNvPr id="26" name="Text 23"/>
          <p:cNvSpPr txBox="1"/>
          <p:nvPr/>
        </p:nvSpPr>
        <p:spPr>
          <a:xfrm>
            <a:off x="5394960" y="4645152"/>
            <a:ext cx="6080760" cy="438912"/>
          </a:xfrm>
          <a:prstGeom prst="rect">
            <a:avLst/>
          </a:prstGeom>
          <a:noFill/>
          <a:ln/>
        </p:spPr>
        <p:txBody>
          <a:bodyPr wrap="square" lIns="0" tIns="0" rIns="0" bIns="0" rtlCol="0" anchor="t"/>
          <a:lstStyle/>
          <a:p>
            <a:pPr indent="0" marL="0">
              <a:buNone/>
            </a:pPr>
            <a:r>
              <a:rPr lang="en-US" sz="1100" dirty="0">
                <a:solidFill>
                  <a:srgbClr val="4B5A56"/>
                </a:solidFill>
                <a:latin typeface="Calibri" pitchFamily="34" charset="0"/>
                <a:ea typeface="Calibri" pitchFamily="34" charset="-122"/>
                <a:cs typeface="Calibri" pitchFamily="34" charset="-120"/>
              </a:rPr>
              <a:t>Собственные средства службы: часы для семей, которым нечем платить</a:t>
            </a:r>
            <a:endParaRPr lang="en-US" sz="1100" dirty="0"/>
          </a:p>
        </p:txBody>
      </p:sp>
      <p:sp>
        <p:nvSpPr>
          <p:cNvPr id="27" name="Shape 24"/>
          <p:cNvSpPr/>
          <p:nvPr/>
        </p:nvSpPr>
        <p:spPr>
          <a:xfrm>
            <a:off x="3657600" y="5212080"/>
            <a:ext cx="7982712" cy="822960"/>
          </a:xfrm>
          <a:prstGeom prst="roundRect">
            <a:avLst>
              <a:gd name="adj" fmla="val 8889"/>
            </a:avLst>
          </a:prstGeom>
          <a:solidFill>
            <a:srgbClr val="FFFFFF"/>
          </a:solidFill>
          <a:ln w="12700">
            <a:solidFill>
              <a:srgbClr val="CBD6D2"/>
            </a:solidFill>
            <a:prstDash val="solid"/>
          </a:ln>
        </p:spPr>
      </p:sp>
      <p:sp>
        <p:nvSpPr>
          <p:cNvPr id="28" name="Shape 25"/>
          <p:cNvSpPr/>
          <p:nvPr/>
        </p:nvSpPr>
        <p:spPr>
          <a:xfrm>
            <a:off x="3840480" y="5477256"/>
            <a:ext cx="1325880" cy="292608"/>
          </a:xfrm>
          <a:prstGeom prst="roundRect">
            <a:avLst>
              <a:gd name="adj" fmla="val 18750"/>
            </a:avLst>
          </a:prstGeom>
          <a:solidFill>
            <a:srgbClr val="DCEBE2"/>
          </a:solidFill>
          <a:ln w="12700">
            <a:solidFill>
              <a:srgbClr val="DCEBE2"/>
            </a:solidFill>
            <a:prstDash val="solid"/>
          </a:ln>
        </p:spPr>
      </p:sp>
      <p:sp>
        <p:nvSpPr>
          <p:cNvPr id="29" name="Text 26"/>
          <p:cNvSpPr txBox="1"/>
          <p:nvPr/>
        </p:nvSpPr>
        <p:spPr>
          <a:xfrm>
            <a:off x="3840480" y="5477256"/>
            <a:ext cx="1325880" cy="292608"/>
          </a:xfrm>
          <a:prstGeom prst="rect">
            <a:avLst/>
          </a:prstGeom>
          <a:noFill/>
          <a:ln/>
        </p:spPr>
        <p:txBody>
          <a:bodyPr wrap="square" lIns="0" tIns="0" rIns="0" bIns="0" rtlCol="0" anchor="ctr"/>
          <a:lstStyle/>
          <a:p>
            <a:pPr algn="ctr" indent="0" marL="0">
              <a:buNone/>
            </a:pPr>
            <a:r>
              <a:rPr lang="en-US" sz="1050" b="1" spc="100" kern="0" dirty="0">
                <a:solidFill>
                  <a:srgbClr val="2C6647"/>
                </a:solidFill>
                <a:latin typeface="Calibri" pitchFamily="34" charset="0"/>
                <a:ea typeface="Calibri" pitchFamily="34" charset="-122"/>
                <a:cs typeface="Calibri" pitchFamily="34" charset="-120"/>
              </a:rPr>
              <a:t>ДЕЙСТВУЕТ</a:t>
            </a:r>
            <a:endParaRPr lang="en-US" sz="1050" dirty="0"/>
          </a:p>
        </p:txBody>
      </p:sp>
      <p:sp>
        <p:nvSpPr>
          <p:cNvPr id="30" name="Text 27"/>
          <p:cNvSpPr txBox="1"/>
          <p:nvPr/>
        </p:nvSpPr>
        <p:spPr>
          <a:xfrm>
            <a:off x="5394960" y="5303520"/>
            <a:ext cx="6035040" cy="274320"/>
          </a:xfrm>
          <a:prstGeom prst="rect">
            <a:avLst/>
          </a:prstGeom>
          <a:noFill/>
          <a:ln/>
        </p:spPr>
        <p:txBody>
          <a:bodyPr wrap="square" lIns="0" tIns="0" rIns="0" bIns="0" rtlCol="0" anchor="t"/>
          <a:lstStyle/>
          <a:p>
            <a:pPr indent="0" marL="0">
              <a:buNone/>
            </a:pPr>
            <a:r>
              <a:rPr lang="en-US" sz="1350" b="1" dirty="0">
                <a:solidFill>
                  <a:srgbClr val="14201E"/>
                </a:solidFill>
                <a:latin typeface="Calibri" pitchFamily="34" charset="0"/>
                <a:ea typeface="Calibri" pitchFamily="34" charset="-122"/>
                <a:cs typeface="Calibri" pitchFamily="34" charset="-120"/>
              </a:rPr>
              <a:t>Социальный контракт</a:t>
            </a:r>
            <a:endParaRPr lang="en-US" sz="1350" dirty="0"/>
          </a:p>
        </p:txBody>
      </p:sp>
      <p:sp>
        <p:nvSpPr>
          <p:cNvPr id="31" name="Text 28"/>
          <p:cNvSpPr txBox="1"/>
          <p:nvPr/>
        </p:nvSpPr>
        <p:spPr>
          <a:xfrm>
            <a:off x="5394960" y="5577840"/>
            <a:ext cx="6080760" cy="438912"/>
          </a:xfrm>
          <a:prstGeom prst="rect">
            <a:avLst/>
          </a:prstGeom>
          <a:noFill/>
          <a:ln/>
        </p:spPr>
        <p:txBody>
          <a:bodyPr wrap="square" lIns="0" tIns="0" rIns="0" bIns="0" rtlCol="0" anchor="t"/>
          <a:lstStyle/>
          <a:p>
            <a:pPr indent="0" marL="0">
              <a:buNone/>
            </a:pPr>
            <a:r>
              <a:rPr lang="en-US" sz="1100" dirty="0">
                <a:solidFill>
                  <a:srgbClr val="4B5A56"/>
                </a:solidFill>
                <a:latin typeface="Calibri" pitchFamily="34" charset="0"/>
                <a:ea typeface="Calibri" pitchFamily="34" charset="-122"/>
                <a:cs typeface="Calibri" pitchFamily="34" charset="-120"/>
              </a:rPr>
              <a:t>Федеральная мера: деньги получает семья в соцзащите, от службы не зависит</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5A55"/>
                </a:solidFill>
                <a:latin typeface="Calibri" pitchFamily="34" charset="0"/>
                <a:ea typeface="Calibri" pitchFamily="34" charset="-122"/>
                <a:cs typeface="Calibri" pitchFamily="34" charset="-120"/>
              </a:rPr>
              <a:t>МИНИ-ПРИЛОЖЕНИЕ · ОБОРУДОВАНИЕ</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01E"/>
                </a:solidFill>
                <a:latin typeface="Cambria" pitchFamily="34" charset="0"/>
                <a:ea typeface="Cambria" pitchFamily="34" charset="-122"/>
                <a:cs typeface="Cambria" pitchFamily="34" charset="-120"/>
              </a:rPr>
              <a:t>Сначала — что положено даром, потом аренда</a:t>
            </a:r>
            <a:endParaRPr lang="en-US" sz="2800" dirty="0"/>
          </a:p>
        </p:txBody>
      </p:sp>
      <p:sp>
        <p:nvSpPr>
          <p:cNvPr id="4" name="Text 2"/>
          <p:cNvSpPr txBox="1"/>
          <p:nvPr/>
        </p:nvSpPr>
        <p:spPr>
          <a:xfrm>
            <a:off x="548640" y="6419088"/>
            <a:ext cx="7315200" cy="228600"/>
          </a:xfrm>
          <a:prstGeom prst="rect">
            <a:avLst/>
          </a:prstGeom>
          <a:noFill/>
          <a:ln/>
        </p:spPr>
        <p:txBody>
          <a:bodyPr wrap="square" lIns="0" tIns="0" rIns="0" bIns="0" rtlCol="0" anchor="t"/>
          <a:lstStyle/>
          <a:p>
            <a:pPr indent="0" marL="0">
              <a:buNone/>
            </a:pPr>
            <a:r>
              <a:rPr lang="en-US" sz="900" dirty="0">
                <a:solidFill>
                  <a:srgbClr val="748480"/>
                </a:solidFill>
                <a:latin typeface="Calibri" pitchFamily="34" charset="0"/>
                <a:ea typeface="Calibri" pitchFamily="34" charset="-122"/>
                <a:cs typeface="Calibri" pitchFamily="34" charset="-120"/>
              </a:rPr>
              <a:t>АНО «СДУТ» · листинг комплекса «Бот SDUT63 и мини-приложение»</a:t>
            </a:r>
            <a:endParaRPr lang="en-US" sz="900" dirty="0"/>
          </a:p>
        </p:txBody>
      </p:sp>
      <p:sp>
        <p:nvSpPr>
          <p:cNvPr id="5" name="Text 3"/>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900" dirty="0">
                <a:solidFill>
                  <a:srgbClr val="748480"/>
                </a:solidFill>
                <a:latin typeface="Calibri" pitchFamily="34" charset="0"/>
                <a:ea typeface="Calibri" pitchFamily="34" charset="-122"/>
                <a:cs typeface="Calibri" pitchFamily="34" charset="-120"/>
              </a:rPr>
              <a:t>15 / 22</a:t>
            </a:r>
            <a:endParaRPr lang="en-US" sz="900" dirty="0"/>
          </a:p>
        </p:txBody>
      </p:sp>
      <p:pic>
        <p:nvPicPr>
          <p:cNvPr id="6" name="Image 0" descr="Экран мини-приложения">    </p:cNvPr>
          <p:cNvPicPr>
            <a:picLocks noChangeAspect="1"/>
          </p:cNvPicPr>
          <p:nvPr/>
        </p:nvPicPr>
        <p:blipFill>
          <a:blip r:embed="rId1"/>
          <a:stretch>
            <a:fillRect/>
          </a:stretch>
        </p:blipFill>
        <p:spPr>
          <a:xfrm>
            <a:off x="548640" y="1463040"/>
            <a:ext cx="2500070" cy="4754880"/>
          </a:xfrm>
          <a:prstGeom prst="rect">
            <a:avLst/>
          </a:prstGeom>
        </p:spPr>
      </p:pic>
      <p:sp>
        <p:nvSpPr>
          <p:cNvPr id="7" name="Shape 4"/>
          <p:cNvSpPr/>
          <p:nvPr/>
        </p:nvSpPr>
        <p:spPr>
          <a:xfrm>
            <a:off x="3657600" y="1481328"/>
            <a:ext cx="2560320" cy="1783080"/>
          </a:xfrm>
          <a:prstGeom prst="roundRect">
            <a:avLst>
              <a:gd name="adj" fmla="val 4103"/>
            </a:avLst>
          </a:prstGeom>
          <a:solidFill>
            <a:srgbClr val="DCEBE2"/>
          </a:solidFill>
          <a:ln w="12700">
            <a:solidFill>
              <a:srgbClr val="DCEBE2"/>
            </a:solidFill>
            <a:prstDash val="solid"/>
          </a:ln>
        </p:spPr>
      </p:sp>
      <p:sp>
        <p:nvSpPr>
          <p:cNvPr id="8" name="Shape 5"/>
          <p:cNvSpPr/>
          <p:nvPr/>
        </p:nvSpPr>
        <p:spPr>
          <a:xfrm>
            <a:off x="3840480" y="1645920"/>
            <a:ext cx="347472" cy="347472"/>
          </a:xfrm>
          <a:prstGeom prst="ellipse">
            <a:avLst/>
          </a:prstGeom>
          <a:solidFill>
            <a:srgbClr val="2C6647"/>
          </a:solidFill>
          <a:ln w="12700">
            <a:solidFill>
              <a:srgbClr val="2C6647"/>
            </a:solidFill>
            <a:prstDash val="solid"/>
          </a:ln>
        </p:spPr>
      </p:sp>
      <p:sp>
        <p:nvSpPr>
          <p:cNvPr id="9" name="Text 6"/>
          <p:cNvSpPr txBox="1"/>
          <p:nvPr/>
        </p:nvSpPr>
        <p:spPr>
          <a:xfrm>
            <a:off x="3840480" y="16459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txBox="1"/>
          <p:nvPr/>
        </p:nvSpPr>
        <p:spPr>
          <a:xfrm>
            <a:off x="4297680" y="1673352"/>
            <a:ext cx="1828800" cy="320040"/>
          </a:xfrm>
          <a:prstGeom prst="rect">
            <a:avLst/>
          </a:prstGeom>
          <a:noFill/>
          <a:ln/>
        </p:spPr>
        <p:txBody>
          <a:bodyPr wrap="square" lIns="0" tIns="0" rIns="0" bIns="0" rtlCol="0" anchor="t"/>
          <a:lstStyle/>
          <a:p>
            <a:pPr indent="0" marL="0">
              <a:buNone/>
            </a:pPr>
            <a:r>
              <a:rPr lang="en-US" sz="1350" b="1" dirty="0">
                <a:solidFill>
                  <a:srgbClr val="2C6647"/>
                </a:solidFill>
                <a:latin typeface="Calibri" pitchFamily="34" charset="0"/>
                <a:ea typeface="Calibri" pitchFamily="34" charset="-122"/>
                <a:cs typeface="Calibri" pitchFamily="34" charset="-120"/>
              </a:rPr>
              <a:t>ИПРА</a:t>
            </a:r>
            <a:endParaRPr lang="en-US" sz="1350" dirty="0"/>
          </a:p>
        </p:txBody>
      </p:sp>
      <p:sp>
        <p:nvSpPr>
          <p:cNvPr id="11" name="Text 8"/>
          <p:cNvSpPr txBox="1"/>
          <p:nvPr/>
        </p:nvSpPr>
        <p:spPr>
          <a:xfrm>
            <a:off x="3840480" y="2103120"/>
            <a:ext cx="2240280" cy="1280160"/>
          </a:xfrm>
          <a:prstGeom prst="rect">
            <a:avLst/>
          </a:prstGeom>
          <a:noFill/>
          <a:ln/>
        </p:spPr>
        <p:txBody>
          <a:bodyPr wrap="square" lIns="0" tIns="0" rIns="0" bIns="0" rtlCol="0" anchor="t"/>
          <a:lstStyle/>
          <a:p>
            <a:pPr indent="0" marL="0">
              <a:buNone/>
            </a:pPr>
            <a:r>
              <a:rPr lang="en-US" sz="1150" dirty="0">
                <a:solidFill>
                  <a:srgbClr val="14201E"/>
                </a:solidFill>
                <a:latin typeface="Calibri" pitchFamily="34" charset="0"/>
                <a:ea typeface="Calibri" pitchFamily="34" charset="-122"/>
                <a:cs typeface="Calibri" pitchFamily="34" charset="-120"/>
              </a:rPr>
              <a:t>Средство вписано в программу реабилитации — его выдаёт Социальный фонд или возмещает деньги</a:t>
            </a:r>
            <a:endParaRPr lang="en-US" sz="1150" dirty="0"/>
          </a:p>
        </p:txBody>
      </p:sp>
      <p:sp>
        <p:nvSpPr>
          <p:cNvPr id="12" name="Shape 9"/>
          <p:cNvSpPr/>
          <p:nvPr/>
        </p:nvSpPr>
        <p:spPr>
          <a:xfrm>
            <a:off x="6355080" y="1481328"/>
            <a:ext cx="2560320" cy="1783080"/>
          </a:xfrm>
          <a:prstGeom prst="roundRect">
            <a:avLst>
              <a:gd name="adj" fmla="val 4103"/>
            </a:avLst>
          </a:prstGeom>
          <a:solidFill>
            <a:srgbClr val="DCEBE2"/>
          </a:solidFill>
          <a:ln w="12700">
            <a:solidFill>
              <a:srgbClr val="DCEBE2"/>
            </a:solidFill>
            <a:prstDash val="solid"/>
          </a:ln>
        </p:spPr>
      </p:sp>
      <p:sp>
        <p:nvSpPr>
          <p:cNvPr id="13" name="Shape 10"/>
          <p:cNvSpPr/>
          <p:nvPr/>
        </p:nvSpPr>
        <p:spPr>
          <a:xfrm>
            <a:off x="6537960" y="1645920"/>
            <a:ext cx="347472" cy="347472"/>
          </a:xfrm>
          <a:prstGeom prst="ellipse">
            <a:avLst/>
          </a:prstGeom>
          <a:solidFill>
            <a:srgbClr val="2C6647"/>
          </a:solidFill>
          <a:ln w="12700">
            <a:solidFill>
              <a:srgbClr val="2C6647"/>
            </a:solidFill>
            <a:prstDash val="solid"/>
          </a:ln>
        </p:spPr>
      </p:sp>
      <p:sp>
        <p:nvSpPr>
          <p:cNvPr id="14" name="Text 11"/>
          <p:cNvSpPr txBox="1"/>
          <p:nvPr/>
        </p:nvSpPr>
        <p:spPr>
          <a:xfrm>
            <a:off x="6537960" y="16459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2"/>
          <p:cNvSpPr txBox="1"/>
          <p:nvPr/>
        </p:nvSpPr>
        <p:spPr>
          <a:xfrm>
            <a:off x="6995160" y="1673352"/>
            <a:ext cx="1828800" cy="320040"/>
          </a:xfrm>
          <a:prstGeom prst="rect">
            <a:avLst/>
          </a:prstGeom>
          <a:noFill/>
          <a:ln/>
        </p:spPr>
        <p:txBody>
          <a:bodyPr wrap="square" lIns="0" tIns="0" rIns="0" bIns="0" rtlCol="0" anchor="t"/>
          <a:lstStyle/>
          <a:p>
            <a:pPr indent="0" marL="0">
              <a:buNone/>
            </a:pPr>
            <a:r>
              <a:rPr lang="en-US" sz="1350" b="1" dirty="0">
                <a:solidFill>
                  <a:srgbClr val="2C6647"/>
                </a:solidFill>
                <a:latin typeface="Calibri" pitchFamily="34" charset="0"/>
                <a:ea typeface="Calibri" pitchFamily="34" charset="-122"/>
                <a:cs typeface="Calibri" pitchFamily="34" charset="-120"/>
              </a:rPr>
              <a:t>Пункт проката</a:t>
            </a:r>
            <a:endParaRPr lang="en-US" sz="1350" dirty="0"/>
          </a:p>
        </p:txBody>
      </p:sp>
      <p:sp>
        <p:nvSpPr>
          <p:cNvPr id="16" name="Text 13"/>
          <p:cNvSpPr txBox="1"/>
          <p:nvPr/>
        </p:nvSpPr>
        <p:spPr>
          <a:xfrm>
            <a:off x="6537960" y="2103120"/>
            <a:ext cx="2240280" cy="1280160"/>
          </a:xfrm>
          <a:prstGeom prst="rect">
            <a:avLst/>
          </a:prstGeom>
          <a:noFill/>
          <a:ln/>
        </p:spPr>
        <p:txBody>
          <a:bodyPr wrap="square" lIns="0" tIns="0" rIns="0" bIns="0" rtlCol="0" anchor="t"/>
          <a:lstStyle/>
          <a:p>
            <a:pPr indent="0" marL="0">
              <a:buNone/>
            </a:pPr>
            <a:r>
              <a:rPr lang="en-US" sz="1150" dirty="0">
                <a:solidFill>
                  <a:srgbClr val="14201E"/>
                </a:solidFill>
                <a:latin typeface="Calibri" pitchFamily="34" charset="0"/>
                <a:ea typeface="Calibri" pitchFamily="34" charset="-122"/>
                <a:cs typeface="Calibri" pitchFamily="34" charset="-120"/>
              </a:rPr>
              <a:t>Кровати, коляски, ходунки — во временное пользование при центре соцобслуживания</a:t>
            </a:r>
            <a:endParaRPr lang="en-US" sz="1150" dirty="0"/>
          </a:p>
        </p:txBody>
      </p:sp>
      <p:sp>
        <p:nvSpPr>
          <p:cNvPr id="17" name="Shape 14"/>
          <p:cNvSpPr/>
          <p:nvPr/>
        </p:nvSpPr>
        <p:spPr>
          <a:xfrm>
            <a:off x="9052560" y="1481328"/>
            <a:ext cx="2560320" cy="1783080"/>
          </a:xfrm>
          <a:prstGeom prst="roundRect">
            <a:avLst>
              <a:gd name="adj" fmla="val 4103"/>
            </a:avLst>
          </a:prstGeom>
          <a:solidFill>
            <a:srgbClr val="DCEBE2"/>
          </a:solidFill>
          <a:ln w="12700">
            <a:solidFill>
              <a:srgbClr val="DCEBE2"/>
            </a:solidFill>
            <a:prstDash val="solid"/>
          </a:ln>
        </p:spPr>
      </p:sp>
      <p:sp>
        <p:nvSpPr>
          <p:cNvPr id="18" name="Shape 15"/>
          <p:cNvSpPr/>
          <p:nvPr/>
        </p:nvSpPr>
        <p:spPr>
          <a:xfrm>
            <a:off x="9235440" y="1645920"/>
            <a:ext cx="347472" cy="347472"/>
          </a:xfrm>
          <a:prstGeom prst="ellipse">
            <a:avLst/>
          </a:prstGeom>
          <a:solidFill>
            <a:srgbClr val="2C6647"/>
          </a:solidFill>
          <a:ln w="12700">
            <a:solidFill>
              <a:srgbClr val="2C6647"/>
            </a:solidFill>
            <a:prstDash val="solid"/>
          </a:ln>
        </p:spPr>
      </p:sp>
      <p:sp>
        <p:nvSpPr>
          <p:cNvPr id="19" name="Text 16"/>
          <p:cNvSpPr txBox="1"/>
          <p:nvPr/>
        </p:nvSpPr>
        <p:spPr>
          <a:xfrm>
            <a:off x="9235440" y="16459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7"/>
          <p:cNvSpPr txBox="1"/>
          <p:nvPr/>
        </p:nvSpPr>
        <p:spPr>
          <a:xfrm>
            <a:off x="9692640" y="1673352"/>
            <a:ext cx="1828800" cy="320040"/>
          </a:xfrm>
          <a:prstGeom prst="rect">
            <a:avLst/>
          </a:prstGeom>
          <a:noFill/>
          <a:ln/>
        </p:spPr>
        <p:txBody>
          <a:bodyPr wrap="square" lIns="0" tIns="0" rIns="0" bIns="0" rtlCol="0" anchor="t"/>
          <a:lstStyle/>
          <a:p>
            <a:pPr indent="0" marL="0">
              <a:buNone/>
            </a:pPr>
            <a:r>
              <a:rPr lang="en-US" sz="1350" b="1" dirty="0">
                <a:solidFill>
                  <a:srgbClr val="2C6647"/>
                </a:solidFill>
                <a:latin typeface="Calibri" pitchFamily="34" charset="0"/>
                <a:ea typeface="Calibri" pitchFamily="34" charset="-122"/>
                <a:cs typeface="Calibri" pitchFamily="34" charset="-120"/>
              </a:rPr>
              <a:t>Паллиативный статус</a:t>
            </a:r>
            <a:endParaRPr lang="en-US" sz="1350" dirty="0"/>
          </a:p>
        </p:txBody>
      </p:sp>
      <p:sp>
        <p:nvSpPr>
          <p:cNvPr id="21" name="Text 18"/>
          <p:cNvSpPr txBox="1"/>
          <p:nvPr/>
        </p:nvSpPr>
        <p:spPr>
          <a:xfrm>
            <a:off x="9235440" y="2103120"/>
            <a:ext cx="2240280" cy="1280160"/>
          </a:xfrm>
          <a:prstGeom prst="rect">
            <a:avLst/>
          </a:prstGeom>
          <a:noFill/>
          <a:ln/>
        </p:spPr>
        <p:txBody>
          <a:bodyPr wrap="square" lIns="0" tIns="0" rIns="0" bIns="0" rtlCol="0" anchor="t"/>
          <a:lstStyle/>
          <a:p>
            <a:pPr indent="0" marL="0">
              <a:buNone/>
            </a:pPr>
            <a:r>
              <a:rPr lang="en-US" sz="1150" dirty="0">
                <a:solidFill>
                  <a:srgbClr val="14201E"/>
                </a:solidFill>
                <a:latin typeface="Calibri" pitchFamily="34" charset="0"/>
                <a:ea typeface="Calibri" pitchFamily="34" charset="-122"/>
                <a:cs typeface="Calibri" pitchFamily="34" charset="-120"/>
              </a:rPr>
              <a:t>Концентратор кислорода, аспиратор, откашливатель — на дом по Приказу № 208н/243н от 14.04.2025</a:t>
            </a:r>
            <a:endParaRPr lang="en-US" sz="1150" dirty="0"/>
          </a:p>
        </p:txBody>
      </p:sp>
      <p:sp>
        <p:nvSpPr>
          <p:cNvPr id="22" name="Text 19"/>
          <p:cNvSpPr txBox="1"/>
          <p:nvPr/>
        </p:nvSpPr>
        <p:spPr>
          <a:xfrm>
            <a:off x="3657600" y="3703320"/>
            <a:ext cx="7315200" cy="320040"/>
          </a:xfrm>
          <a:prstGeom prst="rect">
            <a:avLst/>
          </a:prstGeom>
          <a:noFill/>
          <a:ln/>
        </p:spPr>
        <p:txBody>
          <a:bodyPr wrap="square" lIns="0" tIns="0" rIns="0" bIns="0" rtlCol="0" anchor="t"/>
          <a:lstStyle/>
          <a:p>
            <a:pPr indent="0" marL="0">
              <a:buNone/>
            </a:pPr>
            <a:r>
              <a:rPr lang="en-US" sz="1400" b="1" dirty="0">
                <a:solidFill>
                  <a:srgbClr val="1B5A55"/>
                </a:solidFill>
                <a:latin typeface="Calibri" pitchFamily="34" charset="0"/>
                <a:ea typeface="Calibri" pitchFamily="34" charset="-122"/>
                <a:cs typeface="Calibri" pitchFamily="34" charset="-120"/>
              </a:rPr>
              <a:t>20 средств в 5 группах · аренда, ₽ в месяц</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0" y="4069080"/>
          <a:ext cx="5120640" cy="914400"/>
        </p:xfrm>
        <a:graphic>
          <a:graphicData uri="http://schemas.openxmlformats.org/drawingml/2006/table">
            <a:tbl>
              <a:tblPr/>
              <a:tblGrid>
                <a:gridCol w="2560320"/>
                <a:gridCol w="1005840"/>
                <a:gridCol w="1554480"/>
              </a:tblGrid>
              <a:tr h="329184">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Группа</a:t>
                      </a:r>
                      <a:endParaRPr lang="en-US" sz="1150" dirty="0">
                        <a:latin typeface="Calibri" charset="0"/>
                        <a:ea typeface="Calibri" charset="0"/>
                        <a:cs typeface="Calibri" charset="0"/>
                      </a:endParaRPr>
                    </a:p>
                  </a:txBody>
                  <a:tcPr marL="101600" marR="1016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1B5A55"/>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Средств</a:t>
                      </a:r>
                      <a:endParaRPr lang="en-US" sz="1150" dirty="0">
                        <a:latin typeface="Calibri" charset="0"/>
                        <a:ea typeface="Calibri" charset="0"/>
                        <a:cs typeface="Calibri" charset="0"/>
                      </a:endParaRPr>
                    </a:p>
                  </a:txBody>
                  <a:tcPr marL="101600" marR="1016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1B5A55"/>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Аренда, ₽/мес</a:t>
                      </a:r>
                      <a:endParaRPr lang="en-US" sz="1150" dirty="0">
                        <a:latin typeface="Calibri" charset="0"/>
                        <a:ea typeface="Calibri" charset="0"/>
                        <a:cs typeface="Calibri" charset="0"/>
                      </a:endParaRPr>
                    </a:p>
                  </a:txBody>
                  <a:tcPr marL="101600" marR="1016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1B5A55"/>
                    </a:solidFill>
                  </a:tcPr>
                </a:tc>
              </a:tr>
              <a:tr h="329184">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Кровать и матрас</a:t>
                      </a:r>
                      <a:endParaRPr lang="en-US" sz="1150" dirty="0">
                        <a:latin typeface="Calibri" charset="0"/>
                        <a:ea typeface="Calibri" charset="0"/>
                        <a:cs typeface="Calibri" charset="0"/>
                      </a:endParaRPr>
                    </a:p>
                  </a:txBody>
                  <a:tcPr marL="101600" marR="1016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201E"/>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101600" marR="1016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201E"/>
                          </a:solidFill>
                          <a:latin typeface="Calibri" pitchFamily="34" charset="0"/>
                          <a:ea typeface="Calibri" pitchFamily="34" charset="-122"/>
                          <a:cs typeface="Calibri" pitchFamily="34" charset="-120"/>
                        </a:rPr>
                        <a:t>500–3 500</a:t>
                      </a:r>
                      <a:endParaRPr lang="en-US" sz="1150" dirty="0">
                        <a:latin typeface="Calibri" charset="0"/>
                        <a:ea typeface="Calibri" charset="0"/>
                        <a:cs typeface="Calibri" charset="0"/>
                      </a:endParaRPr>
                    </a:p>
                  </a:txBody>
                  <a:tcPr marL="101600" marR="1016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Передвижение</a:t>
                      </a:r>
                      <a:endParaRPr lang="en-US" sz="1150" dirty="0">
                        <a:latin typeface="Calibri" charset="0"/>
                        <a:ea typeface="Calibri" charset="0"/>
                        <a:cs typeface="Calibri" charset="0"/>
                      </a:endParaRPr>
                    </a:p>
                  </a:txBody>
                  <a:tcPr marL="101600" marR="1016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algn="r" indent="0" marL="0">
                        <a:buNone/>
                      </a:pPr>
                      <a:r>
                        <a:rPr lang="en-US" sz="1150" dirty="0">
                          <a:solidFill>
                            <a:srgbClr val="14201E"/>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101600" marR="1016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algn="r" indent="0" marL="0">
                        <a:buNone/>
                      </a:pPr>
                      <a:r>
                        <a:rPr lang="en-US" sz="1150" dirty="0">
                          <a:solidFill>
                            <a:srgbClr val="14201E"/>
                          </a:solidFill>
                          <a:latin typeface="Calibri" pitchFamily="34" charset="0"/>
                          <a:ea typeface="Calibri" pitchFamily="34" charset="-122"/>
                          <a:cs typeface="Calibri" pitchFamily="34" charset="-120"/>
                        </a:rPr>
                        <a:t>300–4 500</a:t>
                      </a:r>
                      <a:endParaRPr lang="en-US" sz="1150" dirty="0">
                        <a:latin typeface="Calibri" charset="0"/>
                        <a:ea typeface="Calibri" charset="0"/>
                        <a:cs typeface="Calibri" charset="0"/>
                      </a:endParaRPr>
                    </a:p>
                  </a:txBody>
                  <a:tcPr marL="101600" marR="1016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r>
              <a:tr h="329184">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Гигиена и туалет</a:t>
                      </a:r>
                      <a:endParaRPr lang="en-US" sz="1150" dirty="0">
                        <a:latin typeface="Calibri" charset="0"/>
                        <a:ea typeface="Calibri" charset="0"/>
                        <a:cs typeface="Calibri" charset="0"/>
                      </a:endParaRPr>
                    </a:p>
                  </a:txBody>
                  <a:tcPr marL="101600" marR="1016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201E"/>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101600" marR="1016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201E"/>
                          </a:solidFill>
                          <a:latin typeface="Calibri" pitchFamily="34" charset="0"/>
                          <a:ea typeface="Calibri" pitchFamily="34" charset="-122"/>
                          <a:cs typeface="Calibri" pitchFamily="34" charset="-120"/>
                        </a:rPr>
                        <a:t>600–800</a:t>
                      </a:r>
                      <a:endParaRPr lang="en-US" sz="1150" dirty="0">
                        <a:latin typeface="Calibri" charset="0"/>
                        <a:ea typeface="Calibri" charset="0"/>
                        <a:cs typeface="Calibri" charset="0"/>
                      </a:endParaRPr>
                    </a:p>
                  </a:txBody>
                  <a:tcPr marL="101600" marR="1016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Уход и быт</a:t>
                      </a:r>
                      <a:endParaRPr lang="en-US" sz="1150" dirty="0">
                        <a:latin typeface="Calibri" charset="0"/>
                        <a:ea typeface="Calibri" charset="0"/>
                        <a:cs typeface="Calibri" charset="0"/>
                      </a:endParaRPr>
                    </a:p>
                  </a:txBody>
                  <a:tcPr marL="101600" marR="1016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algn="r" indent="0" marL="0">
                        <a:buNone/>
                      </a:pPr>
                      <a:r>
                        <a:rPr lang="en-US" sz="1150" dirty="0">
                          <a:solidFill>
                            <a:srgbClr val="14201E"/>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101600" marR="1016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algn="r" indent="0" marL="0">
                        <a:buNone/>
                      </a:pPr>
                      <a:r>
                        <a:rPr lang="en-US" sz="1150" dirty="0">
                          <a:solidFill>
                            <a:srgbClr val="14201E"/>
                          </a:solidFill>
                          <a:latin typeface="Calibri" pitchFamily="34" charset="0"/>
                          <a:ea typeface="Calibri" pitchFamily="34" charset="-122"/>
                          <a:cs typeface="Calibri" pitchFamily="34" charset="-120"/>
                        </a:rPr>
                        <a:t>400–500</a:t>
                      </a:r>
                      <a:endParaRPr lang="en-US" sz="1150" dirty="0">
                        <a:latin typeface="Calibri" charset="0"/>
                        <a:ea typeface="Calibri" charset="0"/>
                        <a:cs typeface="Calibri" charset="0"/>
                      </a:endParaRPr>
                    </a:p>
                  </a:txBody>
                  <a:tcPr marL="101600" marR="1016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r>
              <a:tr h="329184">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Дыхание</a:t>
                      </a:r>
                      <a:endParaRPr lang="en-US" sz="1150" dirty="0">
                        <a:latin typeface="Calibri" charset="0"/>
                        <a:ea typeface="Calibri" charset="0"/>
                        <a:cs typeface="Calibri" charset="0"/>
                      </a:endParaRPr>
                    </a:p>
                  </a:txBody>
                  <a:tcPr marL="101600" marR="1016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201E"/>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101600" marR="1016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201E"/>
                          </a:solidFill>
                          <a:latin typeface="Calibri" pitchFamily="34" charset="0"/>
                          <a:ea typeface="Calibri" pitchFamily="34" charset="-122"/>
                          <a:cs typeface="Calibri" pitchFamily="34" charset="-120"/>
                        </a:rPr>
                        <a:t>2 500–8 000</a:t>
                      </a:r>
                      <a:endParaRPr lang="en-US" sz="1150" dirty="0">
                        <a:latin typeface="Calibri" charset="0"/>
                        <a:ea typeface="Calibri" charset="0"/>
                        <a:cs typeface="Calibri" charset="0"/>
                      </a:endParaRPr>
                    </a:p>
                  </a:txBody>
                  <a:tcPr marL="101600" marR="1016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r>
            </a:tbl>
          </a:graphicData>
        </a:graphic>
      </p:graphicFrame>
      <p:sp>
        <p:nvSpPr>
          <p:cNvPr id="24" name="Text 20"/>
          <p:cNvSpPr txBox="1"/>
          <p:nvPr/>
        </p:nvSpPr>
        <p:spPr>
          <a:xfrm>
            <a:off x="9006840" y="4069080"/>
            <a:ext cx="2633472" cy="1463040"/>
          </a:xfrm>
          <a:prstGeom prst="rect">
            <a:avLst/>
          </a:prstGeom>
          <a:noFill/>
          <a:ln/>
        </p:spPr>
        <p:txBody>
          <a:bodyPr wrap="square" lIns="0" tIns="0" rIns="0" bIns="0" rtlCol="0" anchor="t"/>
          <a:lstStyle/>
          <a:p>
            <a:pPr indent="0" marL="0">
              <a:buNone/>
            </a:pPr>
            <a:r>
              <a:rPr lang="en-US" sz="1200" dirty="0">
                <a:solidFill>
                  <a:srgbClr val="4B5A56"/>
                </a:solidFill>
                <a:latin typeface="Calibri" pitchFamily="34" charset="0"/>
                <a:ea typeface="Calibri" pitchFamily="34" charset="-122"/>
                <a:cs typeface="Calibri" pitchFamily="34" charset="-120"/>
              </a:rPr>
              <a:t>Приложение считает аренду на выбранный срок с доставкой и залогом и подсказывает, что нужно по плану ухода.</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5A55"/>
                </a:solidFill>
                <a:latin typeface="Calibri" pitchFamily="34" charset="0"/>
                <a:ea typeface="Calibri" pitchFamily="34" charset="-122"/>
                <a:cs typeface="Calibri" pitchFamily="34" charset="-120"/>
              </a:rPr>
              <a:t>БАЗА ЗНАНИЙ · ПОИСК</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01E"/>
                </a:solidFill>
                <a:latin typeface="Cambria" pitchFamily="34" charset="0"/>
                <a:ea typeface="Cambria" pitchFamily="34" charset="-122"/>
                <a:cs typeface="Cambria" pitchFamily="34" charset="-120"/>
              </a:rPr>
              <a:t>Один поиск в чате и в приложении</a:t>
            </a:r>
            <a:endParaRPr lang="en-US" sz="2800" dirty="0"/>
          </a:p>
        </p:txBody>
      </p:sp>
      <p:sp>
        <p:nvSpPr>
          <p:cNvPr id="4" name="Text 2"/>
          <p:cNvSpPr txBox="1"/>
          <p:nvPr/>
        </p:nvSpPr>
        <p:spPr>
          <a:xfrm>
            <a:off x="548640" y="6419088"/>
            <a:ext cx="7315200" cy="228600"/>
          </a:xfrm>
          <a:prstGeom prst="rect">
            <a:avLst/>
          </a:prstGeom>
          <a:noFill/>
          <a:ln/>
        </p:spPr>
        <p:txBody>
          <a:bodyPr wrap="square" lIns="0" tIns="0" rIns="0" bIns="0" rtlCol="0" anchor="t"/>
          <a:lstStyle/>
          <a:p>
            <a:pPr indent="0" marL="0">
              <a:buNone/>
            </a:pPr>
            <a:r>
              <a:rPr lang="en-US" sz="900" dirty="0">
                <a:solidFill>
                  <a:srgbClr val="748480"/>
                </a:solidFill>
                <a:latin typeface="Calibri" pitchFamily="34" charset="0"/>
                <a:ea typeface="Calibri" pitchFamily="34" charset="-122"/>
                <a:cs typeface="Calibri" pitchFamily="34" charset="-120"/>
              </a:rPr>
              <a:t>АНО «СДУТ» · листинг комплекса «Бот SDUT63 и мини-приложение»</a:t>
            </a:r>
            <a:endParaRPr lang="en-US" sz="900" dirty="0"/>
          </a:p>
        </p:txBody>
      </p:sp>
      <p:sp>
        <p:nvSpPr>
          <p:cNvPr id="5" name="Text 3"/>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900" dirty="0">
                <a:solidFill>
                  <a:srgbClr val="748480"/>
                </a:solidFill>
                <a:latin typeface="Calibri" pitchFamily="34" charset="0"/>
                <a:ea typeface="Calibri" pitchFamily="34" charset="-122"/>
                <a:cs typeface="Calibri" pitchFamily="34" charset="-120"/>
              </a:rPr>
              <a:t>16 / 22</a:t>
            </a:r>
            <a:endParaRPr lang="en-US" sz="900" dirty="0"/>
          </a:p>
        </p:txBody>
      </p:sp>
      <p:pic>
        <p:nvPicPr>
          <p:cNvPr id="6" name="Image 0" descr="Экран мини-приложения">    </p:cNvPr>
          <p:cNvPicPr>
            <a:picLocks noChangeAspect="1"/>
          </p:cNvPicPr>
          <p:nvPr/>
        </p:nvPicPr>
        <p:blipFill>
          <a:blip r:embed="rId1"/>
          <a:stretch>
            <a:fillRect/>
          </a:stretch>
        </p:blipFill>
        <p:spPr>
          <a:xfrm>
            <a:off x="548640" y="1463040"/>
            <a:ext cx="2500070" cy="4754880"/>
          </a:xfrm>
          <a:prstGeom prst="rect">
            <a:avLst/>
          </a:prstGeom>
        </p:spPr>
      </p:pic>
      <p:sp>
        <p:nvSpPr>
          <p:cNvPr id="7" name="Text 4"/>
          <p:cNvSpPr txBox="1"/>
          <p:nvPr/>
        </p:nvSpPr>
        <p:spPr>
          <a:xfrm>
            <a:off x="3657600" y="1481328"/>
            <a:ext cx="2560320" cy="640080"/>
          </a:xfrm>
          <a:prstGeom prst="rect">
            <a:avLst/>
          </a:prstGeom>
          <a:noFill/>
          <a:ln/>
        </p:spPr>
        <p:txBody>
          <a:bodyPr wrap="square" lIns="0" tIns="0" rIns="0" bIns="0" rtlCol="0" anchor="t"/>
          <a:lstStyle/>
          <a:p>
            <a:pPr indent="0" marL="0">
              <a:buNone/>
            </a:pPr>
            <a:r>
              <a:rPr lang="en-US" sz="3600" b="1" dirty="0">
                <a:solidFill>
                  <a:srgbClr val="1B5A55"/>
                </a:solidFill>
                <a:latin typeface="Cambria" pitchFamily="34" charset="0"/>
                <a:ea typeface="Cambria" pitchFamily="34" charset="-122"/>
                <a:cs typeface="Cambria" pitchFamily="34" charset="-120"/>
              </a:rPr>
              <a:t>243</a:t>
            </a:r>
            <a:endParaRPr lang="en-US" sz="3600" dirty="0"/>
          </a:p>
        </p:txBody>
      </p:sp>
      <p:sp>
        <p:nvSpPr>
          <p:cNvPr id="8" name="Text 5"/>
          <p:cNvSpPr txBox="1"/>
          <p:nvPr/>
        </p:nvSpPr>
        <p:spPr>
          <a:xfrm>
            <a:off x="3657600" y="2139696"/>
            <a:ext cx="2560320" cy="548640"/>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статьи: 28 файлов текста</a:t>
            </a:r>
            <a:endParaRPr lang="en-US" sz="1250" dirty="0"/>
          </a:p>
          <a:p>
            <a:pPr indent="0" marL="0">
              <a:buNone/>
            </a:pPr>
            <a:r>
              <a:rPr lang="en-US" sz="1250" dirty="0">
                <a:solidFill>
                  <a:srgbClr val="4B5A56"/>
                </a:solidFill>
                <a:latin typeface="Calibri" pitchFamily="34" charset="0"/>
                <a:ea typeface="Calibri" pitchFamily="34" charset="-122"/>
                <a:cs typeface="Calibri" pitchFamily="34" charset="-120"/>
              </a:rPr>
              <a:t>и 8 разделов шкалы</a:t>
            </a:r>
            <a:endParaRPr lang="en-US" sz="1250" dirty="0"/>
          </a:p>
        </p:txBody>
      </p:sp>
      <p:sp>
        <p:nvSpPr>
          <p:cNvPr id="9" name="Text 6"/>
          <p:cNvSpPr txBox="1"/>
          <p:nvPr/>
        </p:nvSpPr>
        <p:spPr>
          <a:xfrm>
            <a:off x="6355080" y="1481328"/>
            <a:ext cx="2560320" cy="640080"/>
          </a:xfrm>
          <a:prstGeom prst="rect">
            <a:avLst/>
          </a:prstGeom>
          <a:noFill/>
          <a:ln/>
        </p:spPr>
        <p:txBody>
          <a:bodyPr wrap="square" lIns="0" tIns="0" rIns="0" bIns="0" rtlCol="0" anchor="t"/>
          <a:lstStyle/>
          <a:p>
            <a:pPr indent="0" marL="0">
              <a:buNone/>
            </a:pPr>
            <a:r>
              <a:rPr lang="en-US" sz="3600" b="1" dirty="0">
                <a:solidFill>
                  <a:srgbClr val="1B5A55"/>
                </a:solidFill>
                <a:latin typeface="Cambria" pitchFamily="34" charset="0"/>
                <a:ea typeface="Cambria" pitchFamily="34" charset="-122"/>
                <a:cs typeface="Cambria" pitchFamily="34" charset="-120"/>
              </a:rPr>
              <a:t>143 / 143</a:t>
            </a:r>
            <a:endParaRPr lang="en-US" sz="3600" dirty="0"/>
          </a:p>
        </p:txBody>
      </p:sp>
      <p:sp>
        <p:nvSpPr>
          <p:cNvPr id="10" name="Text 7"/>
          <p:cNvSpPr txBox="1"/>
          <p:nvPr/>
        </p:nvSpPr>
        <p:spPr>
          <a:xfrm>
            <a:off x="6355080" y="2139696"/>
            <a:ext cx="2560320" cy="548640"/>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живых запроса:</a:t>
            </a:r>
            <a:endParaRPr lang="en-US" sz="1250" dirty="0"/>
          </a:p>
          <a:p>
            <a:pPr indent="0" marL="0">
              <a:buNone/>
            </a:pPr>
            <a:r>
              <a:rPr lang="en-US" sz="1250" dirty="0">
                <a:solidFill>
                  <a:srgbClr val="4B5A56"/>
                </a:solidFill>
                <a:latin typeface="Calibri" pitchFamily="34" charset="0"/>
                <a:ea typeface="Calibri" pitchFamily="34" charset="-122"/>
                <a:cs typeface="Calibri" pitchFamily="34" charset="-120"/>
              </a:rPr>
              <a:t>нужная статья в тройке</a:t>
            </a:r>
            <a:endParaRPr lang="en-US" sz="1250" dirty="0"/>
          </a:p>
        </p:txBody>
      </p:sp>
      <p:sp>
        <p:nvSpPr>
          <p:cNvPr id="11" name="Text 8"/>
          <p:cNvSpPr txBox="1"/>
          <p:nvPr/>
        </p:nvSpPr>
        <p:spPr>
          <a:xfrm>
            <a:off x="9052560" y="1481328"/>
            <a:ext cx="2560320" cy="640080"/>
          </a:xfrm>
          <a:prstGeom prst="rect">
            <a:avLst/>
          </a:prstGeom>
          <a:noFill/>
          <a:ln/>
        </p:spPr>
        <p:txBody>
          <a:bodyPr wrap="square" lIns="0" tIns="0" rIns="0" bIns="0" rtlCol="0" anchor="t"/>
          <a:lstStyle/>
          <a:p>
            <a:pPr indent="0" marL="0">
              <a:buNone/>
            </a:pPr>
            <a:r>
              <a:rPr lang="en-US" sz="3600" b="1" dirty="0">
                <a:solidFill>
                  <a:srgbClr val="1B5A55"/>
                </a:solidFill>
                <a:latin typeface="Cambria" pitchFamily="34" charset="0"/>
                <a:ea typeface="Cambria" pitchFamily="34" charset="-122"/>
                <a:cs typeface="Cambria" pitchFamily="34" charset="-120"/>
              </a:rPr>
              <a:t>143 / 143</a:t>
            </a:r>
            <a:endParaRPr lang="en-US" sz="3600" dirty="0"/>
          </a:p>
        </p:txBody>
      </p:sp>
      <p:sp>
        <p:nvSpPr>
          <p:cNvPr id="12" name="Text 9"/>
          <p:cNvSpPr txBox="1"/>
          <p:nvPr/>
        </p:nvSpPr>
        <p:spPr>
          <a:xfrm>
            <a:off x="9052560" y="2139696"/>
            <a:ext cx="2560320" cy="548640"/>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выдача бота и приложения</a:t>
            </a:r>
            <a:endParaRPr lang="en-US" sz="1250" dirty="0"/>
          </a:p>
          <a:p>
            <a:pPr indent="0" marL="0">
              <a:buNone/>
            </a:pPr>
            <a:r>
              <a:rPr lang="en-US" sz="1250" dirty="0">
                <a:solidFill>
                  <a:srgbClr val="4B5A56"/>
                </a:solidFill>
                <a:latin typeface="Calibri" pitchFamily="34" charset="0"/>
                <a:ea typeface="Calibri" pitchFamily="34" charset="-122"/>
                <a:cs typeface="Calibri" pitchFamily="34" charset="-120"/>
              </a:rPr>
              <a:t>совпадает построчно</a:t>
            </a:r>
            <a:endParaRPr lang="en-US" sz="1250" dirty="0"/>
          </a:p>
        </p:txBody>
      </p:sp>
      <p:sp>
        <p:nvSpPr>
          <p:cNvPr id="13" name="Shape 10"/>
          <p:cNvSpPr/>
          <p:nvPr/>
        </p:nvSpPr>
        <p:spPr>
          <a:xfrm>
            <a:off x="3657600" y="2880360"/>
            <a:ext cx="347472" cy="347472"/>
          </a:xfrm>
          <a:prstGeom prst="ellipse">
            <a:avLst/>
          </a:prstGeom>
          <a:solidFill>
            <a:srgbClr val="1B5A55"/>
          </a:solidFill>
          <a:ln w="12700">
            <a:solidFill>
              <a:srgbClr val="1B5A55"/>
            </a:solidFill>
            <a:prstDash val="solid"/>
          </a:ln>
        </p:spPr>
      </p:sp>
      <p:sp>
        <p:nvSpPr>
          <p:cNvPr id="14" name="Text 11"/>
          <p:cNvSpPr txBox="1"/>
          <p:nvPr/>
        </p:nvSpPr>
        <p:spPr>
          <a:xfrm>
            <a:off x="3657600" y="288036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5" name="Text 12"/>
          <p:cNvSpPr txBox="1"/>
          <p:nvPr/>
        </p:nvSpPr>
        <p:spPr>
          <a:xfrm>
            <a:off x="4160520" y="2898648"/>
            <a:ext cx="2011680" cy="320040"/>
          </a:xfrm>
          <a:prstGeom prst="rect">
            <a:avLst/>
          </a:prstGeom>
          <a:noFill/>
          <a:ln/>
        </p:spPr>
        <p:txBody>
          <a:bodyPr wrap="square" lIns="0" tIns="0" rIns="0" bIns="0" rtlCol="0" anchor="t"/>
          <a:lstStyle/>
          <a:p>
            <a:pPr indent="0" marL="0">
              <a:buNone/>
            </a:pPr>
            <a:r>
              <a:rPr lang="en-US" sz="1350" b="1" dirty="0">
                <a:solidFill>
                  <a:srgbClr val="14201E"/>
                </a:solidFill>
                <a:latin typeface="Calibri" pitchFamily="34" charset="0"/>
                <a:ea typeface="Calibri" pitchFamily="34" charset="-122"/>
                <a:cs typeface="Calibri" pitchFamily="34" charset="-120"/>
              </a:rPr>
              <a:t>Расширение</a:t>
            </a:r>
            <a:endParaRPr lang="en-US" sz="1350" dirty="0"/>
          </a:p>
        </p:txBody>
      </p:sp>
      <p:sp>
        <p:nvSpPr>
          <p:cNvPr id="16" name="Text 13"/>
          <p:cNvSpPr txBox="1"/>
          <p:nvPr/>
        </p:nvSpPr>
        <p:spPr>
          <a:xfrm>
            <a:off x="6172200" y="2898648"/>
            <a:ext cx="5468112" cy="731520"/>
          </a:xfrm>
          <a:prstGeom prst="rect">
            <a:avLst/>
          </a:prstGeom>
          <a:noFill/>
          <a:ln/>
        </p:spPr>
        <p:txBody>
          <a:bodyPr wrap="square" lIns="0" tIns="0" rIns="0" bIns="0" rtlCol="0" anchor="t"/>
          <a:lstStyle/>
          <a:p>
            <a:pPr indent="0" marL="0">
              <a:buNone/>
            </a:pPr>
            <a:r>
              <a:rPr lang="en-US" sz="1200" dirty="0">
                <a:solidFill>
                  <a:srgbClr val="4B5A56"/>
                </a:solidFill>
                <a:latin typeface="Calibri" pitchFamily="34" charset="0"/>
                <a:ea typeface="Calibri" pitchFamily="34" charset="-122"/>
                <a:cs typeface="Calibri" pitchFamily="34" charset="-120"/>
              </a:rPr>
              <a:t>109 синонимов и 47 оборотов: «памперсы» → абсорбирующее бельё, «врач на дом» → вызов врача</a:t>
            </a:r>
            <a:endParaRPr lang="en-US" sz="1200" dirty="0"/>
          </a:p>
        </p:txBody>
      </p:sp>
      <p:sp>
        <p:nvSpPr>
          <p:cNvPr id="17" name="Shape 14"/>
          <p:cNvSpPr/>
          <p:nvPr/>
        </p:nvSpPr>
        <p:spPr>
          <a:xfrm>
            <a:off x="3657600" y="3703320"/>
            <a:ext cx="347472" cy="347472"/>
          </a:xfrm>
          <a:prstGeom prst="ellipse">
            <a:avLst/>
          </a:prstGeom>
          <a:solidFill>
            <a:srgbClr val="1B5A55"/>
          </a:solidFill>
          <a:ln w="12700">
            <a:solidFill>
              <a:srgbClr val="1B5A55"/>
            </a:solidFill>
            <a:prstDash val="solid"/>
          </a:ln>
        </p:spPr>
      </p:sp>
      <p:sp>
        <p:nvSpPr>
          <p:cNvPr id="18" name="Text 15"/>
          <p:cNvSpPr txBox="1"/>
          <p:nvPr/>
        </p:nvSpPr>
        <p:spPr>
          <a:xfrm>
            <a:off x="3657600" y="3703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9" name="Text 16"/>
          <p:cNvSpPr txBox="1"/>
          <p:nvPr/>
        </p:nvSpPr>
        <p:spPr>
          <a:xfrm>
            <a:off x="4160520" y="3721608"/>
            <a:ext cx="2011680" cy="320040"/>
          </a:xfrm>
          <a:prstGeom prst="rect">
            <a:avLst/>
          </a:prstGeom>
          <a:noFill/>
          <a:ln/>
        </p:spPr>
        <p:txBody>
          <a:bodyPr wrap="square" lIns="0" tIns="0" rIns="0" bIns="0" rtlCol="0" anchor="t"/>
          <a:lstStyle/>
          <a:p>
            <a:pPr indent="0" marL="0">
              <a:buNone/>
            </a:pPr>
            <a:r>
              <a:rPr lang="en-US" sz="1350" b="1" dirty="0">
                <a:solidFill>
                  <a:srgbClr val="14201E"/>
                </a:solidFill>
                <a:latin typeface="Calibri" pitchFamily="34" charset="0"/>
                <a:ea typeface="Calibri" pitchFamily="34" charset="-122"/>
                <a:cs typeface="Calibri" pitchFamily="34" charset="-120"/>
              </a:rPr>
              <a:t>Основа слова</a:t>
            </a:r>
            <a:endParaRPr lang="en-US" sz="1350" dirty="0"/>
          </a:p>
        </p:txBody>
      </p:sp>
      <p:sp>
        <p:nvSpPr>
          <p:cNvPr id="20" name="Text 17"/>
          <p:cNvSpPr txBox="1"/>
          <p:nvPr/>
        </p:nvSpPr>
        <p:spPr>
          <a:xfrm>
            <a:off x="6172200" y="3721608"/>
            <a:ext cx="5468112" cy="731520"/>
          </a:xfrm>
          <a:prstGeom prst="rect">
            <a:avLst/>
          </a:prstGeom>
          <a:noFill/>
          <a:ln/>
        </p:spPr>
        <p:txBody>
          <a:bodyPr wrap="square" lIns="0" tIns="0" rIns="0" bIns="0" rtlCol="0" anchor="t"/>
          <a:lstStyle/>
          <a:p>
            <a:pPr indent="0" marL="0">
              <a:buNone/>
            </a:pPr>
            <a:r>
              <a:rPr lang="en-US" sz="1200" dirty="0">
                <a:solidFill>
                  <a:srgbClr val="4B5A56"/>
                </a:solidFill>
                <a:latin typeface="Calibri" pitchFamily="34" charset="0"/>
                <a:ea typeface="Calibri" pitchFamily="34" charset="-122"/>
                <a:cs typeface="Calibri" pitchFamily="34" charset="-120"/>
              </a:rPr>
              <a:t>58 окончаний отсекаются, берутся первые 5 букв; шум и слова короче 4 букв не учитываются</a:t>
            </a:r>
            <a:endParaRPr lang="en-US" sz="1200" dirty="0"/>
          </a:p>
        </p:txBody>
      </p:sp>
      <p:sp>
        <p:nvSpPr>
          <p:cNvPr id="21" name="Shape 18"/>
          <p:cNvSpPr/>
          <p:nvPr/>
        </p:nvSpPr>
        <p:spPr>
          <a:xfrm>
            <a:off x="3657600" y="4526280"/>
            <a:ext cx="347472" cy="347472"/>
          </a:xfrm>
          <a:prstGeom prst="ellipse">
            <a:avLst/>
          </a:prstGeom>
          <a:solidFill>
            <a:srgbClr val="1B5A55"/>
          </a:solidFill>
          <a:ln w="12700">
            <a:solidFill>
              <a:srgbClr val="1B5A55"/>
            </a:solidFill>
            <a:prstDash val="solid"/>
          </a:ln>
        </p:spPr>
      </p:sp>
      <p:sp>
        <p:nvSpPr>
          <p:cNvPr id="22" name="Text 19"/>
          <p:cNvSpPr txBox="1"/>
          <p:nvPr/>
        </p:nvSpPr>
        <p:spPr>
          <a:xfrm>
            <a:off x="3657600" y="45262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0"/>
          <p:cNvSpPr txBox="1"/>
          <p:nvPr/>
        </p:nvSpPr>
        <p:spPr>
          <a:xfrm>
            <a:off x="4160520" y="4544568"/>
            <a:ext cx="2011680" cy="320040"/>
          </a:xfrm>
          <a:prstGeom prst="rect">
            <a:avLst/>
          </a:prstGeom>
          <a:noFill/>
          <a:ln/>
        </p:spPr>
        <p:txBody>
          <a:bodyPr wrap="square" lIns="0" tIns="0" rIns="0" bIns="0" rtlCol="0" anchor="t"/>
          <a:lstStyle/>
          <a:p>
            <a:pPr indent="0" marL="0">
              <a:buNone/>
            </a:pPr>
            <a:r>
              <a:rPr lang="en-US" sz="1350" b="1" dirty="0">
                <a:solidFill>
                  <a:srgbClr val="14201E"/>
                </a:solidFill>
                <a:latin typeface="Calibri" pitchFamily="34" charset="0"/>
                <a:ea typeface="Calibri" pitchFamily="34" charset="-122"/>
                <a:cs typeface="Calibri" pitchFamily="34" charset="-120"/>
              </a:rPr>
              <a:t>Вес статьи</a:t>
            </a:r>
            <a:endParaRPr lang="en-US" sz="1350" dirty="0"/>
          </a:p>
        </p:txBody>
      </p:sp>
      <p:sp>
        <p:nvSpPr>
          <p:cNvPr id="24" name="Text 21"/>
          <p:cNvSpPr txBox="1"/>
          <p:nvPr/>
        </p:nvSpPr>
        <p:spPr>
          <a:xfrm>
            <a:off x="6172200" y="4544568"/>
            <a:ext cx="5468112" cy="731520"/>
          </a:xfrm>
          <a:prstGeom prst="rect">
            <a:avLst/>
          </a:prstGeom>
          <a:noFill/>
          <a:ln/>
        </p:spPr>
        <p:txBody>
          <a:bodyPr wrap="square" lIns="0" tIns="0" rIns="0" bIns="0" rtlCol="0" anchor="t"/>
          <a:lstStyle/>
          <a:p>
            <a:pPr indent="0" marL="0">
              <a:buNone/>
            </a:pPr>
            <a:r>
              <a:rPr lang="en-US" sz="1200" dirty="0">
                <a:solidFill>
                  <a:srgbClr val="4B5A56"/>
                </a:solidFill>
                <a:latin typeface="Calibri" pitchFamily="34" charset="0"/>
                <a:ea typeface="Calibri" pitchFamily="34" charset="-122"/>
                <a:cs typeface="Calibri" pitchFamily="34" charset="-120"/>
              </a:rPr>
              <a:t>Σ вес места × редкость^1,7 × (1 + 0,6·(k − 1)); место: ключи 5, заголовок 4, раздел 2, текст 1; редкость = ln(1 + N / df)</a:t>
            </a:r>
            <a:endParaRPr lang="en-US" sz="1200" dirty="0"/>
          </a:p>
        </p:txBody>
      </p:sp>
      <p:sp>
        <p:nvSpPr>
          <p:cNvPr id="25" name="Shape 22"/>
          <p:cNvSpPr/>
          <p:nvPr/>
        </p:nvSpPr>
        <p:spPr>
          <a:xfrm>
            <a:off x="3657600" y="5349240"/>
            <a:ext cx="347472" cy="347472"/>
          </a:xfrm>
          <a:prstGeom prst="ellipse">
            <a:avLst/>
          </a:prstGeom>
          <a:solidFill>
            <a:srgbClr val="1B5A55"/>
          </a:solidFill>
          <a:ln w="12700">
            <a:solidFill>
              <a:srgbClr val="1B5A55"/>
            </a:solidFill>
            <a:prstDash val="solid"/>
          </a:ln>
        </p:spPr>
      </p:sp>
      <p:sp>
        <p:nvSpPr>
          <p:cNvPr id="26" name="Text 23"/>
          <p:cNvSpPr txBox="1"/>
          <p:nvPr/>
        </p:nvSpPr>
        <p:spPr>
          <a:xfrm>
            <a:off x="3657600" y="534924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4"/>
          <p:cNvSpPr txBox="1"/>
          <p:nvPr/>
        </p:nvSpPr>
        <p:spPr>
          <a:xfrm>
            <a:off x="4160520" y="5367528"/>
            <a:ext cx="2011680" cy="320040"/>
          </a:xfrm>
          <a:prstGeom prst="rect">
            <a:avLst/>
          </a:prstGeom>
          <a:noFill/>
          <a:ln/>
        </p:spPr>
        <p:txBody>
          <a:bodyPr wrap="square" lIns="0" tIns="0" rIns="0" bIns="0" rtlCol="0" anchor="t"/>
          <a:lstStyle/>
          <a:p>
            <a:pPr indent="0" marL="0">
              <a:buNone/>
            </a:pPr>
            <a:r>
              <a:rPr lang="en-US" sz="1350" b="1" dirty="0">
                <a:solidFill>
                  <a:srgbClr val="14201E"/>
                </a:solidFill>
                <a:latin typeface="Calibri" pitchFamily="34" charset="0"/>
                <a:ea typeface="Calibri" pitchFamily="34" charset="-122"/>
                <a:cs typeface="Calibri" pitchFamily="34" charset="-120"/>
              </a:rPr>
              <a:t>Надбавка и порог</a:t>
            </a:r>
            <a:endParaRPr lang="en-US" sz="1350" dirty="0"/>
          </a:p>
        </p:txBody>
      </p:sp>
      <p:sp>
        <p:nvSpPr>
          <p:cNvPr id="28" name="Text 25"/>
          <p:cNvSpPr txBox="1"/>
          <p:nvPr/>
        </p:nvSpPr>
        <p:spPr>
          <a:xfrm>
            <a:off x="6172200" y="5367528"/>
            <a:ext cx="5468112" cy="731520"/>
          </a:xfrm>
          <a:prstGeom prst="rect">
            <a:avLst/>
          </a:prstGeom>
          <a:noFill/>
          <a:ln/>
        </p:spPr>
        <p:txBody>
          <a:bodyPr wrap="square" lIns="0" tIns="0" rIns="0" bIns="0" rtlCol="0" anchor="t"/>
          <a:lstStyle/>
          <a:p>
            <a:pPr indent="0" marL="0">
              <a:buNone/>
            </a:pPr>
            <a:r>
              <a:rPr lang="en-US" sz="1200" dirty="0">
                <a:solidFill>
                  <a:srgbClr val="4B5A56"/>
                </a:solidFill>
                <a:latin typeface="Calibri" pitchFamily="34" charset="0"/>
                <a:ea typeface="Calibri" pitchFamily="34" charset="-122"/>
                <a:cs typeface="Calibri" pitchFamily="34" charset="-120"/>
              </a:rPr>
              <a:t>×2,5, если все слова вопроса — в заголовке, ×1,6 — в ключах; ниже 9,0 статья не выдаётся: лучше промолчать, чем ответить не по делу</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5A55"/>
                </a:solidFill>
                <a:latin typeface="Calibri" pitchFamily="34" charset="0"/>
                <a:ea typeface="Calibri" pitchFamily="34" charset="-122"/>
                <a:cs typeface="Calibri" pitchFamily="34" charset="-120"/>
              </a:rPr>
              <a:t>БАЗА ЗНАНИЙ · СПРАВОЧНИК</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01E"/>
                </a:solidFill>
                <a:latin typeface="Cambria" pitchFamily="34" charset="0"/>
                <a:ea typeface="Cambria" pitchFamily="34" charset="-122"/>
                <a:cs typeface="Cambria" pitchFamily="34" charset="-120"/>
              </a:rPr>
              <a:t>243 статьи и 24 авторские иллюстрации</a:t>
            </a:r>
            <a:endParaRPr lang="en-US" sz="2800" dirty="0"/>
          </a:p>
        </p:txBody>
      </p:sp>
      <p:sp>
        <p:nvSpPr>
          <p:cNvPr id="4" name="Text 2"/>
          <p:cNvSpPr txBox="1"/>
          <p:nvPr/>
        </p:nvSpPr>
        <p:spPr>
          <a:xfrm>
            <a:off x="548640" y="6419088"/>
            <a:ext cx="7315200" cy="228600"/>
          </a:xfrm>
          <a:prstGeom prst="rect">
            <a:avLst/>
          </a:prstGeom>
          <a:noFill/>
          <a:ln/>
        </p:spPr>
        <p:txBody>
          <a:bodyPr wrap="square" lIns="0" tIns="0" rIns="0" bIns="0" rtlCol="0" anchor="t"/>
          <a:lstStyle/>
          <a:p>
            <a:pPr indent="0" marL="0">
              <a:buNone/>
            </a:pPr>
            <a:r>
              <a:rPr lang="en-US" sz="900" dirty="0">
                <a:solidFill>
                  <a:srgbClr val="748480"/>
                </a:solidFill>
                <a:latin typeface="Calibri" pitchFamily="34" charset="0"/>
                <a:ea typeface="Calibri" pitchFamily="34" charset="-122"/>
                <a:cs typeface="Calibri" pitchFamily="34" charset="-120"/>
              </a:rPr>
              <a:t>АНО «СДУТ» · листинг комплекса «Бот SDUT63 и мини-приложение»</a:t>
            </a:r>
            <a:endParaRPr lang="en-US" sz="900" dirty="0"/>
          </a:p>
        </p:txBody>
      </p:sp>
      <p:sp>
        <p:nvSpPr>
          <p:cNvPr id="5" name="Text 3"/>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900" dirty="0">
                <a:solidFill>
                  <a:srgbClr val="748480"/>
                </a:solidFill>
                <a:latin typeface="Calibri" pitchFamily="34" charset="0"/>
                <a:ea typeface="Calibri" pitchFamily="34" charset="-122"/>
                <a:cs typeface="Calibri" pitchFamily="34" charset="-120"/>
              </a:rPr>
              <a:t>17 / 22</a:t>
            </a:r>
            <a:endParaRPr lang="en-US" sz="900" dirty="0"/>
          </a:p>
        </p:txBody>
      </p:sp>
      <p:sp>
        <p:nvSpPr>
          <p:cNvPr id="6" name="Text 4"/>
          <p:cNvSpPr txBox="1"/>
          <p:nvPr/>
        </p:nvSpPr>
        <p:spPr>
          <a:xfrm>
            <a:off x="548640" y="1508760"/>
            <a:ext cx="4572000" cy="1371600"/>
          </a:xfrm>
          <a:prstGeom prst="rect">
            <a:avLst/>
          </a:prstGeom>
          <a:noFill/>
          <a:ln/>
        </p:spPr>
        <p:txBody>
          <a:bodyPr wrap="square" lIns="0" tIns="0" rIns="0" bIns="0" rtlCol="0" anchor="t"/>
          <a:lstStyle/>
          <a:p>
            <a:pPr indent="0" marL="0">
              <a:buNone/>
            </a:pPr>
            <a:r>
              <a:rPr lang="en-US" sz="1400" dirty="0">
                <a:solidFill>
                  <a:srgbClr val="4B5A56"/>
                </a:solidFill>
                <a:latin typeface="Calibri" pitchFamily="34" charset="0"/>
                <a:ea typeface="Calibri" pitchFamily="34" charset="-122"/>
                <a:cs typeface="Calibri" pitchFamily="34" charset="-120"/>
              </a:rPr>
              <a:t>Справочник службы перенесён в базу знаний: вместо длинного полотна — поиск, темы и иллюстрации сохранены. Бот и приложение отвечают по одним и тем же текстам.</a:t>
            </a:r>
            <a:endParaRPr lang="en-US" sz="1400" dirty="0"/>
          </a:p>
        </p:txBody>
      </p:sp>
      <p:sp>
        <p:nvSpPr>
          <p:cNvPr id="7" name="Text 5"/>
          <p:cNvSpPr txBox="1"/>
          <p:nvPr/>
        </p:nvSpPr>
        <p:spPr>
          <a:xfrm>
            <a:off x="548640" y="2971800"/>
            <a:ext cx="4572000" cy="292608"/>
          </a:xfrm>
          <a:prstGeom prst="rect">
            <a:avLst/>
          </a:prstGeom>
          <a:noFill/>
          <a:ln/>
        </p:spPr>
        <p:txBody>
          <a:bodyPr wrap="square" lIns="0" tIns="0" rIns="0" bIns="0" rtlCol="0" anchor="t"/>
          <a:lstStyle/>
          <a:p>
            <a:pPr indent="0" marL="0">
              <a:buNone/>
            </a:pPr>
            <a:r>
              <a:rPr lang="en-US" sz="1300" b="1" dirty="0">
                <a:solidFill>
                  <a:srgbClr val="1B5A55"/>
                </a:solidFill>
                <a:latin typeface="Calibri" pitchFamily="34" charset="0"/>
                <a:ea typeface="Calibri" pitchFamily="34" charset="-122"/>
                <a:cs typeface="Calibri" pitchFamily="34" charset="-120"/>
              </a:rPr>
              <a:t>Ветви карты тем в боте</a:t>
            </a:r>
            <a:endParaRPr lang="en-US" sz="1300" dirty="0"/>
          </a:p>
        </p:txBody>
      </p:sp>
      <p:sp>
        <p:nvSpPr>
          <p:cNvPr id="8" name="Text 6"/>
          <p:cNvSpPr txBox="1"/>
          <p:nvPr/>
        </p:nvSpPr>
        <p:spPr>
          <a:xfrm>
            <a:off x="548640" y="3310128"/>
            <a:ext cx="4663440" cy="2377440"/>
          </a:xfrm>
          <a:prstGeom prst="rect">
            <a:avLst/>
          </a:prstGeom>
          <a:noFill/>
          <a:ln/>
        </p:spPr>
        <p:txBody>
          <a:bodyPr wrap="square" lIns="0" tIns="0" rIns="0" bIns="0" rtlCol="0" anchor="t"/>
          <a:lstStyle/>
          <a:p>
            <a:pPr indent="0" marL="0">
              <a:spcAft>
                <a:spcPts val="500"/>
              </a:spcAft>
              <a:buNone/>
            </a:pPr>
            <a:r>
              <a:rPr lang="en-US" sz="1200" dirty="0">
                <a:solidFill>
                  <a:srgbClr val="14201E"/>
                </a:solidFill>
                <a:latin typeface="Calibri" pitchFamily="34" charset="0"/>
                <a:ea typeface="Calibri" pitchFamily="34" charset="-122"/>
                <a:cs typeface="Calibri" pitchFamily="34" charset="-120"/>
              </a:rPr>
              <a:t>Плохо прямо сейчас  ·  Уход дома: что делать руками</a:t>
            </a:r>
            <a:endParaRPr lang="en-US" sz="1200" dirty="0"/>
          </a:p>
          <a:p>
            <a:pPr indent="0" marL="0">
              <a:spcAft>
                <a:spcPts val="500"/>
              </a:spcAft>
              <a:buNone/>
            </a:pPr>
            <a:r>
              <a:rPr lang="en-US" sz="1200" dirty="0">
                <a:solidFill>
                  <a:srgbClr val="14201E"/>
                </a:solidFill>
                <a:latin typeface="Calibri" pitchFamily="34" charset="0"/>
                <a:ea typeface="Calibri" pitchFamily="34" charset="-122"/>
                <a:cs typeface="Calibri" pitchFamily="34" charset="-120"/>
              </a:rPr>
              <a:t>Боль и тяжёлые симптомы  ·  Трубки, стомы и оборудование</a:t>
            </a:r>
            <a:endParaRPr lang="en-US" sz="1200" dirty="0"/>
          </a:p>
          <a:p>
            <a:pPr indent="0" marL="0">
              <a:spcAft>
                <a:spcPts val="500"/>
              </a:spcAft>
              <a:buNone/>
            </a:pPr>
            <a:r>
              <a:rPr lang="en-US" sz="1200" dirty="0">
                <a:solidFill>
                  <a:srgbClr val="14201E"/>
                </a:solidFill>
                <a:latin typeface="Calibri" pitchFamily="34" charset="0"/>
                <a:ea typeface="Calibri" pitchFamily="34" charset="-122"/>
                <a:cs typeface="Calibri" pitchFamily="34" charset="-120"/>
              </a:rPr>
              <a:t>Память и поведение  ·  Документы, льготы, сроки</a:t>
            </a:r>
            <a:endParaRPr lang="en-US" sz="1200" dirty="0"/>
          </a:p>
          <a:p>
            <a:pPr indent="0" marL="0">
              <a:spcAft>
                <a:spcPts val="500"/>
              </a:spcAft>
              <a:buNone/>
            </a:pPr>
            <a:r>
              <a:rPr lang="en-US" sz="1200" dirty="0">
                <a:solidFill>
                  <a:srgbClr val="14201E"/>
                </a:solidFill>
                <a:latin typeface="Calibri" pitchFamily="34" charset="0"/>
                <a:ea typeface="Calibri" pitchFamily="34" charset="-122"/>
                <a:cs typeface="Calibri" pitchFamily="34" charset="-120"/>
              </a:rPr>
              <a:t>Оценка и уровни  ·  Паллиативная помощь</a:t>
            </a:r>
            <a:endParaRPr lang="en-US" sz="1200" dirty="0"/>
          </a:p>
          <a:p>
            <a:pPr indent="0" marL="0">
              <a:spcAft>
                <a:spcPts val="500"/>
              </a:spcAft>
              <a:buNone/>
            </a:pPr>
            <a:r>
              <a:rPr lang="en-US" sz="1200" dirty="0">
                <a:solidFill>
                  <a:srgbClr val="14201E"/>
                </a:solidFill>
                <a:latin typeface="Calibri" pitchFamily="34" charset="0"/>
                <a:ea typeface="Calibri" pitchFamily="34" charset="-122"/>
                <a:cs typeface="Calibri" pitchFamily="34" charset="-120"/>
              </a:rPr>
              <a:t>Как мы работаем  ·  Мне самому тяжело</a:t>
            </a:r>
            <a:endParaRPr lang="en-US" sz="1200" dirty="0"/>
          </a:p>
        </p:txBody>
      </p:sp>
      <p:sp>
        <p:nvSpPr>
          <p:cNvPr id="9" name="Text 7"/>
          <p:cNvSpPr txBox="1"/>
          <p:nvPr/>
        </p:nvSpPr>
        <p:spPr>
          <a:xfrm>
            <a:off x="548640" y="5715000"/>
            <a:ext cx="4663440" cy="365760"/>
          </a:xfrm>
          <a:prstGeom prst="rect">
            <a:avLst/>
          </a:prstGeom>
          <a:noFill/>
          <a:ln/>
        </p:spPr>
        <p:txBody>
          <a:bodyPr wrap="square" lIns="0" tIns="0" rIns="0" bIns="0" rtlCol="0" anchor="t"/>
          <a:lstStyle/>
          <a:p>
            <a:pPr indent="0" marL="0">
              <a:buNone/>
            </a:pPr>
            <a:r>
              <a:rPr lang="en-US" sz="1100" i="1" dirty="0">
                <a:solidFill>
                  <a:srgbClr val="748480"/>
                </a:solidFill>
                <a:latin typeface="Calibri" pitchFamily="34" charset="0"/>
                <a:ea typeface="Calibri" pitchFamily="34" charset="-122"/>
                <a:cs typeface="Calibri" pitchFamily="34" charset="-120"/>
              </a:rPr>
              <a:t>и ещё две: «Помогут ли нам», «Куда идти и с чего начать»</a:t>
            </a:r>
            <a:endParaRPr lang="en-US" sz="1100" dirty="0"/>
          </a:p>
        </p:txBody>
      </p:sp>
      <p:pic>
        <p:nvPicPr>
          <p:cNvPr id="10" name="Image 0" descr="Иллюстрация справочника СДУТ">    </p:cNvPr>
          <p:cNvPicPr>
            <a:picLocks noChangeAspect="1"/>
          </p:cNvPicPr>
          <p:nvPr/>
        </p:nvPicPr>
        <p:blipFill>
          <a:blip r:embed="rId1"/>
          <a:stretch>
            <a:fillRect/>
          </a:stretch>
        </p:blipFill>
        <p:spPr>
          <a:xfrm>
            <a:off x="5669280" y="1508760"/>
            <a:ext cx="2148840" cy="2148840"/>
          </a:xfrm>
          <a:prstGeom prst="rect">
            <a:avLst/>
          </a:prstGeom>
        </p:spPr>
      </p:pic>
      <p:sp>
        <p:nvSpPr>
          <p:cNvPr id="11" name="Shape 8"/>
          <p:cNvSpPr/>
          <p:nvPr/>
        </p:nvSpPr>
        <p:spPr>
          <a:xfrm>
            <a:off x="5669280" y="1508760"/>
            <a:ext cx="2148840" cy="2148840"/>
          </a:xfrm>
          <a:prstGeom prst="rect">
            <a:avLst/>
          </a:prstGeom>
          <a:ln w="9525">
            <a:solidFill>
              <a:srgbClr val="E4EAE7"/>
            </a:solidFill>
            <a:prstDash val="solid"/>
          </a:ln>
        </p:spPr>
      </p:sp>
      <p:pic>
        <p:nvPicPr>
          <p:cNvPr id="12" name="Image 1" descr="Иллюстрация справочника СДУТ">    </p:cNvPr>
          <p:cNvPicPr>
            <a:picLocks noChangeAspect="1"/>
          </p:cNvPicPr>
          <p:nvPr/>
        </p:nvPicPr>
        <p:blipFill>
          <a:blip r:embed="rId2"/>
          <a:stretch>
            <a:fillRect/>
          </a:stretch>
        </p:blipFill>
        <p:spPr>
          <a:xfrm>
            <a:off x="8001000" y="1508760"/>
            <a:ext cx="1719072" cy="2148840"/>
          </a:xfrm>
          <a:prstGeom prst="rect">
            <a:avLst/>
          </a:prstGeom>
        </p:spPr>
      </p:pic>
      <p:sp>
        <p:nvSpPr>
          <p:cNvPr id="13" name="Shape 9"/>
          <p:cNvSpPr/>
          <p:nvPr/>
        </p:nvSpPr>
        <p:spPr>
          <a:xfrm>
            <a:off x="8001000" y="1508760"/>
            <a:ext cx="1719072" cy="2148840"/>
          </a:xfrm>
          <a:prstGeom prst="rect">
            <a:avLst/>
          </a:prstGeom>
          <a:ln w="9525">
            <a:solidFill>
              <a:srgbClr val="E4EAE7"/>
            </a:solidFill>
            <a:prstDash val="solid"/>
          </a:ln>
        </p:spPr>
      </p:sp>
      <p:pic>
        <p:nvPicPr>
          <p:cNvPr id="14" name="Image 2" descr="Иллюстрация справочника СДУТ">    </p:cNvPr>
          <p:cNvPicPr>
            <a:picLocks noChangeAspect="1"/>
          </p:cNvPicPr>
          <p:nvPr/>
        </p:nvPicPr>
        <p:blipFill>
          <a:blip r:embed="rId3"/>
          <a:stretch>
            <a:fillRect/>
          </a:stretch>
        </p:blipFill>
        <p:spPr>
          <a:xfrm>
            <a:off x="9902952" y="1508760"/>
            <a:ext cx="1719072" cy="2148840"/>
          </a:xfrm>
          <a:prstGeom prst="rect">
            <a:avLst/>
          </a:prstGeom>
        </p:spPr>
      </p:pic>
      <p:sp>
        <p:nvSpPr>
          <p:cNvPr id="15" name="Shape 10"/>
          <p:cNvSpPr/>
          <p:nvPr/>
        </p:nvSpPr>
        <p:spPr>
          <a:xfrm>
            <a:off x="9902952" y="1508760"/>
            <a:ext cx="1719072" cy="2148840"/>
          </a:xfrm>
          <a:prstGeom prst="rect">
            <a:avLst/>
          </a:prstGeom>
          <a:ln w="9525">
            <a:solidFill>
              <a:srgbClr val="E4EAE7"/>
            </a:solidFill>
            <a:prstDash val="solid"/>
          </a:ln>
        </p:spPr>
      </p:sp>
      <p:pic>
        <p:nvPicPr>
          <p:cNvPr id="16" name="Image 3" descr="Иллюстрация справочника СДУТ">    </p:cNvPr>
          <p:cNvPicPr>
            <a:picLocks noChangeAspect="1"/>
          </p:cNvPicPr>
          <p:nvPr/>
        </p:nvPicPr>
        <p:blipFill>
          <a:blip r:embed="rId4"/>
          <a:stretch>
            <a:fillRect/>
          </a:stretch>
        </p:blipFill>
        <p:spPr>
          <a:xfrm>
            <a:off x="5669280" y="3886200"/>
            <a:ext cx="2148840" cy="2148840"/>
          </a:xfrm>
          <a:prstGeom prst="rect">
            <a:avLst/>
          </a:prstGeom>
        </p:spPr>
      </p:pic>
      <p:sp>
        <p:nvSpPr>
          <p:cNvPr id="17" name="Shape 11"/>
          <p:cNvSpPr/>
          <p:nvPr/>
        </p:nvSpPr>
        <p:spPr>
          <a:xfrm>
            <a:off x="5669280" y="3886200"/>
            <a:ext cx="2148840" cy="2148840"/>
          </a:xfrm>
          <a:prstGeom prst="rect">
            <a:avLst/>
          </a:prstGeom>
          <a:ln w="9525">
            <a:solidFill>
              <a:srgbClr val="E4EAE7"/>
            </a:solidFill>
            <a:prstDash val="solid"/>
          </a:ln>
        </p:spPr>
      </p:sp>
      <p:pic>
        <p:nvPicPr>
          <p:cNvPr id="18" name="Image 4" descr="Иллюстрация справочника СДУТ">    </p:cNvPr>
          <p:cNvPicPr>
            <a:picLocks noChangeAspect="1"/>
          </p:cNvPicPr>
          <p:nvPr/>
        </p:nvPicPr>
        <p:blipFill>
          <a:blip r:embed="rId5"/>
          <a:stretch>
            <a:fillRect/>
          </a:stretch>
        </p:blipFill>
        <p:spPr>
          <a:xfrm>
            <a:off x="8001000" y="3886200"/>
            <a:ext cx="1719072" cy="2148840"/>
          </a:xfrm>
          <a:prstGeom prst="rect">
            <a:avLst/>
          </a:prstGeom>
        </p:spPr>
      </p:pic>
      <p:sp>
        <p:nvSpPr>
          <p:cNvPr id="19" name="Shape 12"/>
          <p:cNvSpPr/>
          <p:nvPr/>
        </p:nvSpPr>
        <p:spPr>
          <a:xfrm>
            <a:off x="8001000" y="3886200"/>
            <a:ext cx="1719072" cy="2148840"/>
          </a:xfrm>
          <a:prstGeom prst="rect">
            <a:avLst/>
          </a:prstGeom>
          <a:ln w="9525">
            <a:solidFill>
              <a:srgbClr val="E4EAE7"/>
            </a:solidFill>
            <a:prstDash val="solid"/>
          </a:ln>
        </p:spPr>
      </p:sp>
      <p:pic>
        <p:nvPicPr>
          <p:cNvPr id="20" name="Image 5" descr="Иллюстрация справочника СДУТ">    </p:cNvPr>
          <p:cNvPicPr>
            <a:picLocks noChangeAspect="1"/>
          </p:cNvPicPr>
          <p:nvPr/>
        </p:nvPicPr>
        <p:blipFill>
          <a:blip r:embed="rId6"/>
          <a:stretch>
            <a:fillRect/>
          </a:stretch>
        </p:blipFill>
        <p:spPr>
          <a:xfrm>
            <a:off x="9902952" y="3886200"/>
            <a:ext cx="1611630" cy="2148840"/>
          </a:xfrm>
          <a:prstGeom prst="rect">
            <a:avLst/>
          </a:prstGeom>
        </p:spPr>
      </p:pic>
      <p:sp>
        <p:nvSpPr>
          <p:cNvPr id="21" name="Shape 13"/>
          <p:cNvSpPr/>
          <p:nvPr/>
        </p:nvSpPr>
        <p:spPr>
          <a:xfrm>
            <a:off x="9902952" y="3886200"/>
            <a:ext cx="1611630" cy="2148840"/>
          </a:xfrm>
          <a:prstGeom prst="rect">
            <a:avLst/>
          </a:prstGeom>
          <a:ln w="9525">
            <a:solidFill>
              <a:srgbClr val="E4EAE7"/>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5A55"/>
                </a:solidFill>
                <a:latin typeface="Calibri" pitchFamily="34" charset="0"/>
                <a:ea typeface="Calibri" pitchFamily="34" charset="-122"/>
                <a:cs typeface="Calibri" pitchFamily="34" charset="-120"/>
              </a:rPr>
              <a:t>НАДЁЖНОСТЬ</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01E"/>
                </a:solidFill>
                <a:latin typeface="Cambria" pitchFamily="34" charset="0"/>
                <a:ea typeface="Cambria" pitchFamily="34" charset="-122"/>
                <a:cs typeface="Cambria" pitchFamily="34" charset="-120"/>
              </a:rPr>
              <a:t>Проверено не только тестами, но и нагрузкой</a:t>
            </a:r>
            <a:endParaRPr lang="en-US" sz="2800" dirty="0"/>
          </a:p>
        </p:txBody>
      </p:sp>
      <p:sp>
        <p:nvSpPr>
          <p:cNvPr id="4" name="Text 2"/>
          <p:cNvSpPr txBox="1"/>
          <p:nvPr/>
        </p:nvSpPr>
        <p:spPr>
          <a:xfrm>
            <a:off x="548640" y="6419088"/>
            <a:ext cx="7315200" cy="228600"/>
          </a:xfrm>
          <a:prstGeom prst="rect">
            <a:avLst/>
          </a:prstGeom>
          <a:noFill/>
          <a:ln/>
        </p:spPr>
        <p:txBody>
          <a:bodyPr wrap="square" lIns="0" tIns="0" rIns="0" bIns="0" rtlCol="0" anchor="t"/>
          <a:lstStyle/>
          <a:p>
            <a:pPr indent="0" marL="0">
              <a:buNone/>
            </a:pPr>
            <a:r>
              <a:rPr lang="en-US" sz="900" dirty="0">
                <a:solidFill>
                  <a:srgbClr val="748480"/>
                </a:solidFill>
                <a:latin typeface="Calibri" pitchFamily="34" charset="0"/>
                <a:ea typeface="Calibri" pitchFamily="34" charset="-122"/>
                <a:cs typeface="Calibri" pitchFamily="34" charset="-120"/>
              </a:rPr>
              <a:t>АНО «СДУТ» · листинг комплекса «Бот SDUT63 и мини-приложение»</a:t>
            </a:r>
            <a:endParaRPr lang="en-US" sz="900" dirty="0"/>
          </a:p>
        </p:txBody>
      </p:sp>
      <p:sp>
        <p:nvSpPr>
          <p:cNvPr id="5" name="Text 3"/>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900" dirty="0">
                <a:solidFill>
                  <a:srgbClr val="748480"/>
                </a:solidFill>
                <a:latin typeface="Calibri" pitchFamily="34" charset="0"/>
                <a:ea typeface="Calibri" pitchFamily="34" charset="-122"/>
                <a:cs typeface="Calibri" pitchFamily="34" charset="-120"/>
              </a:rPr>
              <a:t>18 / 22</a:t>
            </a:r>
            <a:endParaRPr lang="en-US" sz="900" dirty="0"/>
          </a:p>
        </p:txBody>
      </p:sp>
      <p:sp>
        <p:nvSpPr>
          <p:cNvPr id="6" name="Text 4"/>
          <p:cNvSpPr txBox="1"/>
          <p:nvPr/>
        </p:nvSpPr>
        <p:spPr>
          <a:xfrm>
            <a:off x="548640" y="1508760"/>
            <a:ext cx="2651760" cy="640080"/>
          </a:xfrm>
          <a:prstGeom prst="rect">
            <a:avLst/>
          </a:prstGeom>
          <a:noFill/>
          <a:ln/>
        </p:spPr>
        <p:txBody>
          <a:bodyPr wrap="square" lIns="0" tIns="0" rIns="0" bIns="0" rtlCol="0" anchor="t"/>
          <a:lstStyle/>
          <a:p>
            <a:pPr indent="0" marL="0">
              <a:buNone/>
            </a:pPr>
            <a:r>
              <a:rPr lang="en-US" sz="3600" b="1" dirty="0">
                <a:solidFill>
                  <a:srgbClr val="1B5A55"/>
                </a:solidFill>
                <a:latin typeface="Cambria" pitchFamily="34" charset="0"/>
                <a:ea typeface="Cambria" pitchFamily="34" charset="-122"/>
                <a:cs typeface="Cambria" pitchFamily="34" charset="-120"/>
              </a:rPr>
              <a:t>1 255</a:t>
            </a:r>
            <a:endParaRPr lang="en-US" sz="3600" dirty="0"/>
          </a:p>
        </p:txBody>
      </p:sp>
      <p:sp>
        <p:nvSpPr>
          <p:cNvPr id="7" name="Text 5"/>
          <p:cNvSpPr txBox="1"/>
          <p:nvPr/>
        </p:nvSpPr>
        <p:spPr>
          <a:xfrm>
            <a:off x="548640" y="2167128"/>
            <a:ext cx="2651760" cy="548640"/>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автоматических проверок</a:t>
            </a:r>
            <a:endParaRPr lang="en-US" sz="1250" dirty="0"/>
          </a:p>
          <a:p>
            <a:pPr indent="0" marL="0">
              <a:buNone/>
            </a:pPr>
            <a:r>
              <a:rPr lang="en-US" sz="1250" dirty="0">
                <a:solidFill>
                  <a:srgbClr val="4B5A56"/>
                </a:solidFill>
                <a:latin typeface="Calibri" pitchFamily="34" charset="0"/>
                <a:ea typeface="Calibri" pitchFamily="34" charset="-122"/>
                <a:cs typeface="Calibri" pitchFamily="34" charset="-120"/>
              </a:rPr>
              <a:t>проходят</a:t>
            </a:r>
            <a:endParaRPr lang="en-US" sz="1250" dirty="0"/>
          </a:p>
        </p:txBody>
      </p:sp>
      <p:sp>
        <p:nvSpPr>
          <p:cNvPr id="8" name="Text 6"/>
          <p:cNvSpPr txBox="1"/>
          <p:nvPr/>
        </p:nvSpPr>
        <p:spPr>
          <a:xfrm>
            <a:off x="3355848" y="1508760"/>
            <a:ext cx="2651760" cy="640080"/>
          </a:xfrm>
          <a:prstGeom prst="rect">
            <a:avLst/>
          </a:prstGeom>
          <a:noFill/>
          <a:ln/>
        </p:spPr>
        <p:txBody>
          <a:bodyPr wrap="square" lIns="0" tIns="0" rIns="0" bIns="0" rtlCol="0" anchor="t"/>
          <a:lstStyle/>
          <a:p>
            <a:pPr indent="0" marL="0">
              <a:buNone/>
            </a:pPr>
            <a:r>
              <a:rPr lang="en-US" sz="3600" b="1" dirty="0">
                <a:solidFill>
                  <a:srgbClr val="1B5A55"/>
                </a:solidFill>
                <a:latin typeface="Cambria" pitchFamily="34" charset="0"/>
                <a:ea typeface="Cambria" pitchFamily="34" charset="-122"/>
                <a:cs typeface="Cambria" pitchFamily="34" charset="-120"/>
              </a:rPr>
              <a:t>250</a:t>
            </a:r>
            <a:endParaRPr lang="en-US" sz="3600" dirty="0"/>
          </a:p>
        </p:txBody>
      </p:sp>
      <p:sp>
        <p:nvSpPr>
          <p:cNvPr id="9" name="Text 7"/>
          <p:cNvSpPr txBox="1"/>
          <p:nvPr/>
        </p:nvSpPr>
        <p:spPr>
          <a:xfrm>
            <a:off x="3355848" y="2167128"/>
            <a:ext cx="2651760" cy="548640"/>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человек пишут одновременно:</a:t>
            </a:r>
            <a:endParaRPr lang="en-US" sz="1250" dirty="0"/>
          </a:p>
          <a:p>
            <a:pPr indent="0" marL="0">
              <a:buNone/>
            </a:pPr>
            <a:r>
              <a:rPr lang="en-US" sz="1250" dirty="0">
                <a:solidFill>
                  <a:srgbClr val="4B5A56"/>
                </a:solidFill>
                <a:latin typeface="Calibri" pitchFamily="34" charset="0"/>
                <a:ea typeface="Calibri" pitchFamily="34" charset="-122"/>
                <a:cs typeface="Calibri" pitchFamily="34" charset="-120"/>
              </a:rPr>
              <a:t>162 сообщения в секунду без потерь</a:t>
            </a:r>
            <a:endParaRPr lang="en-US" sz="1250" dirty="0"/>
          </a:p>
        </p:txBody>
      </p:sp>
      <p:sp>
        <p:nvSpPr>
          <p:cNvPr id="10" name="Text 8"/>
          <p:cNvSpPr txBox="1"/>
          <p:nvPr/>
        </p:nvSpPr>
        <p:spPr>
          <a:xfrm>
            <a:off x="6163056" y="1508760"/>
            <a:ext cx="2651760" cy="640080"/>
          </a:xfrm>
          <a:prstGeom prst="rect">
            <a:avLst/>
          </a:prstGeom>
          <a:noFill/>
          <a:ln/>
        </p:spPr>
        <p:txBody>
          <a:bodyPr wrap="square" lIns="0" tIns="0" rIns="0" bIns="0" rtlCol="0" anchor="t"/>
          <a:lstStyle/>
          <a:p>
            <a:pPr indent="0" marL="0">
              <a:buNone/>
            </a:pPr>
            <a:r>
              <a:rPr lang="en-US" sz="3600" b="1" dirty="0">
                <a:solidFill>
                  <a:srgbClr val="1B5A55"/>
                </a:solidFill>
                <a:latin typeface="Cambria" pitchFamily="34" charset="0"/>
                <a:ea typeface="Cambria" pitchFamily="34" charset="-122"/>
                <a:cs typeface="Cambria" pitchFamily="34" charset="-120"/>
              </a:rPr>
              <a:t>0</a:t>
            </a:r>
            <a:endParaRPr lang="en-US" sz="3600" dirty="0"/>
          </a:p>
        </p:txBody>
      </p:sp>
      <p:sp>
        <p:nvSpPr>
          <p:cNvPr id="11" name="Text 9"/>
          <p:cNvSpPr txBox="1"/>
          <p:nvPr/>
        </p:nvSpPr>
        <p:spPr>
          <a:xfrm>
            <a:off x="6163056" y="2167128"/>
            <a:ext cx="2651760" cy="548640"/>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опасных находок</a:t>
            </a:r>
            <a:endParaRPr lang="en-US" sz="1250" dirty="0"/>
          </a:p>
          <a:p>
            <a:pPr indent="0" marL="0">
              <a:buNone/>
            </a:pPr>
            <a:r>
              <a:rPr lang="en-US" sz="1250" dirty="0">
                <a:solidFill>
                  <a:srgbClr val="4B5A56"/>
                </a:solidFill>
                <a:latin typeface="Calibri" pitchFamily="34" charset="0"/>
                <a:ea typeface="Calibri" pitchFamily="34" charset="-122"/>
                <a:cs typeface="Calibri" pitchFamily="34" charset="-120"/>
              </a:rPr>
              <a:t>на стенде уязвимостей</a:t>
            </a:r>
            <a:endParaRPr lang="en-US" sz="1250" dirty="0"/>
          </a:p>
        </p:txBody>
      </p:sp>
      <p:sp>
        <p:nvSpPr>
          <p:cNvPr id="12" name="Text 10"/>
          <p:cNvSpPr txBox="1"/>
          <p:nvPr/>
        </p:nvSpPr>
        <p:spPr>
          <a:xfrm>
            <a:off x="8970264" y="1508760"/>
            <a:ext cx="2651760" cy="640080"/>
          </a:xfrm>
          <a:prstGeom prst="rect">
            <a:avLst/>
          </a:prstGeom>
          <a:noFill/>
          <a:ln/>
        </p:spPr>
        <p:txBody>
          <a:bodyPr wrap="square" lIns="0" tIns="0" rIns="0" bIns="0" rtlCol="0" anchor="t"/>
          <a:lstStyle/>
          <a:p>
            <a:pPr indent="0" marL="0">
              <a:buNone/>
            </a:pPr>
            <a:r>
              <a:rPr lang="en-US" sz="3600" b="1" dirty="0">
                <a:solidFill>
                  <a:srgbClr val="1B5A55"/>
                </a:solidFill>
                <a:latin typeface="Cambria" pitchFamily="34" charset="0"/>
                <a:ea typeface="Cambria" pitchFamily="34" charset="-122"/>
                <a:cs typeface="Cambria" pitchFamily="34" charset="-120"/>
              </a:rPr>
              <a:t>11 / 11</a:t>
            </a:r>
            <a:endParaRPr lang="en-US" sz="3600" dirty="0"/>
          </a:p>
        </p:txBody>
      </p:sp>
      <p:sp>
        <p:nvSpPr>
          <p:cNvPr id="13" name="Text 11"/>
          <p:cNvSpPr txBox="1"/>
          <p:nvPr/>
        </p:nvSpPr>
        <p:spPr>
          <a:xfrm>
            <a:off x="8970264" y="2167128"/>
            <a:ext cx="2651760" cy="548640"/>
          </a:xfrm>
          <a:prstGeom prst="rect">
            <a:avLst/>
          </a:prstGeom>
          <a:noFill/>
          <a:ln/>
        </p:spPr>
        <p:txBody>
          <a:bodyPr wrap="square" lIns="0" tIns="0" rIns="0" bIns="0" rtlCol="0" anchor="t"/>
          <a:lstStyle/>
          <a:p>
            <a:pPr indent="0" marL="0">
              <a:buNone/>
            </a:pPr>
            <a:r>
              <a:rPr lang="en-US" sz="1250" dirty="0">
                <a:solidFill>
                  <a:srgbClr val="4B5A56"/>
                </a:solidFill>
                <a:latin typeface="Calibri" pitchFamily="34" charset="0"/>
                <a:ea typeface="Calibri" pitchFamily="34" charset="-122"/>
                <a:cs typeface="Calibri" pitchFamily="34" charset="-120"/>
              </a:rPr>
              <a:t>эталонных случаев</a:t>
            </a:r>
            <a:endParaRPr lang="en-US" sz="1250" dirty="0"/>
          </a:p>
          <a:p>
            <a:pPr indent="0" marL="0">
              <a:buNone/>
            </a:pPr>
            <a:r>
              <a:rPr lang="en-US" sz="1250" dirty="0">
                <a:solidFill>
                  <a:srgbClr val="4B5A56"/>
                </a:solidFill>
                <a:latin typeface="Calibri" pitchFamily="34" charset="0"/>
                <a:ea typeface="Calibri" pitchFamily="34" charset="-122"/>
                <a:cs typeface="Calibri" pitchFamily="34" charset="-120"/>
              </a:rPr>
              <a:t>маршрутизации</a:t>
            </a:r>
            <a:endParaRPr lang="en-US" sz="1250" dirty="0"/>
          </a:p>
        </p:txBody>
      </p:sp>
      <p:sp>
        <p:nvSpPr>
          <p:cNvPr id="14" name="Shape 12"/>
          <p:cNvSpPr/>
          <p:nvPr/>
        </p:nvSpPr>
        <p:spPr>
          <a:xfrm>
            <a:off x="548640" y="2880360"/>
            <a:ext cx="11094415" cy="0"/>
          </a:xfrm>
          <a:prstGeom prst="line">
            <a:avLst/>
          </a:prstGeom>
          <a:noFill/>
          <a:ln w="12700">
            <a:solidFill>
              <a:srgbClr val="E4EAE7"/>
            </a:solidFill>
            <a:prstDash val="solid"/>
          </a:ln>
        </p:spPr>
      </p:sp>
      <p:sp>
        <p:nvSpPr>
          <p:cNvPr id="15" name="Text 13"/>
          <p:cNvSpPr txBox="1"/>
          <p:nvPr/>
        </p:nvSpPr>
        <p:spPr>
          <a:xfrm>
            <a:off x="548640" y="3063240"/>
            <a:ext cx="5486400" cy="320040"/>
          </a:xfrm>
          <a:prstGeom prst="rect">
            <a:avLst/>
          </a:prstGeom>
          <a:noFill/>
          <a:ln/>
        </p:spPr>
        <p:txBody>
          <a:bodyPr wrap="square" lIns="0" tIns="0" rIns="0" bIns="0" rtlCol="0" anchor="t"/>
          <a:lstStyle/>
          <a:p>
            <a:pPr indent="0" marL="0">
              <a:buNone/>
            </a:pPr>
            <a:r>
              <a:rPr lang="en-US" sz="1400" b="1" dirty="0">
                <a:solidFill>
                  <a:srgbClr val="1B5A55"/>
                </a:solidFill>
                <a:latin typeface="Calibri" pitchFamily="34" charset="0"/>
                <a:ea typeface="Calibri" pitchFamily="34" charset="-122"/>
                <a:cs typeface="Calibri" pitchFamily="34" charset="-120"/>
              </a:rPr>
              <a:t>Найдено стендами и исправлено</a:t>
            </a:r>
            <a:endParaRPr lang="en-US" sz="1400" dirty="0"/>
          </a:p>
        </p:txBody>
      </p:sp>
      <p:sp>
        <p:nvSpPr>
          <p:cNvPr id="16" name="Shape 14"/>
          <p:cNvSpPr/>
          <p:nvPr/>
        </p:nvSpPr>
        <p:spPr>
          <a:xfrm>
            <a:off x="548640" y="3520440"/>
            <a:ext cx="5440680" cy="868680"/>
          </a:xfrm>
          <a:prstGeom prst="roundRect">
            <a:avLst>
              <a:gd name="adj" fmla="val 8421"/>
            </a:avLst>
          </a:prstGeom>
          <a:solidFill>
            <a:srgbClr val="FFFFFF"/>
          </a:solidFill>
          <a:ln w="12700">
            <a:solidFill>
              <a:srgbClr val="CBD6D2"/>
            </a:solidFill>
            <a:prstDash val="solid"/>
          </a:ln>
        </p:spPr>
      </p:sp>
      <p:sp>
        <p:nvSpPr>
          <p:cNvPr id="17" name="Text 15"/>
          <p:cNvSpPr txBox="1"/>
          <p:nvPr/>
        </p:nvSpPr>
        <p:spPr>
          <a:xfrm>
            <a:off x="777240" y="3611880"/>
            <a:ext cx="5029200" cy="292608"/>
          </a:xfrm>
          <a:prstGeom prst="rect">
            <a:avLst/>
          </a:prstGeom>
          <a:noFill/>
          <a:ln/>
        </p:spPr>
        <p:txBody>
          <a:bodyPr wrap="square" lIns="0" tIns="0" rIns="0" bIns="0" rtlCol="0" anchor="t"/>
          <a:lstStyle/>
          <a:p>
            <a:pPr indent="0" marL="0">
              <a:buNone/>
            </a:pPr>
            <a:r>
              <a:rPr lang="en-US" sz="1300" b="1" dirty="0">
                <a:solidFill>
                  <a:srgbClr val="14201E"/>
                </a:solidFill>
                <a:latin typeface="Calibri" pitchFamily="34" charset="0"/>
                <a:ea typeface="Calibri" pitchFamily="34" charset="-122"/>
                <a:cs typeface="Calibri" pitchFamily="34" charset="-120"/>
              </a:rPr>
              <a:t>Терялись сообщения</a:t>
            </a:r>
            <a:endParaRPr lang="en-US" sz="1300" dirty="0"/>
          </a:p>
        </p:txBody>
      </p:sp>
      <p:sp>
        <p:nvSpPr>
          <p:cNvPr id="18" name="Text 16"/>
          <p:cNvSpPr txBox="1"/>
          <p:nvPr/>
        </p:nvSpPr>
        <p:spPr>
          <a:xfrm>
            <a:off x="777240" y="3931920"/>
            <a:ext cx="5029200" cy="411480"/>
          </a:xfrm>
          <a:prstGeom prst="rect">
            <a:avLst/>
          </a:prstGeom>
          <a:noFill/>
          <a:ln/>
        </p:spPr>
        <p:txBody>
          <a:bodyPr wrap="square" lIns="0" tIns="0" rIns="0" bIns="0" rtlCol="0" anchor="t"/>
          <a:lstStyle/>
          <a:p>
            <a:pPr indent="0" marL="0">
              <a:buNone/>
            </a:pPr>
            <a:r>
              <a:rPr lang="en-US" sz="1150" dirty="0">
                <a:solidFill>
                  <a:srgbClr val="4B5A56"/>
                </a:solidFill>
                <a:latin typeface="Calibri" pitchFamily="34" charset="0"/>
                <a:ea typeface="Calibri" pitchFamily="34" charset="-122"/>
                <a:cs typeface="Calibri" pitchFamily="34" charset="-120"/>
              </a:rPr>
              <a:t>из 250 одновременных доходил один: две нити писали в один временный файл</a:t>
            </a:r>
            <a:endParaRPr lang="en-US" sz="1150" dirty="0"/>
          </a:p>
        </p:txBody>
      </p:sp>
      <p:sp>
        <p:nvSpPr>
          <p:cNvPr id="19" name="Shape 17"/>
          <p:cNvSpPr/>
          <p:nvPr/>
        </p:nvSpPr>
        <p:spPr>
          <a:xfrm>
            <a:off x="6172200" y="3520440"/>
            <a:ext cx="5440680" cy="868680"/>
          </a:xfrm>
          <a:prstGeom prst="roundRect">
            <a:avLst>
              <a:gd name="adj" fmla="val 8421"/>
            </a:avLst>
          </a:prstGeom>
          <a:solidFill>
            <a:srgbClr val="FFFFFF"/>
          </a:solidFill>
          <a:ln w="12700">
            <a:solidFill>
              <a:srgbClr val="CBD6D2"/>
            </a:solidFill>
            <a:prstDash val="solid"/>
          </a:ln>
        </p:spPr>
      </p:sp>
      <p:sp>
        <p:nvSpPr>
          <p:cNvPr id="20" name="Text 18"/>
          <p:cNvSpPr txBox="1"/>
          <p:nvPr/>
        </p:nvSpPr>
        <p:spPr>
          <a:xfrm>
            <a:off x="6400800" y="3611880"/>
            <a:ext cx="5029200" cy="292608"/>
          </a:xfrm>
          <a:prstGeom prst="rect">
            <a:avLst/>
          </a:prstGeom>
          <a:noFill/>
          <a:ln/>
        </p:spPr>
        <p:txBody>
          <a:bodyPr wrap="square" lIns="0" tIns="0" rIns="0" bIns="0" rtlCol="0" anchor="t"/>
          <a:lstStyle/>
          <a:p>
            <a:pPr indent="0" marL="0">
              <a:buNone/>
            </a:pPr>
            <a:r>
              <a:rPr lang="en-US" sz="1300" b="1" dirty="0">
                <a:solidFill>
                  <a:srgbClr val="14201E"/>
                </a:solidFill>
                <a:latin typeface="Calibri" pitchFamily="34" charset="0"/>
                <a:ea typeface="Calibri" pitchFamily="34" charset="-122"/>
                <a:cs typeface="Calibri" pitchFamily="34" charset="-120"/>
              </a:rPr>
              <a:t>Координаторы затирали заметки</a:t>
            </a:r>
            <a:endParaRPr lang="en-US" sz="1300" dirty="0"/>
          </a:p>
        </p:txBody>
      </p:sp>
      <p:sp>
        <p:nvSpPr>
          <p:cNvPr id="21" name="Text 19"/>
          <p:cNvSpPr txBox="1"/>
          <p:nvPr/>
        </p:nvSpPr>
        <p:spPr>
          <a:xfrm>
            <a:off x="6400800" y="3931920"/>
            <a:ext cx="5029200" cy="411480"/>
          </a:xfrm>
          <a:prstGeom prst="rect">
            <a:avLst/>
          </a:prstGeom>
          <a:noFill/>
          <a:ln/>
        </p:spPr>
        <p:txBody>
          <a:bodyPr wrap="square" lIns="0" tIns="0" rIns="0" bIns="0" rtlCol="0" anchor="t"/>
          <a:lstStyle/>
          <a:p>
            <a:pPr indent="0" marL="0">
              <a:buNone/>
            </a:pPr>
            <a:r>
              <a:rPr lang="en-US" sz="1150" dirty="0">
                <a:solidFill>
                  <a:srgbClr val="4B5A56"/>
                </a:solidFill>
                <a:latin typeface="Calibri" pitchFamily="34" charset="0"/>
                <a:ea typeface="Calibri" pitchFamily="34" charset="-122"/>
                <a:cs typeface="Calibri" pitchFamily="34" charset="-120"/>
              </a:rPr>
              <a:t>из 60 одновременных сохранялись 2; теперь замок общий для нитей и процессов</a:t>
            </a:r>
            <a:endParaRPr lang="en-US" sz="1150" dirty="0"/>
          </a:p>
        </p:txBody>
      </p:sp>
      <p:sp>
        <p:nvSpPr>
          <p:cNvPr id="22" name="Shape 20"/>
          <p:cNvSpPr/>
          <p:nvPr/>
        </p:nvSpPr>
        <p:spPr>
          <a:xfrm>
            <a:off x="548640" y="4526280"/>
            <a:ext cx="5440680" cy="868680"/>
          </a:xfrm>
          <a:prstGeom prst="roundRect">
            <a:avLst>
              <a:gd name="adj" fmla="val 8421"/>
            </a:avLst>
          </a:prstGeom>
          <a:solidFill>
            <a:srgbClr val="FFFFFF"/>
          </a:solidFill>
          <a:ln w="12700">
            <a:solidFill>
              <a:srgbClr val="CBD6D2"/>
            </a:solidFill>
            <a:prstDash val="solid"/>
          </a:ln>
        </p:spPr>
      </p:sp>
      <p:sp>
        <p:nvSpPr>
          <p:cNvPr id="23" name="Text 21"/>
          <p:cNvSpPr txBox="1"/>
          <p:nvPr/>
        </p:nvSpPr>
        <p:spPr>
          <a:xfrm>
            <a:off x="777240" y="4617720"/>
            <a:ext cx="5029200" cy="292608"/>
          </a:xfrm>
          <a:prstGeom prst="rect">
            <a:avLst/>
          </a:prstGeom>
          <a:noFill/>
          <a:ln/>
        </p:spPr>
        <p:txBody>
          <a:bodyPr wrap="square" lIns="0" tIns="0" rIns="0" bIns="0" rtlCol="0" anchor="t"/>
          <a:lstStyle/>
          <a:p>
            <a:pPr indent="0" marL="0">
              <a:buNone/>
            </a:pPr>
            <a:r>
              <a:rPr lang="en-US" sz="1300" b="1" dirty="0">
                <a:solidFill>
                  <a:srgbClr val="14201E"/>
                </a:solidFill>
                <a:latin typeface="Calibri" pitchFamily="34" charset="0"/>
                <a:ea typeface="Calibri" pitchFamily="34" charset="-122"/>
                <a:cs typeface="Calibri" pitchFamily="34" charset="-120"/>
              </a:rPr>
              <a:t>Формула из анкеты срабатывала в Excel</a:t>
            </a:r>
            <a:endParaRPr lang="en-US" sz="1300" dirty="0"/>
          </a:p>
        </p:txBody>
      </p:sp>
      <p:sp>
        <p:nvSpPr>
          <p:cNvPr id="24" name="Text 22"/>
          <p:cNvSpPr txBox="1"/>
          <p:nvPr/>
        </p:nvSpPr>
        <p:spPr>
          <a:xfrm>
            <a:off x="777240" y="4937760"/>
            <a:ext cx="5029200" cy="411480"/>
          </a:xfrm>
          <a:prstGeom prst="rect">
            <a:avLst/>
          </a:prstGeom>
          <a:noFill/>
          <a:ln/>
        </p:spPr>
        <p:txBody>
          <a:bodyPr wrap="square" lIns="0" tIns="0" rIns="0" bIns="0" rtlCol="0" anchor="t"/>
          <a:lstStyle/>
          <a:p>
            <a:pPr indent="0" marL="0">
              <a:buNone/>
            </a:pPr>
            <a:r>
              <a:rPr lang="en-US" sz="1150" dirty="0">
                <a:solidFill>
                  <a:srgbClr val="4B5A56"/>
                </a:solidFill>
                <a:latin typeface="Calibri" pitchFamily="34" charset="0"/>
                <a:ea typeface="Calibri" pitchFamily="34" charset="-122"/>
                <a:cs typeface="Calibri" pitchFamily="34" charset="-120"/>
              </a:rPr>
              <a:t>«=HYPERLINK(…)» в поле имени теперь помечается как текст</a:t>
            </a:r>
            <a:endParaRPr lang="en-US" sz="1150" dirty="0"/>
          </a:p>
        </p:txBody>
      </p:sp>
      <p:sp>
        <p:nvSpPr>
          <p:cNvPr id="25" name="Shape 23"/>
          <p:cNvSpPr/>
          <p:nvPr/>
        </p:nvSpPr>
        <p:spPr>
          <a:xfrm>
            <a:off x="6172200" y="4526280"/>
            <a:ext cx="5440680" cy="868680"/>
          </a:xfrm>
          <a:prstGeom prst="roundRect">
            <a:avLst>
              <a:gd name="adj" fmla="val 8421"/>
            </a:avLst>
          </a:prstGeom>
          <a:solidFill>
            <a:srgbClr val="FFFFFF"/>
          </a:solidFill>
          <a:ln w="12700">
            <a:solidFill>
              <a:srgbClr val="CBD6D2"/>
            </a:solidFill>
            <a:prstDash val="solid"/>
          </a:ln>
        </p:spPr>
      </p:sp>
      <p:sp>
        <p:nvSpPr>
          <p:cNvPr id="26" name="Text 24"/>
          <p:cNvSpPr txBox="1"/>
          <p:nvPr/>
        </p:nvSpPr>
        <p:spPr>
          <a:xfrm>
            <a:off x="6400800" y="4617720"/>
            <a:ext cx="5029200" cy="292608"/>
          </a:xfrm>
          <a:prstGeom prst="rect">
            <a:avLst/>
          </a:prstGeom>
          <a:noFill/>
          <a:ln/>
        </p:spPr>
        <p:txBody>
          <a:bodyPr wrap="square" lIns="0" tIns="0" rIns="0" bIns="0" rtlCol="0" anchor="t"/>
          <a:lstStyle/>
          <a:p>
            <a:pPr indent="0" marL="0">
              <a:buNone/>
            </a:pPr>
            <a:r>
              <a:rPr lang="en-US" sz="1300" b="1" dirty="0">
                <a:solidFill>
                  <a:srgbClr val="14201E"/>
                </a:solidFill>
                <a:latin typeface="Calibri" pitchFamily="34" charset="0"/>
                <a:ea typeface="Calibri" pitchFamily="34" charset="-122"/>
                <a:cs typeface="Calibri" pitchFamily="34" charset="-120"/>
              </a:rPr>
              <a:t>У CRM не было защитных заголовков</a:t>
            </a:r>
            <a:endParaRPr lang="en-US" sz="1300" dirty="0"/>
          </a:p>
        </p:txBody>
      </p:sp>
      <p:sp>
        <p:nvSpPr>
          <p:cNvPr id="27" name="Text 25"/>
          <p:cNvSpPr txBox="1"/>
          <p:nvPr/>
        </p:nvSpPr>
        <p:spPr>
          <a:xfrm>
            <a:off x="6400800" y="4937760"/>
            <a:ext cx="5029200" cy="411480"/>
          </a:xfrm>
          <a:prstGeom prst="rect">
            <a:avLst/>
          </a:prstGeom>
          <a:noFill/>
          <a:ln/>
        </p:spPr>
        <p:txBody>
          <a:bodyPr wrap="square" lIns="0" tIns="0" rIns="0" bIns="0" rtlCol="0" anchor="t"/>
          <a:lstStyle/>
          <a:p>
            <a:pPr indent="0" marL="0">
              <a:buNone/>
            </a:pPr>
            <a:r>
              <a:rPr lang="en-US" sz="1150" dirty="0">
                <a:solidFill>
                  <a:srgbClr val="4B5A56"/>
                </a:solidFill>
                <a:latin typeface="Calibri" pitchFamily="34" charset="0"/>
                <a:ea typeface="Calibri" pitchFamily="34" charset="-122"/>
                <a:cs typeface="Calibri" pitchFamily="34" charset="-120"/>
              </a:rPr>
              <a:t>добавлены nosniff, запрет фреймов, политика содержимого</a:t>
            </a:r>
            <a:endParaRPr lang="en-US" sz="1150" dirty="0"/>
          </a:p>
        </p:txBody>
      </p:sp>
      <p:sp>
        <p:nvSpPr>
          <p:cNvPr id="28" name="Text 26"/>
          <p:cNvSpPr txBox="1"/>
          <p:nvPr/>
        </p:nvSpPr>
        <p:spPr>
          <a:xfrm>
            <a:off x="548640" y="5577840"/>
            <a:ext cx="11091672" cy="640080"/>
          </a:xfrm>
          <a:prstGeom prst="rect">
            <a:avLst/>
          </a:prstGeom>
          <a:noFill/>
          <a:ln/>
        </p:spPr>
        <p:txBody>
          <a:bodyPr wrap="square" lIns="0" tIns="0" rIns="0" bIns="0" rtlCol="0" anchor="t"/>
          <a:lstStyle/>
          <a:p>
            <a:pPr indent="0" marL="0">
              <a:buNone/>
            </a:pPr>
            <a:r>
              <a:rPr lang="en-US" sz="1200" dirty="0">
                <a:solidFill>
                  <a:srgbClr val="4B5A56"/>
                </a:solidFill>
                <a:latin typeface="Calibri" pitchFamily="34" charset="0"/>
                <a:ea typeface="Calibri" pitchFamily="34" charset="-122"/>
                <a:cs typeface="Calibri" pitchFamily="34" charset="-120"/>
              </a:rPr>
              <a:t>Перебор пароля CRM запирается после 4 попыток, не запирая других операторов; 64 одновременных входа и чтения — за 1,1 с; поток в 2 000 сообщений от одного человека — за 5,7 с.</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5A55"/>
                </a:solidFill>
                <a:latin typeface="Calibri" pitchFamily="34" charset="0"/>
                <a:ea typeface="Calibri" pitchFamily="34" charset="-122"/>
                <a:cs typeface="Calibri" pitchFamily="34" charset="-120"/>
              </a:rPr>
              <a:t>ДЛЯ ОПИСАНИЯ</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01E"/>
                </a:solidFill>
                <a:latin typeface="Cambria" pitchFamily="34" charset="0"/>
                <a:ea typeface="Cambria" pitchFamily="34" charset="-122"/>
                <a:cs typeface="Cambria" pitchFamily="34" charset="-120"/>
              </a:rPr>
              <a:t>Технические решения, отличающие комплекс</a:t>
            </a:r>
            <a:endParaRPr lang="en-US" sz="2800" dirty="0"/>
          </a:p>
        </p:txBody>
      </p:sp>
      <p:sp>
        <p:nvSpPr>
          <p:cNvPr id="4" name="Text 2"/>
          <p:cNvSpPr txBox="1"/>
          <p:nvPr/>
        </p:nvSpPr>
        <p:spPr>
          <a:xfrm>
            <a:off x="548640" y="6419088"/>
            <a:ext cx="7315200" cy="228600"/>
          </a:xfrm>
          <a:prstGeom prst="rect">
            <a:avLst/>
          </a:prstGeom>
          <a:noFill/>
          <a:ln/>
        </p:spPr>
        <p:txBody>
          <a:bodyPr wrap="square" lIns="0" tIns="0" rIns="0" bIns="0" rtlCol="0" anchor="t"/>
          <a:lstStyle/>
          <a:p>
            <a:pPr indent="0" marL="0">
              <a:buNone/>
            </a:pPr>
            <a:r>
              <a:rPr lang="en-US" sz="900" dirty="0">
                <a:solidFill>
                  <a:srgbClr val="748480"/>
                </a:solidFill>
                <a:latin typeface="Calibri" pitchFamily="34" charset="0"/>
                <a:ea typeface="Calibri" pitchFamily="34" charset="-122"/>
                <a:cs typeface="Calibri" pitchFamily="34" charset="-120"/>
              </a:rPr>
              <a:t>АНО «СДУТ» · листинг комплекса «Бот SDUT63 и мини-приложение»</a:t>
            </a:r>
            <a:endParaRPr lang="en-US" sz="900" dirty="0"/>
          </a:p>
        </p:txBody>
      </p:sp>
      <p:sp>
        <p:nvSpPr>
          <p:cNvPr id="5" name="Text 3"/>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900" dirty="0">
                <a:solidFill>
                  <a:srgbClr val="748480"/>
                </a:solidFill>
                <a:latin typeface="Calibri" pitchFamily="34" charset="0"/>
                <a:ea typeface="Calibri" pitchFamily="34" charset="-122"/>
                <a:cs typeface="Calibri" pitchFamily="34" charset="-120"/>
              </a:rPr>
              <a:t>19 / 22</a:t>
            </a:r>
            <a:endParaRPr lang="en-US" sz="900" dirty="0"/>
          </a:p>
        </p:txBody>
      </p:sp>
      <p:sp>
        <p:nvSpPr>
          <p:cNvPr id="6" name="Shape 4"/>
          <p:cNvSpPr/>
          <p:nvPr/>
        </p:nvSpPr>
        <p:spPr>
          <a:xfrm>
            <a:off x="548640" y="1527048"/>
            <a:ext cx="384048" cy="384048"/>
          </a:xfrm>
          <a:prstGeom prst="ellipse">
            <a:avLst/>
          </a:prstGeom>
          <a:solidFill>
            <a:srgbClr val="1B5A55"/>
          </a:solidFill>
          <a:ln w="12700">
            <a:solidFill>
              <a:srgbClr val="1B5A55"/>
            </a:solidFill>
            <a:prstDash val="solid"/>
          </a:ln>
        </p:spPr>
      </p:sp>
      <p:sp>
        <p:nvSpPr>
          <p:cNvPr id="7" name="Text 5"/>
          <p:cNvSpPr txBox="1"/>
          <p:nvPr/>
        </p:nvSpPr>
        <p:spPr>
          <a:xfrm>
            <a:off x="548640" y="15270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097280" y="1527048"/>
            <a:ext cx="4846320" cy="320040"/>
          </a:xfrm>
          <a:prstGeom prst="rect">
            <a:avLst/>
          </a:prstGeom>
          <a:noFill/>
          <a:ln/>
        </p:spPr>
        <p:txBody>
          <a:bodyPr wrap="square" lIns="0" tIns="0" rIns="0" bIns="0" rtlCol="0" anchor="t"/>
          <a:lstStyle/>
          <a:p>
            <a:pPr indent="0" marL="0">
              <a:buNone/>
            </a:pPr>
            <a:r>
              <a:rPr lang="en-US" sz="1400" b="1" dirty="0">
                <a:solidFill>
                  <a:srgbClr val="14201E"/>
                </a:solidFill>
                <a:latin typeface="Calibri" pitchFamily="34" charset="0"/>
                <a:ea typeface="Calibri" pitchFamily="34" charset="-122"/>
                <a:cs typeface="Calibri" pitchFamily="34" charset="-120"/>
              </a:rPr>
              <a:t>Два контура сбора без повторов</a:t>
            </a:r>
            <a:endParaRPr lang="en-US" sz="1400" dirty="0"/>
          </a:p>
        </p:txBody>
      </p:sp>
      <p:sp>
        <p:nvSpPr>
          <p:cNvPr id="9" name="Text 7"/>
          <p:cNvSpPr txBox="1"/>
          <p:nvPr/>
        </p:nvSpPr>
        <p:spPr>
          <a:xfrm>
            <a:off x="1097280" y="1865376"/>
            <a:ext cx="4846320" cy="731520"/>
          </a:xfrm>
          <a:prstGeom prst="rect">
            <a:avLst/>
          </a:prstGeom>
          <a:noFill/>
          <a:ln/>
        </p:spPr>
        <p:txBody>
          <a:bodyPr wrap="square" lIns="0" tIns="0" rIns="0" bIns="0" rtlCol="0" anchor="t"/>
          <a:lstStyle/>
          <a:p>
            <a:pPr indent="0" marL="0">
              <a:buNone/>
            </a:pPr>
            <a:r>
              <a:rPr lang="en-US" sz="1200" dirty="0">
                <a:solidFill>
                  <a:srgbClr val="4B5A56"/>
                </a:solidFill>
                <a:latin typeface="Calibri" pitchFamily="34" charset="0"/>
                <a:ea typeface="Calibri" pitchFamily="34" charset="-122"/>
                <a:cs typeface="Calibri" pitchFamily="34" charset="-120"/>
              </a:rPr>
              <a:t>Бот спрашивает о человеке, приложение — о дне и доме; непересечение вопросов проверяется автоматически</a:t>
            </a:r>
            <a:endParaRPr lang="en-US" sz="1200" dirty="0"/>
          </a:p>
        </p:txBody>
      </p:sp>
      <p:sp>
        <p:nvSpPr>
          <p:cNvPr id="10" name="Shape 8"/>
          <p:cNvSpPr/>
          <p:nvPr/>
        </p:nvSpPr>
        <p:spPr>
          <a:xfrm>
            <a:off x="6172200" y="1527048"/>
            <a:ext cx="384048" cy="384048"/>
          </a:xfrm>
          <a:prstGeom prst="ellipse">
            <a:avLst/>
          </a:prstGeom>
          <a:solidFill>
            <a:srgbClr val="1B5A55"/>
          </a:solidFill>
          <a:ln w="12700">
            <a:solidFill>
              <a:srgbClr val="1B5A55"/>
            </a:solidFill>
            <a:prstDash val="solid"/>
          </a:ln>
        </p:spPr>
      </p:sp>
      <p:sp>
        <p:nvSpPr>
          <p:cNvPr id="11" name="Text 9"/>
          <p:cNvSpPr txBox="1"/>
          <p:nvPr/>
        </p:nvSpPr>
        <p:spPr>
          <a:xfrm>
            <a:off x="6172200" y="15270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6720840" y="1527048"/>
            <a:ext cx="4846320" cy="320040"/>
          </a:xfrm>
          <a:prstGeom prst="rect">
            <a:avLst/>
          </a:prstGeom>
          <a:noFill/>
          <a:ln/>
        </p:spPr>
        <p:txBody>
          <a:bodyPr wrap="square" lIns="0" tIns="0" rIns="0" bIns="0" rtlCol="0" anchor="t"/>
          <a:lstStyle/>
          <a:p>
            <a:pPr indent="0" marL="0">
              <a:buNone/>
            </a:pPr>
            <a:r>
              <a:rPr lang="en-US" sz="1400" b="1" dirty="0">
                <a:solidFill>
                  <a:srgbClr val="14201E"/>
                </a:solidFill>
                <a:latin typeface="Calibri" pitchFamily="34" charset="0"/>
                <a:ea typeface="Calibri" pitchFamily="34" charset="-122"/>
                <a:cs typeface="Calibri" pitchFamily="34" charset="-120"/>
              </a:rPr>
              <a:t>Вывод шкалы и плана из анкеты</a:t>
            </a:r>
            <a:endParaRPr lang="en-US" sz="1400" dirty="0"/>
          </a:p>
        </p:txBody>
      </p:sp>
      <p:sp>
        <p:nvSpPr>
          <p:cNvPr id="13" name="Text 11"/>
          <p:cNvSpPr txBox="1"/>
          <p:nvPr/>
        </p:nvSpPr>
        <p:spPr>
          <a:xfrm>
            <a:off x="6720840" y="1865376"/>
            <a:ext cx="4846320" cy="731520"/>
          </a:xfrm>
          <a:prstGeom prst="rect">
            <a:avLst/>
          </a:prstGeom>
          <a:noFill/>
          <a:ln/>
        </p:spPr>
        <p:txBody>
          <a:bodyPr wrap="square" lIns="0" tIns="0" rIns="0" bIns="0" rtlCol="0" anchor="t"/>
          <a:lstStyle/>
          <a:p>
            <a:pPr indent="0" marL="0">
              <a:buNone/>
            </a:pPr>
            <a:r>
              <a:rPr lang="en-US" sz="1200" dirty="0">
                <a:solidFill>
                  <a:srgbClr val="4B5A56"/>
                </a:solidFill>
                <a:latin typeface="Calibri" pitchFamily="34" charset="0"/>
                <a:ea typeface="Calibri" pitchFamily="34" charset="-122"/>
                <a:cs typeface="Calibri" pitchFamily="34" charset="-120"/>
              </a:rPr>
              <a:t>14 из 21 позиции шкалы № 731 и 8 из 9 вопросов плана — с правилом «при сомнении легче» и меткой на каждом выводе</a:t>
            </a:r>
            <a:endParaRPr lang="en-US" sz="1200" dirty="0"/>
          </a:p>
        </p:txBody>
      </p:sp>
      <p:sp>
        <p:nvSpPr>
          <p:cNvPr id="14" name="Shape 12"/>
          <p:cNvSpPr/>
          <p:nvPr/>
        </p:nvSpPr>
        <p:spPr>
          <a:xfrm>
            <a:off x="548640" y="2715768"/>
            <a:ext cx="384048" cy="384048"/>
          </a:xfrm>
          <a:prstGeom prst="ellipse">
            <a:avLst/>
          </a:prstGeom>
          <a:solidFill>
            <a:srgbClr val="1B5A55"/>
          </a:solidFill>
          <a:ln w="12700">
            <a:solidFill>
              <a:srgbClr val="1B5A55"/>
            </a:solidFill>
            <a:prstDash val="solid"/>
          </a:ln>
        </p:spPr>
      </p:sp>
      <p:sp>
        <p:nvSpPr>
          <p:cNvPr id="15" name="Text 13"/>
          <p:cNvSpPr txBox="1"/>
          <p:nvPr/>
        </p:nvSpPr>
        <p:spPr>
          <a:xfrm>
            <a:off x="548640" y="2715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txBox="1"/>
          <p:nvPr/>
        </p:nvSpPr>
        <p:spPr>
          <a:xfrm>
            <a:off x="1097280" y="2715768"/>
            <a:ext cx="4846320" cy="320040"/>
          </a:xfrm>
          <a:prstGeom prst="rect">
            <a:avLst/>
          </a:prstGeom>
          <a:noFill/>
          <a:ln/>
        </p:spPr>
        <p:txBody>
          <a:bodyPr wrap="square" lIns="0" tIns="0" rIns="0" bIns="0" rtlCol="0" anchor="t"/>
          <a:lstStyle/>
          <a:p>
            <a:pPr indent="0" marL="0">
              <a:buNone/>
            </a:pPr>
            <a:r>
              <a:rPr lang="en-US" sz="1400" b="1" dirty="0">
                <a:solidFill>
                  <a:srgbClr val="14201E"/>
                </a:solidFill>
                <a:latin typeface="Calibri" pitchFamily="34" charset="0"/>
                <a:ea typeface="Calibri" pitchFamily="34" charset="-122"/>
                <a:cs typeface="Calibri" pitchFamily="34" charset="-120"/>
              </a:rPr>
              <a:t>Уровень как нижняя граница</a:t>
            </a:r>
            <a:endParaRPr lang="en-US" sz="1400" dirty="0"/>
          </a:p>
        </p:txBody>
      </p:sp>
      <p:sp>
        <p:nvSpPr>
          <p:cNvPr id="17" name="Text 15"/>
          <p:cNvSpPr txBox="1"/>
          <p:nvPr/>
        </p:nvSpPr>
        <p:spPr>
          <a:xfrm>
            <a:off x="1097280" y="3054096"/>
            <a:ext cx="4846320" cy="731520"/>
          </a:xfrm>
          <a:prstGeom prst="rect">
            <a:avLst/>
          </a:prstGeom>
          <a:noFill/>
          <a:ln/>
        </p:spPr>
        <p:txBody>
          <a:bodyPr wrap="square" lIns="0" tIns="0" rIns="0" bIns="0" rtlCol="0" anchor="t"/>
          <a:lstStyle/>
          <a:p>
            <a:pPr indent="0" marL="0">
              <a:buNone/>
            </a:pPr>
            <a:r>
              <a:rPr lang="en-US" sz="1200" dirty="0">
                <a:solidFill>
                  <a:srgbClr val="4B5A56"/>
                </a:solidFill>
                <a:latin typeface="Calibri" pitchFamily="34" charset="0"/>
                <a:ea typeface="Calibri" pitchFamily="34" charset="-122"/>
                <a:cs typeface="Calibri" pitchFamily="34" charset="-120"/>
              </a:rPr>
              <a:t>При неполной шкале уровень показывается сразу и может только вырасти</a:t>
            </a:r>
            <a:endParaRPr lang="en-US" sz="1200" dirty="0"/>
          </a:p>
        </p:txBody>
      </p:sp>
      <p:sp>
        <p:nvSpPr>
          <p:cNvPr id="18" name="Shape 16"/>
          <p:cNvSpPr/>
          <p:nvPr/>
        </p:nvSpPr>
        <p:spPr>
          <a:xfrm>
            <a:off x="6172200" y="2715768"/>
            <a:ext cx="384048" cy="384048"/>
          </a:xfrm>
          <a:prstGeom prst="ellipse">
            <a:avLst/>
          </a:prstGeom>
          <a:solidFill>
            <a:srgbClr val="1B5A55"/>
          </a:solidFill>
          <a:ln w="12700">
            <a:solidFill>
              <a:srgbClr val="1B5A55"/>
            </a:solidFill>
            <a:prstDash val="solid"/>
          </a:ln>
        </p:spPr>
      </p:sp>
      <p:sp>
        <p:nvSpPr>
          <p:cNvPr id="19" name="Text 17"/>
          <p:cNvSpPr txBox="1"/>
          <p:nvPr/>
        </p:nvSpPr>
        <p:spPr>
          <a:xfrm>
            <a:off x="6172200" y="2715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8"/>
          <p:cNvSpPr txBox="1"/>
          <p:nvPr/>
        </p:nvSpPr>
        <p:spPr>
          <a:xfrm>
            <a:off x="6720840" y="2715768"/>
            <a:ext cx="4846320" cy="320040"/>
          </a:xfrm>
          <a:prstGeom prst="rect">
            <a:avLst/>
          </a:prstGeom>
          <a:noFill/>
          <a:ln/>
        </p:spPr>
        <p:txBody>
          <a:bodyPr wrap="square" lIns="0" tIns="0" rIns="0" bIns="0" rtlCol="0" anchor="t"/>
          <a:lstStyle/>
          <a:p>
            <a:pPr indent="0" marL="0">
              <a:buNone/>
            </a:pPr>
            <a:r>
              <a:rPr lang="en-US" sz="1400" b="1" dirty="0">
                <a:solidFill>
                  <a:srgbClr val="14201E"/>
                </a:solidFill>
                <a:latin typeface="Calibri" pitchFamily="34" charset="0"/>
                <a:ea typeface="Calibri" pitchFamily="34" charset="-122"/>
                <a:cs typeface="Calibri" pitchFamily="34" charset="-120"/>
              </a:rPr>
              <a:t>Одна цена на все вкладки</a:t>
            </a:r>
            <a:endParaRPr lang="en-US" sz="1400" dirty="0"/>
          </a:p>
        </p:txBody>
      </p:sp>
      <p:sp>
        <p:nvSpPr>
          <p:cNvPr id="21" name="Text 19"/>
          <p:cNvSpPr txBox="1"/>
          <p:nvPr/>
        </p:nvSpPr>
        <p:spPr>
          <a:xfrm>
            <a:off x="6720840" y="3054096"/>
            <a:ext cx="4846320" cy="731520"/>
          </a:xfrm>
          <a:prstGeom prst="rect">
            <a:avLst/>
          </a:prstGeom>
          <a:noFill/>
          <a:ln/>
        </p:spPr>
        <p:txBody>
          <a:bodyPr wrap="square" lIns="0" tIns="0" rIns="0" bIns="0" rtlCol="0" anchor="t"/>
          <a:lstStyle/>
          <a:p>
            <a:pPr indent="0" marL="0">
              <a:buNone/>
            </a:pPr>
            <a:r>
              <a:rPr lang="en-US" sz="1200" dirty="0">
                <a:solidFill>
                  <a:srgbClr val="4B5A56"/>
                </a:solidFill>
                <a:latin typeface="Calibri" pitchFamily="34" charset="0"/>
                <a:ea typeface="Calibri" pitchFamily="34" charset="-122"/>
                <a:cs typeface="Calibri" pitchFamily="34" charset="-120"/>
              </a:rPr>
              <a:t>Уровень для цены — большее из уровня по шкале и уровня шаблона плана</a:t>
            </a:r>
            <a:endParaRPr lang="en-US" sz="1200" dirty="0"/>
          </a:p>
        </p:txBody>
      </p:sp>
      <p:sp>
        <p:nvSpPr>
          <p:cNvPr id="22" name="Shape 20"/>
          <p:cNvSpPr/>
          <p:nvPr/>
        </p:nvSpPr>
        <p:spPr>
          <a:xfrm>
            <a:off x="548640" y="3904488"/>
            <a:ext cx="384048" cy="384048"/>
          </a:xfrm>
          <a:prstGeom prst="ellipse">
            <a:avLst/>
          </a:prstGeom>
          <a:solidFill>
            <a:srgbClr val="1B5A55"/>
          </a:solidFill>
          <a:ln w="12700">
            <a:solidFill>
              <a:srgbClr val="1B5A55"/>
            </a:solidFill>
            <a:prstDash val="solid"/>
          </a:ln>
        </p:spPr>
      </p:sp>
      <p:sp>
        <p:nvSpPr>
          <p:cNvPr id="23" name="Text 21"/>
          <p:cNvSpPr txBox="1"/>
          <p:nvPr/>
        </p:nvSpPr>
        <p:spPr>
          <a:xfrm>
            <a:off x="548640" y="39044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2"/>
          <p:cNvSpPr txBox="1"/>
          <p:nvPr/>
        </p:nvSpPr>
        <p:spPr>
          <a:xfrm>
            <a:off x="1097280" y="3904488"/>
            <a:ext cx="4846320" cy="320040"/>
          </a:xfrm>
          <a:prstGeom prst="rect">
            <a:avLst/>
          </a:prstGeom>
          <a:noFill/>
          <a:ln/>
        </p:spPr>
        <p:txBody>
          <a:bodyPr wrap="square" lIns="0" tIns="0" rIns="0" bIns="0" rtlCol="0" anchor="t"/>
          <a:lstStyle/>
          <a:p>
            <a:pPr indent="0" marL="0">
              <a:buNone/>
            </a:pPr>
            <a:r>
              <a:rPr lang="en-US" sz="1400" b="1" dirty="0">
                <a:solidFill>
                  <a:srgbClr val="14201E"/>
                </a:solidFill>
                <a:latin typeface="Calibri" pitchFamily="34" charset="0"/>
                <a:ea typeface="Calibri" pitchFamily="34" charset="-122"/>
                <a:cs typeface="Calibri" pitchFamily="34" charset="-120"/>
              </a:rPr>
              <a:t>Перенос ответов после «#»</a:t>
            </a:r>
            <a:endParaRPr lang="en-US" sz="1400" dirty="0"/>
          </a:p>
        </p:txBody>
      </p:sp>
      <p:sp>
        <p:nvSpPr>
          <p:cNvPr id="25" name="Text 23"/>
          <p:cNvSpPr txBox="1"/>
          <p:nvPr/>
        </p:nvSpPr>
        <p:spPr>
          <a:xfrm>
            <a:off x="1097280" y="4242816"/>
            <a:ext cx="4846320" cy="731520"/>
          </a:xfrm>
          <a:prstGeom prst="rect">
            <a:avLst/>
          </a:prstGeom>
          <a:noFill/>
          <a:ln/>
        </p:spPr>
        <p:txBody>
          <a:bodyPr wrap="square" lIns="0" tIns="0" rIns="0" bIns="0" rtlCol="0" anchor="t"/>
          <a:lstStyle/>
          <a:p>
            <a:pPr indent="0" marL="0">
              <a:buNone/>
            </a:pPr>
            <a:r>
              <a:rPr lang="en-US" sz="1200" dirty="0">
                <a:solidFill>
                  <a:srgbClr val="4B5A56"/>
                </a:solidFill>
                <a:latin typeface="Calibri" pitchFamily="34" charset="0"/>
                <a:ea typeface="Calibri" pitchFamily="34" charset="-122"/>
                <a:cs typeface="Calibri" pitchFamily="34" charset="-120"/>
              </a:rPr>
              <a:t>Анкета едет в приложение в части адреса, которую браузер не отправляет на сервер</a:t>
            </a:r>
            <a:endParaRPr lang="en-US" sz="1200" dirty="0"/>
          </a:p>
        </p:txBody>
      </p:sp>
      <p:sp>
        <p:nvSpPr>
          <p:cNvPr id="26" name="Shape 24"/>
          <p:cNvSpPr/>
          <p:nvPr/>
        </p:nvSpPr>
        <p:spPr>
          <a:xfrm>
            <a:off x="6172200" y="3904488"/>
            <a:ext cx="384048" cy="384048"/>
          </a:xfrm>
          <a:prstGeom prst="ellipse">
            <a:avLst/>
          </a:prstGeom>
          <a:solidFill>
            <a:srgbClr val="1B5A55"/>
          </a:solidFill>
          <a:ln w="12700">
            <a:solidFill>
              <a:srgbClr val="1B5A55"/>
            </a:solidFill>
            <a:prstDash val="solid"/>
          </a:ln>
        </p:spPr>
      </p:sp>
      <p:sp>
        <p:nvSpPr>
          <p:cNvPr id="27" name="Text 25"/>
          <p:cNvSpPr txBox="1"/>
          <p:nvPr/>
        </p:nvSpPr>
        <p:spPr>
          <a:xfrm>
            <a:off x="6172200" y="39044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8" name="Text 26"/>
          <p:cNvSpPr txBox="1"/>
          <p:nvPr/>
        </p:nvSpPr>
        <p:spPr>
          <a:xfrm>
            <a:off x="6720840" y="3904488"/>
            <a:ext cx="4846320" cy="320040"/>
          </a:xfrm>
          <a:prstGeom prst="rect">
            <a:avLst/>
          </a:prstGeom>
          <a:noFill/>
          <a:ln/>
        </p:spPr>
        <p:txBody>
          <a:bodyPr wrap="square" lIns="0" tIns="0" rIns="0" bIns="0" rtlCol="0" anchor="t"/>
          <a:lstStyle/>
          <a:p>
            <a:pPr indent="0" marL="0">
              <a:buNone/>
            </a:pPr>
            <a:r>
              <a:rPr lang="en-US" sz="1400" b="1" dirty="0">
                <a:solidFill>
                  <a:srgbClr val="14201E"/>
                </a:solidFill>
                <a:latin typeface="Calibri" pitchFamily="34" charset="0"/>
                <a:ea typeface="Calibri" pitchFamily="34" charset="-122"/>
                <a:cs typeface="Calibri" pitchFamily="34" charset="-120"/>
              </a:rPr>
              <a:t>Один поиск в двух средах</a:t>
            </a:r>
            <a:endParaRPr lang="en-US" sz="1400" dirty="0"/>
          </a:p>
        </p:txBody>
      </p:sp>
      <p:sp>
        <p:nvSpPr>
          <p:cNvPr id="29" name="Text 27"/>
          <p:cNvSpPr txBox="1"/>
          <p:nvPr/>
        </p:nvSpPr>
        <p:spPr>
          <a:xfrm>
            <a:off x="6720840" y="4242816"/>
            <a:ext cx="4846320" cy="731520"/>
          </a:xfrm>
          <a:prstGeom prst="rect">
            <a:avLst/>
          </a:prstGeom>
          <a:noFill/>
          <a:ln/>
        </p:spPr>
        <p:txBody>
          <a:bodyPr wrap="square" lIns="0" tIns="0" rIns="0" bIns="0" rtlCol="0" anchor="t"/>
          <a:lstStyle/>
          <a:p>
            <a:pPr indent="0" marL="0">
              <a:buNone/>
            </a:pPr>
            <a:r>
              <a:rPr lang="en-US" sz="1200" dirty="0">
                <a:solidFill>
                  <a:srgbClr val="4B5A56"/>
                </a:solidFill>
                <a:latin typeface="Calibri" pitchFamily="34" charset="0"/>
                <a:ea typeface="Calibri" pitchFamily="34" charset="-122"/>
                <a:cs typeface="Calibri" pitchFamily="34" charset="-120"/>
              </a:rPr>
              <a:t>Механизм выгружается данными и исполняется в Python и в телефоне; равенство выдач проверяется</a:t>
            </a:r>
            <a:endParaRPr lang="en-US" sz="1200" dirty="0"/>
          </a:p>
        </p:txBody>
      </p:sp>
      <p:sp>
        <p:nvSpPr>
          <p:cNvPr id="30" name="Shape 28"/>
          <p:cNvSpPr/>
          <p:nvPr/>
        </p:nvSpPr>
        <p:spPr>
          <a:xfrm>
            <a:off x="548640" y="5093208"/>
            <a:ext cx="384048" cy="384048"/>
          </a:xfrm>
          <a:prstGeom prst="ellipse">
            <a:avLst/>
          </a:prstGeom>
          <a:solidFill>
            <a:srgbClr val="1B5A55"/>
          </a:solidFill>
          <a:ln w="12700">
            <a:solidFill>
              <a:srgbClr val="1B5A55"/>
            </a:solidFill>
            <a:prstDash val="solid"/>
          </a:ln>
        </p:spPr>
      </p:sp>
      <p:sp>
        <p:nvSpPr>
          <p:cNvPr id="31" name="Text 29"/>
          <p:cNvSpPr txBox="1"/>
          <p:nvPr/>
        </p:nvSpPr>
        <p:spPr>
          <a:xfrm>
            <a:off x="548640" y="5093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2" name="Text 30"/>
          <p:cNvSpPr txBox="1"/>
          <p:nvPr/>
        </p:nvSpPr>
        <p:spPr>
          <a:xfrm>
            <a:off x="1097280" y="5093208"/>
            <a:ext cx="4846320" cy="320040"/>
          </a:xfrm>
          <a:prstGeom prst="rect">
            <a:avLst/>
          </a:prstGeom>
          <a:noFill/>
          <a:ln/>
        </p:spPr>
        <p:txBody>
          <a:bodyPr wrap="square" lIns="0" tIns="0" rIns="0" bIns="0" rtlCol="0" anchor="t"/>
          <a:lstStyle/>
          <a:p>
            <a:pPr indent="0" marL="0">
              <a:buNone/>
            </a:pPr>
            <a:r>
              <a:rPr lang="en-US" sz="1400" b="1" dirty="0">
                <a:solidFill>
                  <a:srgbClr val="14201E"/>
                </a:solidFill>
                <a:latin typeface="Calibri" pitchFamily="34" charset="0"/>
                <a:ea typeface="Calibri" pitchFamily="34" charset="-122"/>
                <a:cs typeface="Calibri" pitchFamily="34" charset="-120"/>
              </a:rPr>
              <a:t>Рыночная цена с самопроверкой</a:t>
            </a:r>
            <a:endParaRPr lang="en-US" sz="1400" dirty="0"/>
          </a:p>
        </p:txBody>
      </p:sp>
      <p:sp>
        <p:nvSpPr>
          <p:cNvPr id="33" name="Text 31"/>
          <p:cNvSpPr txBox="1"/>
          <p:nvPr/>
        </p:nvSpPr>
        <p:spPr>
          <a:xfrm>
            <a:off x="1097280" y="5431536"/>
            <a:ext cx="4846320" cy="731520"/>
          </a:xfrm>
          <a:prstGeom prst="rect">
            <a:avLst/>
          </a:prstGeom>
          <a:noFill/>
          <a:ln/>
        </p:spPr>
        <p:txBody>
          <a:bodyPr wrap="square" lIns="0" tIns="0" rIns="0" bIns="0" rtlCol="0" anchor="t"/>
          <a:lstStyle/>
          <a:p>
            <a:pPr indent="0" marL="0">
              <a:buNone/>
            </a:pPr>
            <a:r>
              <a:rPr lang="en-US" sz="1200" dirty="0">
                <a:solidFill>
                  <a:srgbClr val="4B5A56"/>
                </a:solidFill>
                <a:latin typeface="Calibri" pitchFamily="34" charset="0"/>
                <a:ea typeface="Calibri" pitchFamily="34" charset="-122"/>
                <a:cs typeface="Calibri" pitchFamily="34" charset="-120"/>
              </a:rPr>
              <a:t>Типы городов с коэффициентом от опорного; модель сверяется с независимым наблюдением</a:t>
            </a:r>
            <a:endParaRPr lang="en-US" sz="1200" dirty="0"/>
          </a:p>
        </p:txBody>
      </p:sp>
      <p:sp>
        <p:nvSpPr>
          <p:cNvPr id="34" name="Shape 32"/>
          <p:cNvSpPr/>
          <p:nvPr/>
        </p:nvSpPr>
        <p:spPr>
          <a:xfrm>
            <a:off x="6172200" y="5093208"/>
            <a:ext cx="384048" cy="384048"/>
          </a:xfrm>
          <a:prstGeom prst="ellipse">
            <a:avLst/>
          </a:prstGeom>
          <a:solidFill>
            <a:srgbClr val="1B5A55"/>
          </a:solidFill>
          <a:ln w="12700">
            <a:solidFill>
              <a:srgbClr val="1B5A55"/>
            </a:solidFill>
            <a:prstDash val="solid"/>
          </a:ln>
        </p:spPr>
      </p:sp>
      <p:sp>
        <p:nvSpPr>
          <p:cNvPr id="35" name="Text 33"/>
          <p:cNvSpPr txBox="1"/>
          <p:nvPr/>
        </p:nvSpPr>
        <p:spPr>
          <a:xfrm>
            <a:off x="6172200" y="5093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36" name="Text 34"/>
          <p:cNvSpPr txBox="1"/>
          <p:nvPr/>
        </p:nvSpPr>
        <p:spPr>
          <a:xfrm>
            <a:off x="6720840" y="5093208"/>
            <a:ext cx="4846320" cy="320040"/>
          </a:xfrm>
          <a:prstGeom prst="rect">
            <a:avLst/>
          </a:prstGeom>
          <a:noFill/>
          <a:ln/>
        </p:spPr>
        <p:txBody>
          <a:bodyPr wrap="square" lIns="0" tIns="0" rIns="0" bIns="0" rtlCol="0" anchor="t"/>
          <a:lstStyle/>
          <a:p>
            <a:pPr indent="0" marL="0">
              <a:buNone/>
            </a:pPr>
            <a:r>
              <a:rPr lang="en-US" sz="1400" b="1" dirty="0">
                <a:solidFill>
                  <a:srgbClr val="14201E"/>
                </a:solidFill>
                <a:latin typeface="Calibri" pitchFamily="34" charset="0"/>
                <a:ea typeface="Calibri" pitchFamily="34" charset="-122"/>
                <a:cs typeface="Calibri" pitchFamily="34" charset="-120"/>
              </a:rPr>
              <a:t>Тревога внутри анкеты</a:t>
            </a:r>
            <a:endParaRPr lang="en-US" sz="1400" dirty="0"/>
          </a:p>
        </p:txBody>
      </p:sp>
      <p:sp>
        <p:nvSpPr>
          <p:cNvPr id="37" name="Text 35"/>
          <p:cNvSpPr txBox="1"/>
          <p:nvPr/>
        </p:nvSpPr>
        <p:spPr>
          <a:xfrm>
            <a:off x="6720840" y="5431536"/>
            <a:ext cx="4846320" cy="731520"/>
          </a:xfrm>
          <a:prstGeom prst="rect">
            <a:avLst/>
          </a:prstGeom>
          <a:noFill/>
          <a:ln/>
        </p:spPr>
        <p:txBody>
          <a:bodyPr wrap="square" lIns="0" tIns="0" rIns="0" bIns="0" rtlCol="0" anchor="t"/>
          <a:lstStyle/>
          <a:p>
            <a:pPr indent="0" marL="0">
              <a:buNone/>
            </a:pPr>
            <a:r>
              <a:rPr lang="en-US" sz="1200" dirty="0">
                <a:solidFill>
                  <a:srgbClr val="4B5A56"/>
                </a:solidFill>
                <a:latin typeface="Calibri" pitchFamily="34" charset="0"/>
                <a:ea typeface="Calibri" pitchFamily="34" charset="-122"/>
                <a:cs typeface="Calibri" pitchFamily="34" charset="-120"/>
              </a:rPr>
              <a:t>Опасный ответ даёт предупреждение сразу; анкета сохраняется и продолжается с того же вопроса</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5A55"/>
                </a:solidFill>
                <a:latin typeface="Calibri" pitchFamily="34" charset="0"/>
                <a:ea typeface="Calibri" pitchFamily="34" charset="-122"/>
                <a:cs typeface="Calibri" pitchFamily="34" charset="-120"/>
              </a:rPr>
              <a:t>СОСТАВ ПРОГРАММЫ</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01E"/>
                </a:solidFill>
                <a:latin typeface="Cambria" pitchFamily="34" charset="0"/>
                <a:ea typeface="Cambria" pitchFamily="34" charset="-122"/>
                <a:cs typeface="Cambria" pitchFamily="34" charset="-120"/>
              </a:rPr>
              <a:t>Что входит в листинг — и что нет</a:t>
            </a:r>
            <a:endParaRPr lang="en-US" sz="2800" dirty="0"/>
          </a:p>
        </p:txBody>
      </p:sp>
      <p:sp>
        <p:nvSpPr>
          <p:cNvPr id="4" name="Text 2"/>
          <p:cNvSpPr txBox="1"/>
          <p:nvPr/>
        </p:nvSpPr>
        <p:spPr>
          <a:xfrm>
            <a:off x="548640" y="6419088"/>
            <a:ext cx="7315200" cy="228600"/>
          </a:xfrm>
          <a:prstGeom prst="rect">
            <a:avLst/>
          </a:prstGeom>
          <a:noFill/>
          <a:ln/>
        </p:spPr>
        <p:txBody>
          <a:bodyPr wrap="square" lIns="0" tIns="0" rIns="0" bIns="0" rtlCol="0" anchor="t"/>
          <a:lstStyle/>
          <a:p>
            <a:pPr indent="0" marL="0">
              <a:buNone/>
            </a:pPr>
            <a:r>
              <a:rPr lang="en-US" sz="900" dirty="0">
                <a:solidFill>
                  <a:srgbClr val="748480"/>
                </a:solidFill>
                <a:latin typeface="Calibri" pitchFamily="34" charset="0"/>
                <a:ea typeface="Calibri" pitchFamily="34" charset="-122"/>
                <a:cs typeface="Calibri" pitchFamily="34" charset="-120"/>
              </a:rPr>
              <a:t>АНО «СДУТ» · листинг комплекса «Бот SDUT63 и мини-приложение»</a:t>
            </a:r>
            <a:endParaRPr lang="en-US" sz="900" dirty="0"/>
          </a:p>
        </p:txBody>
      </p:sp>
      <p:sp>
        <p:nvSpPr>
          <p:cNvPr id="5" name="Text 3"/>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900" dirty="0">
                <a:solidFill>
                  <a:srgbClr val="748480"/>
                </a:solidFill>
                <a:latin typeface="Calibri" pitchFamily="34" charset="0"/>
                <a:ea typeface="Calibri" pitchFamily="34" charset="-122"/>
                <a:cs typeface="Calibri" pitchFamily="34" charset="-120"/>
              </a:rPr>
              <a:t>20 / 22</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589520" cy="914400"/>
        </p:xfrm>
        <a:graphic>
          <a:graphicData uri="http://schemas.openxmlformats.org/drawingml/2006/table">
            <a:tbl>
              <a:tblPr/>
              <a:tblGrid>
                <a:gridCol w="2148840"/>
                <a:gridCol w="4526280"/>
                <a:gridCol w="914400"/>
              </a:tblGrid>
              <a:tr h="42976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Часть</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1B5A55"/>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Модули</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1B5A55"/>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Строк</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1B5A55"/>
                    </a:solidFill>
                  </a:tcPr>
                </a:tc>
              </a:tr>
              <a:tr h="429768">
                <a:tc>
                  <a:txBody>
                    <a:bodyPr/>
                    <a:lstStyle/>
                    <a:p>
                      <a:pPr algn="l" indent="0" marL="0">
                        <a:buNone/>
                      </a:pPr>
                      <a:r>
                        <a:rPr lang="en-US" sz="1150" b="1" dirty="0">
                          <a:solidFill>
                            <a:srgbClr val="14201E"/>
                          </a:solidFill>
                          <a:latin typeface="Calibri" pitchFamily="34" charset="0"/>
                          <a:ea typeface="Calibri" pitchFamily="34" charset="-122"/>
                          <a:cs typeface="Calibri" pitchFamily="34" charset="-120"/>
                        </a:rPr>
                        <a:t>Бот и анкета</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chatbot_survey · survey_questions · consent_forms · routing_rules · fallback · emergency</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201E"/>
                          </a:solidFill>
                          <a:latin typeface="Calibri" pitchFamily="34" charset="0"/>
                          <a:ea typeface="Calibri" pitchFamily="34" charset="-122"/>
                          <a:cs typeface="Calibri" pitchFamily="34" charset="-120"/>
                        </a:rPr>
                        <a:t>3 504</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r>
              <a:tr h="429768">
                <a:tc>
                  <a:txBody>
                    <a:bodyPr/>
                    <a:lstStyle/>
                    <a:p>
                      <a:pPr algn="l" indent="0" marL="0">
                        <a:buNone/>
                      </a:pPr>
                      <a:r>
                        <a:rPr lang="en-US" sz="1150" b="1" dirty="0">
                          <a:solidFill>
                            <a:srgbClr val="14201E"/>
                          </a:solidFill>
                          <a:latin typeface="Calibri" pitchFamily="34" charset="0"/>
                          <a:ea typeface="Calibri" pitchFamily="34" charset="-122"/>
                          <a:cs typeface="Calibri" pitchFamily="34" charset="-120"/>
                        </a:rPr>
                        <a:t>Транспорт MAX</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max_webhook · max_production_dispatcher · max_ui · outbox · durable_outbox_worker и др.</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algn="r" indent="0" marL="0">
                        <a:buNone/>
                      </a:pPr>
                      <a:r>
                        <a:rPr lang="en-US" sz="1150" dirty="0">
                          <a:solidFill>
                            <a:srgbClr val="14201E"/>
                          </a:solidFill>
                          <a:latin typeface="Calibri" pitchFamily="34" charset="0"/>
                          <a:ea typeface="Calibri" pitchFamily="34" charset="-122"/>
                          <a:cs typeface="Calibri" pitchFamily="34" charset="-120"/>
                        </a:rPr>
                        <a:t>2 955</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r>
              <a:tr h="429768">
                <a:tc>
                  <a:txBody>
                    <a:bodyPr/>
                    <a:lstStyle/>
                    <a:p>
                      <a:pPr algn="l" indent="0" marL="0">
                        <a:buNone/>
                      </a:pPr>
                      <a:r>
                        <a:rPr lang="en-US" sz="1150" b="1" dirty="0">
                          <a:solidFill>
                            <a:srgbClr val="14201E"/>
                          </a:solidFill>
                          <a:latin typeface="Calibri" pitchFamily="34" charset="0"/>
                          <a:ea typeface="Calibri" pitchFamily="34" charset="-122"/>
                          <a:cs typeface="Calibri" pitchFamily="34" charset="-120"/>
                        </a:rPr>
                        <a:t>Хранение и приватность</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storage_postgres · storage_sqlite · privacy_deletion · файловый_замок · migrations</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201E"/>
                          </a:solidFill>
                          <a:latin typeface="Calibri" pitchFamily="34" charset="0"/>
                          <a:ea typeface="Calibri" pitchFamily="34" charset="-122"/>
                          <a:cs typeface="Calibri" pitchFamily="34" charset="-120"/>
                        </a:rPr>
                        <a:t>1 248</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r>
              <a:tr h="429768">
                <a:tc>
                  <a:txBody>
                    <a:bodyPr/>
                    <a:lstStyle/>
                    <a:p>
                      <a:pPr algn="l" indent="0" marL="0">
                        <a:buNone/>
                      </a:pPr>
                      <a:r>
                        <a:rPr lang="en-US" sz="1150" b="1" dirty="0">
                          <a:solidFill>
                            <a:srgbClr val="14201E"/>
                          </a:solidFill>
                          <a:latin typeface="Calibri" pitchFamily="34" charset="0"/>
                          <a:ea typeface="Calibri" pitchFamily="34" charset="-122"/>
                          <a:cs typeface="Calibri" pitchFamily="34" charset="-120"/>
                        </a:rPr>
                        <a:t>CRM координатора</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crm_server · crm_store · export_excel · таблицы · crm/</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algn="r" indent="0" marL="0">
                        <a:buNone/>
                      </a:pPr>
                      <a:r>
                        <a:rPr lang="en-US" sz="1150" dirty="0">
                          <a:solidFill>
                            <a:srgbClr val="14201E"/>
                          </a:solidFill>
                          <a:latin typeface="Calibri" pitchFamily="34" charset="0"/>
                          <a:ea typeface="Calibri" pitchFamily="34" charset="-122"/>
                          <a:cs typeface="Calibri" pitchFamily="34" charset="-120"/>
                        </a:rPr>
                        <a:t>2 850</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r>
              <a:tr h="429768">
                <a:tc>
                  <a:txBody>
                    <a:bodyPr/>
                    <a:lstStyle/>
                    <a:p>
                      <a:pPr algn="l" indent="0" marL="0">
                        <a:buNone/>
                      </a:pPr>
                      <a:r>
                        <a:rPr lang="en-US" sz="1150" b="1" dirty="0">
                          <a:solidFill>
                            <a:srgbClr val="14201E"/>
                          </a:solidFill>
                          <a:latin typeface="Calibri" pitchFamily="34" charset="0"/>
                          <a:ea typeface="Calibri" pitchFamily="34" charset="-122"/>
                          <a:cs typeface="Calibri" pitchFamily="34" charset="-120"/>
                        </a:rPr>
                        <a:t>Расчётные модели</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сопоставление · уход · прайс · рынок · экономика · тср · scale_731 · перенос</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201E"/>
                          </a:solidFill>
                          <a:latin typeface="Calibri" pitchFamily="34" charset="0"/>
                          <a:ea typeface="Calibri" pitchFamily="34" charset="-122"/>
                          <a:cs typeface="Calibri" pitchFamily="34" charset="-120"/>
                        </a:rPr>
                        <a:t>2 899</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r>
              <a:tr h="429768">
                <a:tc>
                  <a:txBody>
                    <a:bodyPr/>
                    <a:lstStyle/>
                    <a:p>
                      <a:pPr algn="l" indent="0" marL="0">
                        <a:buNone/>
                      </a:pPr>
                      <a:r>
                        <a:rPr lang="en-US" sz="1150" b="1" dirty="0">
                          <a:solidFill>
                            <a:srgbClr val="14201E"/>
                          </a:solidFill>
                          <a:latin typeface="Calibri" pitchFamily="34" charset="0"/>
                          <a:ea typeface="Calibri" pitchFamily="34" charset="-122"/>
                          <a:cs typeface="Calibri" pitchFamily="34" charset="-120"/>
                        </a:rPr>
                        <a:t>База знаний и поиск</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knowledge · база/*.md (28 файлов)</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algn="r" indent="0" marL="0">
                        <a:buNone/>
                      </a:pPr>
                      <a:r>
                        <a:rPr lang="en-US" sz="1150" dirty="0">
                          <a:solidFill>
                            <a:srgbClr val="14201E"/>
                          </a:solidFill>
                          <a:latin typeface="Calibri" pitchFamily="34" charset="0"/>
                          <a:ea typeface="Calibri" pitchFamily="34" charset="-122"/>
                          <a:cs typeface="Calibri" pitchFamily="34" charset="-120"/>
                        </a:rPr>
                        <a:t>5 980</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r>
              <a:tr h="429768">
                <a:tc>
                  <a:txBody>
                    <a:bodyPr/>
                    <a:lstStyle/>
                    <a:p>
                      <a:pPr algn="l" indent="0" marL="0">
                        <a:buNone/>
                      </a:pPr>
                      <a:r>
                        <a:rPr lang="en-US" sz="1150" b="1" dirty="0">
                          <a:solidFill>
                            <a:srgbClr val="14201E"/>
                          </a:solidFill>
                          <a:latin typeface="Calibri" pitchFamily="34" charset="0"/>
                          <a:ea typeface="Calibri" pitchFamily="34" charset="-122"/>
                          <a:cs typeface="Calibri" pitchFamily="34" charset="-120"/>
                        </a:rPr>
                        <a:t>Мини-приложение</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шаблоны/приложение.html · собрать_данные · webapp_server</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201E"/>
                          </a:solidFill>
                          <a:latin typeface="Calibri" pitchFamily="34" charset="0"/>
                          <a:ea typeface="Calibri" pitchFamily="34" charset="-122"/>
                          <a:cs typeface="Calibri" pitchFamily="34" charset="-120"/>
                        </a:rPr>
                        <a:t>3 703</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r>
              <a:tr h="429768">
                <a:tc>
                  <a:txBody>
                    <a:bodyPr/>
                    <a:lstStyle/>
                    <a:p>
                      <a:pPr algn="l" indent="0" marL="0">
                        <a:buNone/>
                      </a:pPr>
                      <a:r>
                        <a:rPr lang="en-US" sz="1150" b="1" dirty="0">
                          <a:solidFill>
                            <a:srgbClr val="14201E"/>
                          </a:solidFill>
                          <a:latin typeface="Calibri" pitchFamily="34" charset="0"/>
                          <a:ea typeface="Calibri" pitchFamily="34" charset="-122"/>
                          <a:cs typeface="Calibri" pitchFamily="34" charset="-120"/>
                        </a:rPr>
                        <a:t>Запуск и сборка</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launcher · preflight · diagnose · ops/ · сборщики схемы, видео, согласия</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algn="r" indent="0" marL="0">
                        <a:buNone/>
                      </a:pPr>
                      <a:r>
                        <a:rPr lang="en-US" sz="1150" dirty="0">
                          <a:solidFill>
                            <a:srgbClr val="14201E"/>
                          </a:solidFill>
                          <a:latin typeface="Calibri" pitchFamily="34" charset="0"/>
                          <a:ea typeface="Calibri" pitchFamily="34" charset="-122"/>
                          <a:cs typeface="Calibri" pitchFamily="34" charset="-120"/>
                        </a:rPr>
                        <a:t>3 619</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r>
              <a:tr h="429768">
                <a:tc>
                  <a:txBody>
                    <a:bodyPr/>
                    <a:lstStyle/>
                    <a:p>
                      <a:pPr algn="l" indent="0" marL="0">
                        <a:buNone/>
                      </a:pPr>
                      <a:r>
                        <a:rPr lang="en-US" sz="1150" b="1" dirty="0">
                          <a:solidFill>
                            <a:srgbClr val="14201E"/>
                          </a:solidFill>
                          <a:latin typeface="Calibri" pitchFamily="34" charset="0"/>
                          <a:ea typeface="Calibri" pitchFamily="34" charset="-122"/>
                          <a:cs typeface="Calibri" pitchFamily="34" charset="-120"/>
                        </a:rPr>
                        <a:t>Языковая модель (выкл.)</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ai/: provider · assistant · deident · budget</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201E"/>
                          </a:solidFill>
                          <a:latin typeface="Calibri" pitchFamily="34" charset="0"/>
                          <a:ea typeface="Calibri" pitchFamily="34" charset="-122"/>
                          <a:cs typeface="Calibri" pitchFamily="34" charset="-120"/>
                        </a:rPr>
                        <a:t>570</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r>
              <a:tr h="429768">
                <a:tc>
                  <a:txBody>
                    <a:bodyPr/>
                    <a:lstStyle/>
                    <a:p>
                      <a:pPr algn="l" indent="0" marL="0">
                        <a:buNone/>
                      </a:pPr>
                      <a:r>
                        <a:rPr lang="en-US" sz="1150" b="1" dirty="0">
                          <a:solidFill>
                            <a:srgbClr val="14201E"/>
                          </a:solidFill>
                          <a:latin typeface="Calibri" pitchFamily="34" charset="0"/>
                          <a:ea typeface="Calibri" pitchFamily="34" charset="-122"/>
                          <a:cs typeface="Calibri" pitchFamily="34" charset="-120"/>
                        </a:rPr>
                        <a:t>Проверки</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algn="l" indent="0" marL="0">
                        <a:buNone/>
                      </a:pPr>
                      <a:r>
                        <a:rPr lang="en-US" sz="1150" dirty="0">
                          <a:solidFill>
                            <a:srgbClr val="14201E"/>
                          </a:solidFill>
                          <a:latin typeface="Calibri" pitchFamily="34" charset="0"/>
                          <a:ea typeface="Calibri" pitchFamily="34" charset="-122"/>
                          <a:cs typeface="Calibri" pitchFamily="34" charset="-120"/>
                        </a:rPr>
                        <a:t>tests/ (79 файлов) · нагрузка/ (3 стенда)</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algn="r" indent="0" marL="0">
                        <a:buNone/>
                      </a:pPr>
                      <a:r>
                        <a:rPr lang="en-US" sz="1150" dirty="0">
                          <a:solidFill>
                            <a:srgbClr val="14201E"/>
                          </a:solidFill>
                          <a:latin typeface="Calibri" pitchFamily="34" charset="0"/>
                          <a:ea typeface="Calibri" pitchFamily="34" charset="-122"/>
                          <a:cs typeface="Calibri" pitchFamily="34" charset="-120"/>
                        </a:rPr>
                        <a:t>12 680</a:t>
                      </a:r>
                      <a:endParaRPr lang="en-US" sz="1150" dirty="0">
                        <a:latin typeface="Calibri" charset="0"/>
                        <a:ea typeface="Calibri" charset="0"/>
                        <a:cs typeface="Calibri" charset="0"/>
                      </a:endParaRPr>
                    </a:p>
                  </a:txBody>
                  <a:tcPr marL="88900" marR="88900" marT="38100" marB="381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r>
            </a:tbl>
          </a:graphicData>
        </a:graphic>
      </p:graphicFrame>
      <p:sp>
        <p:nvSpPr>
          <p:cNvPr id="7" name="Shape 4"/>
          <p:cNvSpPr/>
          <p:nvPr/>
        </p:nvSpPr>
        <p:spPr>
          <a:xfrm>
            <a:off x="8412480" y="1463040"/>
            <a:ext cx="3227832" cy="2148840"/>
          </a:xfrm>
          <a:prstGeom prst="roundRect">
            <a:avLst>
              <a:gd name="adj" fmla="val 3404"/>
            </a:avLst>
          </a:prstGeom>
          <a:solidFill>
            <a:srgbClr val="F2F5F3"/>
          </a:solidFill>
          <a:ln w="12700">
            <a:solidFill>
              <a:srgbClr val="F2F5F3"/>
            </a:solidFill>
            <a:prstDash val="solid"/>
          </a:ln>
        </p:spPr>
      </p:sp>
      <p:sp>
        <p:nvSpPr>
          <p:cNvPr id="8" name="Text 5"/>
          <p:cNvSpPr txBox="1"/>
          <p:nvPr/>
        </p:nvSpPr>
        <p:spPr>
          <a:xfrm>
            <a:off x="8641080" y="1572768"/>
            <a:ext cx="2743200" cy="274320"/>
          </a:xfrm>
          <a:prstGeom prst="rect">
            <a:avLst/>
          </a:prstGeom>
          <a:noFill/>
          <a:ln/>
        </p:spPr>
        <p:txBody>
          <a:bodyPr wrap="square" lIns="0" tIns="0" rIns="0" bIns="0" rtlCol="0" anchor="t"/>
          <a:lstStyle/>
          <a:p>
            <a:pPr indent="0" marL="0">
              <a:buNone/>
            </a:pPr>
            <a:r>
              <a:rPr lang="en-US" sz="1300" b="1" dirty="0">
                <a:solidFill>
                  <a:srgbClr val="1B5A55"/>
                </a:solidFill>
                <a:latin typeface="Calibri" pitchFamily="34" charset="0"/>
                <a:ea typeface="Calibri" pitchFamily="34" charset="-122"/>
                <a:cs typeface="Calibri" pitchFamily="34" charset="-120"/>
              </a:rPr>
              <a:t>Стек</a:t>
            </a:r>
            <a:endParaRPr lang="en-US" sz="1300" dirty="0"/>
          </a:p>
        </p:txBody>
      </p:sp>
      <p:sp>
        <p:nvSpPr>
          <p:cNvPr id="9" name="Text 6"/>
          <p:cNvSpPr txBox="1"/>
          <p:nvPr/>
        </p:nvSpPr>
        <p:spPr>
          <a:xfrm>
            <a:off x="8641080" y="1901952"/>
            <a:ext cx="2788920" cy="1645920"/>
          </a:xfrm>
          <a:prstGeom prst="rect">
            <a:avLst/>
          </a:prstGeom>
          <a:noFill/>
          <a:ln/>
        </p:spPr>
        <p:txBody>
          <a:bodyPr wrap="square" lIns="0" tIns="0" rIns="0" bIns="0" rtlCol="0" anchor="t"/>
          <a:lstStyle/>
          <a:p>
            <a:pPr indent="0" marL="0">
              <a:buNone/>
            </a:pPr>
            <a:r>
              <a:rPr lang="en-US" sz="1200" dirty="0">
                <a:solidFill>
                  <a:srgbClr val="4B5A56"/>
                </a:solidFill>
                <a:latin typeface="Calibri" pitchFamily="34" charset="0"/>
                <a:ea typeface="Calibri" pitchFamily="34" charset="-122"/>
                <a:cs typeface="Calibri" pitchFamily="34" charset="-120"/>
              </a:rPr>
              <a:t>Python 3.11 · PostgreSQL 16 · SQLite · Flask · MAX Bot API · HTML, CSS и JavaScript без сборщика · pytest · Node.js и Playwright для проверок</a:t>
            </a:r>
            <a:endParaRPr lang="en-US" sz="1200" dirty="0"/>
          </a:p>
        </p:txBody>
      </p:sp>
      <p:sp>
        <p:nvSpPr>
          <p:cNvPr id="10" name="Shape 7"/>
          <p:cNvSpPr/>
          <p:nvPr/>
        </p:nvSpPr>
        <p:spPr>
          <a:xfrm>
            <a:off x="8412480" y="3794760"/>
            <a:ext cx="3227832" cy="2377440"/>
          </a:xfrm>
          <a:prstGeom prst="roundRect">
            <a:avLst>
              <a:gd name="adj" fmla="val 3077"/>
            </a:avLst>
          </a:prstGeom>
          <a:solidFill>
            <a:srgbClr val="F2E8CE"/>
          </a:solidFill>
          <a:ln w="12700">
            <a:solidFill>
              <a:srgbClr val="F2E8CE"/>
            </a:solidFill>
            <a:prstDash val="solid"/>
          </a:ln>
        </p:spPr>
      </p:sp>
      <p:sp>
        <p:nvSpPr>
          <p:cNvPr id="11" name="Text 8"/>
          <p:cNvSpPr txBox="1"/>
          <p:nvPr/>
        </p:nvSpPr>
        <p:spPr>
          <a:xfrm>
            <a:off x="8641080" y="3904488"/>
            <a:ext cx="2743200" cy="274320"/>
          </a:xfrm>
          <a:prstGeom prst="rect">
            <a:avLst/>
          </a:prstGeom>
          <a:noFill/>
          <a:ln/>
        </p:spPr>
        <p:txBody>
          <a:bodyPr wrap="square" lIns="0" tIns="0" rIns="0" bIns="0" rtlCol="0" anchor="t"/>
          <a:lstStyle/>
          <a:p>
            <a:pPr indent="0" marL="0">
              <a:buNone/>
            </a:pPr>
            <a:r>
              <a:rPr lang="en-US" sz="1300" b="1" dirty="0">
                <a:solidFill>
                  <a:srgbClr val="83600F"/>
                </a:solidFill>
                <a:latin typeface="Calibri" pitchFamily="34" charset="0"/>
                <a:ea typeface="Calibri" pitchFamily="34" charset="-122"/>
                <a:cs typeface="Calibri" pitchFamily="34" charset="-120"/>
              </a:rPr>
              <a:t>Не входит в листинг</a:t>
            </a:r>
            <a:endParaRPr lang="en-US" sz="1300" dirty="0"/>
          </a:p>
        </p:txBody>
      </p:sp>
      <p:sp>
        <p:nvSpPr>
          <p:cNvPr id="12" name="Text 9"/>
          <p:cNvSpPr txBox="1"/>
          <p:nvPr/>
        </p:nvSpPr>
        <p:spPr>
          <a:xfrm>
            <a:off x="8641080" y="4233672"/>
            <a:ext cx="2788920" cy="1874520"/>
          </a:xfrm>
          <a:prstGeom prst="rect">
            <a:avLst/>
          </a:prstGeom>
          <a:noFill/>
          <a:ln/>
        </p:spPr>
        <p:txBody>
          <a:bodyPr wrap="square" lIns="0" tIns="0" rIns="0" bIns="0" rtlCol="0" anchor="t"/>
          <a:lstStyle/>
          <a:p>
            <a:pPr indent="0" marL="0">
              <a:buNone/>
            </a:pPr>
            <a:r>
              <a:rPr lang="en-US" sz="1150" dirty="0">
                <a:solidFill>
                  <a:srgbClr val="14201E"/>
                </a:solidFill>
                <a:latin typeface="Calibri" pitchFamily="34" charset="0"/>
                <a:ea typeface="Calibri" pitchFamily="34" charset="-122"/>
                <a:cs typeface="Calibri" pitchFamily="34" charset="-120"/>
              </a:rPr>
              <a:t>В репозитории лежит сторонний эмулятор Telegram на Go и React (cmd/, internal/, web/) — основа, от которой начат репозиторий, другого автора. К комплексу не относится и в описание не включается.</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5A55"/>
                </a:solidFill>
                <a:latin typeface="Calibri" pitchFamily="34" charset="0"/>
                <a:ea typeface="Calibri" pitchFamily="34" charset="-122"/>
                <a:cs typeface="Calibri" pitchFamily="34" charset="-120"/>
              </a:rPr>
              <a:t>НОРМАТИВНАЯ ОСНОВА</a:t>
            </a:r>
            <a:endParaRPr lang="en-US" sz="1100" dirty="0"/>
          </a:p>
        </p:txBody>
      </p:sp>
      <p:sp>
        <p:nvSpPr>
          <p:cNvPr id="3" name="Text 1"/>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2800" b="1" dirty="0">
                <a:solidFill>
                  <a:srgbClr val="14201E"/>
                </a:solidFill>
                <a:latin typeface="Cambria" pitchFamily="34" charset="0"/>
                <a:ea typeface="Cambria" pitchFamily="34" charset="-122"/>
                <a:cs typeface="Cambria" pitchFamily="34" charset="-120"/>
              </a:rPr>
              <a:t>На какие документы опирается комплекс</a:t>
            </a:r>
            <a:endParaRPr lang="en-US" sz="2800" dirty="0"/>
          </a:p>
        </p:txBody>
      </p:sp>
      <p:sp>
        <p:nvSpPr>
          <p:cNvPr id="4" name="Text 2"/>
          <p:cNvSpPr txBox="1"/>
          <p:nvPr/>
        </p:nvSpPr>
        <p:spPr>
          <a:xfrm>
            <a:off x="548640" y="6419088"/>
            <a:ext cx="7315200" cy="228600"/>
          </a:xfrm>
          <a:prstGeom prst="rect">
            <a:avLst/>
          </a:prstGeom>
          <a:noFill/>
          <a:ln/>
        </p:spPr>
        <p:txBody>
          <a:bodyPr wrap="square" lIns="0" tIns="0" rIns="0" bIns="0" rtlCol="0" anchor="t"/>
          <a:lstStyle/>
          <a:p>
            <a:pPr indent="0" marL="0">
              <a:buNone/>
            </a:pPr>
            <a:r>
              <a:rPr lang="en-US" sz="900" dirty="0">
                <a:solidFill>
                  <a:srgbClr val="748480"/>
                </a:solidFill>
                <a:latin typeface="Calibri" pitchFamily="34" charset="0"/>
                <a:ea typeface="Calibri" pitchFamily="34" charset="-122"/>
                <a:cs typeface="Calibri" pitchFamily="34" charset="-120"/>
              </a:rPr>
              <a:t>АНО «СДУТ» · листинг комплекса «Бот SDUT63 и мини-приложение»</a:t>
            </a:r>
            <a:endParaRPr lang="en-US" sz="900" dirty="0"/>
          </a:p>
        </p:txBody>
      </p:sp>
      <p:sp>
        <p:nvSpPr>
          <p:cNvPr id="5" name="Text 3"/>
          <p:cNvSpPr txBox="1"/>
          <p:nvPr/>
        </p:nvSpPr>
        <p:spPr>
          <a:xfrm>
            <a:off x="10271455" y="6419088"/>
            <a:ext cx="1371600" cy="228600"/>
          </a:xfrm>
          <a:prstGeom prst="rect">
            <a:avLst/>
          </a:prstGeom>
          <a:noFill/>
          <a:ln/>
        </p:spPr>
        <p:txBody>
          <a:bodyPr wrap="square" lIns="0" tIns="0" rIns="0" bIns="0" rtlCol="0" anchor="t"/>
          <a:lstStyle/>
          <a:p>
            <a:pPr algn="r" indent="0" marL="0">
              <a:buNone/>
            </a:pPr>
            <a:r>
              <a:rPr lang="en-US" sz="900" dirty="0">
                <a:solidFill>
                  <a:srgbClr val="748480"/>
                </a:solidFill>
                <a:latin typeface="Calibri" pitchFamily="34" charset="0"/>
                <a:ea typeface="Calibri" pitchFamily="34" charset="-122"/>
                <a:cs typeface="Calibri" pitchFamily="34" charset="-120"/>
              </a:rPr>
              <a:t>21 / 22</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3931920"/>
                <a:gridCol w="4645152"/>
                <a:gridCol w="2514600"/>
              </a:tblGrid>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Документ</a:t>
                      </a:r>
                      <a:endParaRPr lang="en-US" sz="1150" dirty="0">
                        <a:latin typeface="Calibri" charset="0"/>
                        <a:ea typeface="Calibri" charset="0"/>
                        <a:cs typeface="Calibri" charset="0"/>
                      </a:endParaRPr>
                    </a:p>
                  </a:txBody>
                  <a:tcPr marL="88900" marR="889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1B5A55"/>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Что регулирует</a:t>
                      </a:r>
                      <a:endParaRPr lang="en-US" sz="1150" dirty="0">
                        <a:latin typeface="Calibri" charset="0"/>
                        <a:ea typeface="Calibri" charset="0"/>
                        <a:cs typeface="Calibri" charset="0"/>
                      </a:endParaRPr>
                    </a:p>
                  </a:txBody>
                  <a:tcPr marL="88900" marR="889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1B5A55"/>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Где в комплексе</a:t>
                      </a:r>
                      <a:endParaRPr lang="en-US" sz="1150" dirty="0">
                        <a:latin typeface="Calibri" charset="0"/>
                        <a:ea typeface="Calibri" charset="0"/>
                        <a:cs typeface="Calibri" charset="0"/>
                      </a:endParaRPr>
                    </a:p>
                  </a:txBody>
                  <a:tcPr marL="88900" marR="889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1B5A55"/>
                    </a:solidFill>
                  </a:tcPr>
                </a:tc>
              </a:tr>
              <a:tr h="566928">
                <a:tc>
                  <a:txBody>
                    <a:bodyPr/>
                    <a:lstStyle/>
                    <a:p>
                      <a:pPr indent="0" marL="0">
                        <a:buNone/>
                      </a:pPr>
                      <a:r>
                        <a:rPr lang="en-US" sz="1150" b="1" dirty="0">
                          <a:solidFill>
                            <a:srgbClr val="14201E"/>
                          </a:solidFill>
                          <a:latin typeface="Calibri" pitchFamily="34" charset="0"/>
                          <a:ea typeface="Calibri" pitchFamily="34" charset="-122"/>
                          <a:cs typeface="Calibri" pitchFamily="34" charset="-120"/>
                        </a:rPr>
                        <a:t>Приказ Минтруда России от 23.12.2025 № 731</a:t>
                      </a:r>
                      <a:endParaRPr lang="en-US" sz="1150" dirty="0">
                        <a:latin typeface="Calibri" charset="0"/>
                        <a:ea typeface="Calibri" charset="0"/>
                        <a:cs typeface="Calibri" charset="0"/>
                      </a:endParaRPr>
                    </a:p>
                  </a:txBody>
                  <a:tcPr marL="88900" marR="889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Типовая модель системы долговременного ухода на 2026 год; приложение № 3 «Анкета-опросник», блок В — оценочная шкала</a:t>
                      </a:r>
                      <a:endParaRPr lang="en-US" sz="1150" dirty="0">
                        <a:latin typeface="Calibri" charset="0"/>
                        <a:ea typeface="Calibri" charset="0"/>
                        <a:cs typeface="Calibri" charset="0"/>
                      </a:endParaRPr>
                    </a:p>
                  </a:txBody>
                  <a:tcPr marL="88900" marR="889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Шкала, уровни, часы</a:t>
                      </a:r>
                      <a:endParaRPr lang="en-US" sz="1150" dirty="0">
                        <a:latin typeface="Calibri" charset="0"/>
                        <a:ea typeface="Calibri" charset="0"/>
                        <a:cs typeface="Calibri" charset="0"/>
                      </a:endParaRPr>
                    </a:p>
                  </a:txBody>
                  <a:tcPr marL="88900" marR="889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4201E"/>
                          </a:solidFill>
                          <a:latin typeface="Calibri" pitchFamily="34" charset="0"/>
                          <a:ea typeface="Calibri" pitchFamily="34" charset="-122"/>
                          <a:cs typeface="Calibri" pitchFamily="34" charset="-120"/>
                        </a:rPr>
                        <a:t>Приказ Минсоцдемографии Самарской области от 01.09.2025 № 615</a:t>
                      </a:r>
                      <a:endParaRPr lang="en-US" sz="1150" dirty="0">
                        <a:latin typeface="Calibri" charset="0"/>
                        <a:ea typeface="Calibri" charset="0"/>
                        <a:cs typeface="Calibri" charset="0"/>
                      </a:endParaRPr>
                    </a:p>
                  </a:txBody>
                  <a:tcPr marL="88900" marR="889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Модель СДУ в отдельных муниципальных образованиях области</a:t>
                      </a:r>
                      <a:endParaRPr lang="en-US" sz="1150" dirty="0">
                        <a:latin typeface="Calibri" charset="0"/>
                        <a:ea typeface="Calibri" charset="0"/>
                        <a:cs typeface="Calibri" charset="0"/>
                      </a:endParaRPr>
                    </a:p>
                  </a:txBody>
                  <a:tcPr marL="88900" marR="889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Статус СДУ в регионе</a:t>
                      </a:r>
                      <a:endParaRPr lang="en-US" sz="1150" dirty="0">
                        <a:latin typeface="Calibri" charset="0"/>
                        <a:ea typeface="Calibri" charset="0"/>
                        <a:cs typeface="Calibri" charset="0"/>
                      </a:endParaRPr>
                    </a:p>
                  </a:txBody>
                  <a:tcPr marL="88900" marR="889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r>
              <a:tr h="566928">
                <a:tc>
                  <a:txBody>
                    <a:bodyPr/>
                    <a:lstStyle/>
                    <a:p>
                      <a:pPr indent="0" marL="0">
                        <a:buNone/>
                      </a:pPr>
                      <a:r>
                        <a:rPr lang="en-US" sz="1150" b="1" dirty="0">
                          <a:solidFill>
                            <a:srgbClr val="14201E"/>
                          </a:solidFill>
                          <a:latin typeface="Calibri" pitchFamily="34" charset="0"/>
                          <a:ea typeface="Calibri" pitchFamily="34" charset="-122"/>
                          <a:cs typeface="Calibri" pitchFamily="34" charset="-120"/>
                        </a:rPr>
                        <a:t>Приказ Минздрава России № 208н / Минтруда России № 243н от 14.04.2025</a:t>
                      </a:r>
                      <a:endParaRPr lang="en-US" sz="1150" dirty="0">
                        <a:latin typeface="Calibri" charset="0"/>
                        <a:ea typeface="Calibri" charset="0"/>
                        <a:cs typeface="Calibri" charset="0"/>
                      </a:endParaRPr>
                    </a:p>
                  </a:txBody>
                  <a:tcPr marL="88900" marR="889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Положение об организации паллиативной медицинской помощи</a:t>
                      </a:r>
                      <a:endParaRPr lang="en-US" sz="1150" dirty="0">
                        <a:latin typeface="Calibri" charset="0"/>
                        <a:ea typeface="Calibri" charset="0"/>
                        <a:cs typeface="Calibri" charset="0"/>
                      </a:endParaRPr>
                    </a:p>
                  </a:txBody>
                  <a:tcPr marL="88900" marR="889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Маршрут М1, медизделия на дом</a:t>
                      </a:r>
                      <a:endParaRPr lang="en-US" sz="1150" dirty="0">
                        <a:latin typeface="Calibri" charset="0"/>
                        <a:ea typeface="Calibri" charset="0"/>
                        <a:cs typeface="Calibri" charset="0"/>
                      </a:endParaRPr>
                    </a:p>
                  </a:txBody>
                  <a:tcPr marL="88900" marR="889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4201E"/>
                          </a:solidFill>
                          <a:latin typeface="Calibri" pitchFamily="34" charset="0"/>
                          <a:ea typeface="Calibri" pitchFamily="34" charset="-122"/>
                          <a:cs typeface="Calibri" pitchFamily="34" charset="-120"/>
                        </a:rPr>
                        <a:t>Федеральный закон от 27.07.2006 № 152-ФЗ</a:t>
                      </a:r>
                      <a:endParaRPr lang="en-US" sz="1150" dirty="0">
                        <a:latin typeface="Calibri" charset="0"/>
                        <a:ea typeface="Calibri" charset="0"/>
                        <a:cs typeface="Calibri" charset="0"/>
                      </a:endParaRPr>
                    </a:p>
                  </a:txBody>
                  <a:tcPr marL="88900" marR="889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О персональных данных: ст. 5 ч. 7, ст. 9, ст. 18 ч. 3</a:t>
                      </a:r>
                      <a:endParaRPr lang="en-US" sz="1150" dirty="0">
                        <a:latin typeface="Calibri" charset="0"/>
                        <a:ea typeface="Calibri" charset="0"/>
                        <a:cs typeface="Calibri" charset="0"/>
                      </a:endParaRPr>
                    </a:p>
                  </a:txBody>
                  <a:tcPr marL="88900" marR="889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Согласие, сроки, уведомление</a:t>
                      </a:r>
                      <a:endParaRPr lang="en-US" sz="1150" dirty="0">
                        <a:latin typeface="Calibri" charset="0"/>
                        <a:ea typeface="Calibri" charset="0"/>
                        <a:cs typeface="Calibri" charset="0"/>
                      </a:endParaRPr>
                    </a:p>
                  </a:txBody>
                  <a:tcPr marL="88900" marR="889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r>
              <a:tr h="566928">
                <a:tc>
                  <a:txBody>
                    <a:bodyPr/>
                    <a:lstStyle/>
                    <a:p>
                      <a:pPr indent="0" marL="0">
                        <a:buNone/>
                      </a:pPr>
                      <a:r>
                        <a:rPr lang="en-US" sz="1150" b="1" dirty="0">
                          <a:solidFill>
                            <a:srgbClr val="14201E"/>
                          </a:solidFill>
                          <a:latin typeface="Calibri" pitchFamily="34" charset="0"/>
                          <a:ea typeface="Calibri" pitchFamily="34" charset="-122"/>
                          <a:cs typeface="Calibri" pitchFamily="34" charset="-120"/>
                        </a:rPr>
                        <a:t>Федеральный закон от 28.12.2013 № 442-ФЗ</a:t>
                      </a:r>
                      <a:endParaRPr lang="en-US" sz="1150" dirty="0">
                        <a:latin typeface="Calibri" charset="0"/>
                        <a:ea typeface="Calibri" charset="0"/>
                        <a:cs typeface="Calibri" charset="0"/>
                      </a:endParaRPr>
                    </a:p>
                  </a:txBody>
                  <a:tcPr marL="88900" marR="889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Об основах социального обслуживания: ст. 15, 16, 21, 30, 31</a:t>
                      </a:r>
                      <a:endParaRPr lang="en-US" sz="1150" dirty="0">
                        <a:latin typeface="Calibri" charset="0"/>
                        <a:ea typeface="Calibri" charset="0"/>
                        <a:cs typeface="Calibri" charset="0"/>
                      </a:endParaRPr>
                    </a:p>
                  </a:txBody>
                  <a:tcPr marL="88900" marR="889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Маршрут М2, реестр, ИППСУ</a:t>
                      </a:r>
                      <a:endParaRPr lang="en-US" sz="1150" dirty="0">
                        <a:latin typeface="Calibri" charset="0"/>
                        <a:ea typeface="Calibri" charset="0"/>
                        <a:cs typeface="Calibri" charset="0"/>
                      </a:endParaRPr>
                    </a:p>
                  </a:txBody>
                  <a:tcPr marL="88900" marR="889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4201E"/>
                          </a:solidFill>
                          <a:latin typeface="Calibri" pitchFamily="34" charset="0"/>
                          <a:ea typeface="Calibri" pitchFamily="34" charset="-122"/>
                          <a:cs typeface="Calibri" pitchFamily="34" charset="-120"/>
                        </a:rPr>
                        <a:t>Федеральный закон от 21.11.2011 № 323-ФЗ</a:t>
                      </a:r>
                      <a:endParaRPr lang="en-US" sz="1150" dirty="0">
                        <a:latin typeface="Calibri" charset="0"/>
                        <a:ea typeface="Calibri" charset="0"/>
                        <a:cs typeface="Calibri" charset="0"/>
                      </a:endParaRPr>
                    </a:p>
                  </a:txBody>
                  <a:tcPr marL="88900" marR="889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Об основах охраны здоровья: ст. 11</a:t>
                      </a:r>
                      <a:endParaRPr lang="en-US" sz="1150" dirty="0">
                        <a:latin typeface="Calibri" charset="0"/>
                        <a:ea typeface="Calibri" charset="0"/>
                        <a:cs typeface="Calibri" charset="0"/>
                      </a:endParaRPr>
                    </a:p>
                  </a:txBody>
                  <a:tcPr marL="88900" marR="889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c>
                  <a:txBody>
                    <a:bodyPr/>
                    <a:lstStyle/>
                    <a:p>
                      <a:pPr indent="0" marL="0">
                        <a:buNone/>
                      </a:pPr>
                      <a:r>
                        <a:rPr lang="en-US" sz="1150" dirty="0">
                          <a:solidFill>
                            <a:srgbClr val="14201E"/>
                          </a:solidFill>
                          <a:latin typeface="Calibri" pitchFamily="34" charset="0"/>
                          <a:ea typeface="Calibri" pitchFamily="34" charset="-122"/>
                          <a:cs typeface="Calibri" pitchFamily="34" charset="-120"/>
                        </a:rPr>
                        <a:t>Справка о праве на помощь</a:t>
                      </a:r>
                      <a:endParaRPr lang="en-US" sz="1150" dirty="0">
                        <a:latin typeface="Calibri" charset="0"/>
                        <a:ea typeface="Calibri" charset="0"/>
                        <a:cs typeface="Calibri" charset="0"/>
                      </a:endParaRPr>
                    </a:p>
                  </a:txBody>
                  <a:tcPr marL="88900" marR="88900" marT="50800" marB="50800" anchor="ctr">
                    <a:lnL w="9525" cap="flat" cmpd="sng" algn="ctr">
                      <a:solidFill>
                        <a:srgbClr val="CBD6D2"/>
                      </a:solidFill>
                      <a:prstDash val="solid"/>
                      <a:round/>
                      <a:headEnd type="none" w="med" len="med"/>
                      <a:tailEnd type="none" w="med" len="med"/>
                    </a:lnL>
                    <a:lnR w="9525" cap="flat" cmpd="sng" algn="ctr">
                      <a:solidFill>
                        <a:srgbClr val="CBD6D2"/>
                      </a:solidFill>
                      <a:prstDash val="solid"/>
                      <a:round/>
                      <a:headEnd type="none" w="med" len="med"/>
                      <a:tailEnd type="none" w="med" len="med"/>
                    </a:lnR>
                    <a:lnT w="9525" cap="flat" cmpd="sng" algn="ctr">
                      <a:solidFill>
                        <a:srgbClr val="CBD6D2"/>
                      </a:solidFill>
                      <a:prstDash val="solid"/>
                      <a:round/>
                      <a:headEnd type="none" w="med" len="med"/>
                      <a:tailEnd type="none" w="med" len="med"/>
                    </a:lnT>
                    <a:lnB w="9525" cap="flat" cmpd="sng" algn="ctr">
                      <a:solidFill>
                        <a:srgbClr val="CBD6D2"/>
                      </a:solidFill>
                      <a:prstDash val="solid"/>
                      <a:round/>
                      <a:headEnd type="none" w="med" len="med"/>
                      <a:tailEnd type="none" w="med" len="med"/>
                    </a:lnB>
                    <a:solidFill>
                      <a:srgbClr val="F2F5F3"/>
                    </a:solidFill>
                  </a:tcPr>
                </a:tc>
              </a:tr>
            </a:tbl>
          </a:graphicData>
        </a:graphic>
      </p:graphicFrame>
      <p:sp>
        <p:nvSpPr>
          <p:cNvPr id="7" name="Text 4"/>
          <p:cNvSpPr txBox="1"/>
          <p:nvPr/>
        </p:nvSpPr>
        <p:spPr>
          <a:xfrm>
            <a:off x="548640" y="5577840"/>
            <a:ext cx="11091672" cy="640080"/>
          </a:xfrm>
          <a:prstGeom prst="rect">
            <a:avLst/>
          </a:prstGeom>
          <a:noFill/>
          <a:ln/>
        </p:spPr>
        <p:txBody>
          <a:bodyPr wrap="square" lIns="0" tIns="0" rIns="0" bIns="0" rtlCol="0" anchor="t"/>
          <a:lstStyle/>
          <a:p>
            <a:pPr indent="0" marL="0">
              <a:buNone/>
            </a:pPr>
            <a:r>
              <a:rPr lang="en-US" sz="1150" dirty="0">
                <a:solidFill>
                  <a:srgbClr val="4B5A56"/>
                </a:solidFill>
                <a:latin typeface="Calibri" pitchFamily="34" charset="0"/>
                <a:ea typeface="Calibri" pitchFamily="34" charset="-122"/>
                <a:cs typeface="Calibri" pitchFamily="34" charset="-120"/>
              </a:rPr>
              <a:t>Реквизиты приказов № 731, № 615 и № 208н/243н сверены с опубликованными текстами 24.09.2026. Пороги баллов шкалы взяты из приложения № 3 — перед публикацией их стоит сверить с полным текстом приказа.</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302D"/>
        </a:solidFill>
      </p:bgPr>
    </p:bg>
    <p:spTree>
      <p:nvGrpSpPr>
        <p:cNvPr id="1" name=""/>
        <p:cNvGrpSpPr/>
        <p:nvPr/>
      </p:nvGrpSpPr>
      <p:grpSpPr>
        <a:xfrm>
          <a:off x="0" y="0"/>
          <a:ext cx="0" cy="0"/>
          <a:chOff x="0" y="0"/>
          <a:chExt cx="0" cy="0"/>
        </a:xfrm>
      </p:grpSpPr>
      <p:sp>
        <p:nvSpPr>
          <p:cNvPr id="2" name="Text 0"/>
          <p:cNvSpPr txBox="1"/>
          <p:nvPr/>
        </p:nvSpPr>
        <p:spPr>
          <a:xfrm>
            <a:off x="731520" y="685800"/>
            <a:ext cx="7315200" cy="274320"/>
          </a:xfrm>
          <a:prstGeom prst="rect">
            <a:avLst/>
          </a:prstGeom>
          <a:noFill/>
          <a:ln/>
        </p:spPr>
        <p:txBody>
          <a:bodyPr wrap="square" lIns="0" tIns="0" rIns="0" bIns="0" rtlCol="0" anchor="t"/>
          <a:lstStyle/>
          <a:p>
            <a:pPr indent="0" marL="0">
              <a:buNone/>
            </a:pPr>
            <a:r>
              <a:rPr lang="en-US" sz="1200" b="1" spc="300" kern="0" dirty="0">
                <a:solidFill>
                  <a:srgbClr val="9FC7C0"/>
                </a:solidFill>
                <a:latin typeface="Calibri" pitchFamily="34" charset="0"/>
                <a:ea typeface="Calibri" pitchFamily="34" charset="-122"/>
                <a:cs typeface="Calibri" pitchFamily="34" charset="-120"/>
              </a:rPr>
              <a:t>СТАТУС И КОНТАКТЫ</a:t>
            </a:r>
            <a:endParaRPr lang="en-US" sz="1200" dirty="0"/>
          </a:p>
        </p:txBody>
      </p:sp>
      <p:sp>
        <p:nvSpPr>
          <p:cNvPr id="3" name="Text 1"/>
          <p:cNvSpPr txBox="1"/>
          <p:nvPr/>
        </p:nvSpPr>
        <p:spPr>
          <a:xfrm>
            <a:off x="731520" y="1005840"/>
            <a:ext cx="10881360" cy="68580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АНО «Система долговременного ухода г. Тольятти»</a:t>
            </a:r>
            <a:endParaRPr lang="en-US" sz="2600" dirty="0"/>
          </a:p>
        </p:txBody>
      </p:sp>
      <p:sp>
        <p:nvSpPr>
          <p:cNvPr id="4" name="Text 2"/>
          <p:cNvSpPr txBox="1"/>
          <p:nvPr/>
        </p:nvSpPr>
        <p:spPr>
          <a:xfrm>
            <a:off x="731520" y="2103120"/>
            <a:ext cx="2651760" cy="36576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Бот SDUT63 в MAX</a:t>
            </a:r>
            <a:endParaRPr lang="en-US" sz="1400" dirty="0"/>
          </a:p>
        </p:txBody>
      </p:sp>
      <p:sp>
        <p:nvSpPr>
          <p:cNvPr id="5" name="Text 3"/>
          <p:cNvSpPr txBox="1"/>
          <p:nvPr/>
        </p:nvSpPr>
        <p:spPr>
          <a:xfrm>
            <a:off x="3429000" y="2103120"/>
            <a:ext cx="4023360" cy="411480"/>
          </a:xfrm>
          <a:prstGeom prst="rect">
            <a:avLst/>
          </a:prstGeom>
          <a:noFill/>
          <a:ln/>
        </p:spPr>
        <p:txBody>
          <a:bodyPr wrap="square" lIns="0" tIns="0" rIns="0" bIns="0" rtlCol="0" anchor="t"/>
          <a:lstStyle/>
          <a:p>
            <a:pPr indent="0" marL="0">
              <a:buNone/>
            </a:pPr>
            <a:r>
              <a:rPr lang="en-US" sz="1300" dirty="0">
                <a:solidFill>
                  <a:srgbClr val="D6E6E3"/>
                </a:solidFill>
                <a:latin typeface="Calibri" pitchFamily="34" charset="0"/>
                <a:ea typeface="Calibri" pitchFamily="34" charset="-122"/>
                <a:cs typeface="Calibri" pitchFamily="34" charset="-120"/>
              </a:rPr>
              <a:t>работает; подготовка к тестовому запуску</a:t>
            </a:r>
            <a:endParaRPr lang="en-US" sz="1300" dirty="0"/>
          </a:p>
        </p:txBody>
      </p:sp>
      <p:sp>
        <p:nvSpPr>
          <p:cNvPr id="6" name="Text 4"/>
          <p:cNvSpPr txBox="1"/>
          <p:nvPr/>
        </p:nvSpPr>
        <p:spPr>
          <a:xfrm>
            <a:off x="731520" y="2578608"/>
            <a:ext cx="2651760" cy="36576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Мини-приложение</a:t>
            </a:r>
            <a:endParaRPr lang="en-US" sz="1400" dirty="0"/>
          </a:p>
        </p:txBody>
      </p:sp>
      <p:sp>
        <p:nvSpPr>
          <p:cNvPr id="7" name="Text 5"/>
          <p:cNvSpPr txBox="1"/>
          <p:nvPr/>
        </p:nvSpPr>
        <p:spPr>
          <a:xfrm>
            <a:off x="3429000" y="2578608"/>
            <a:ext cx="4023360" cy="411480"/>
          </a:xfrm>
          <a:prstGeom prst="rect">
            <a:avLst/>
          </a:prstGeom>
          <a:noFill/>
          <a:ln/>
        </p:spPr>
        <p:txBody>
          <a:bodyPr wrap="square" lIns="0" tIns="0" rIns="0" bIns="0" rtlCol="0" anchor="t"/>
          <a:lstStyle/>
          <a:p>
            <a:pPr indent="0" marL="0">
              <a:buNone/>
            </a:pPr>
            <a:r>
              <a:rPr lang="en-US" sz="1300" dirty="0">
                <a:solidFill>
                  <a:srgbClr val="D6E6E3"/>
                </a:solidFill>
                <a:latin typeface="Calibri" pitchFamily="34" charset="0"/>
                <a:ea typeface="Calibri" pitchFamily="34" charset="-122"/>
                <a:cs typeface="Calibri" pitchFamily="34" charset="-120"/>
              </a:rPr>
              <a:t>опубликовано; обновляется выгрузкой одного архива</a:t>
            </a:r>
            <a:endParaRPr lang="en-US" sz="1300" dirty="0"/>
          </a:p>
        </p:txBody>
      </p:sp>
      <p:sp>
        <p:nvSpPr>
          <p:cNvPr id="8" name="Text 6"/>
          <p:cNvSpPr txBox="1"/>
          <p:nvPr/>
        </p:nvSpPr>
        <p:spPr>
          <a:xfrm>
            <a:off x="731520" y="3054096"/>
            <a:ext cx="2651760" cy="36576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Прайс</a:t>
            </a:r>
            <a:endParaRPr lang="en-US" sz="1400" dirty="0"/>
          </a:p>
        </p:txBody>
      </p:sp>
      <p:sp>
        <p:nvSpPr>
          <p:cNvPr id="9" name="Text 7"/>
          <p:cNvSpPr txBox="1"/>
          <p:nvPr/>
        </p:nvSpPr>
        <p:spPr>
          <a:xfrm>
            <a:off x="3429000" y="3054096"/>
            <a:ext cx="4023360" cy="411480"/>
          </a:xfrm>
          <a:prstGeom prst="rect">
            <a:avLst/>
          </a:prstGeom>
          <a:noFill/>
          <a:ln/>
        </p:spPr>
        <p:txBody>
          <a:bodyPr wrap="square" lIns="0" tIns="0" rIns="0" bIns="0" rtlCol="0" anchor="t"/>
          <a:lstStyle/>
          <a:p>
            <a:pPr indent="0" marL="0">
              <a:buNone/>
            </a:pPr>
            <a:r>
              <a:rPr lang="en-US" sz="1300" dirty="0">
                <a:solidFill>
                  <a:srgbClr val="D6E6E3"/>
                </a:solidFill>
                <a:latin typeface="Calibri" pitchFamily="34" charset="0"/>
                <a:ea typeface="Calibri" pitchFamily="34" charset="-122"/>
                <a:cs typeface="Calibri" pitchFamily="34" charset="-120"/>
              </a:rPr>
              <a:t>действует с 01.10.2026</a:t>
            </a:r>
            <a:endParaRPr lang="en-US" sz="1300" dirty="0"/>
          </a:p>
        </p:txBody>
      </p:sp>
      <p:sp>
        <p:nvSpPr>
          <p:cNvPr id="10" name="Text 8"/>
          <p:cNvSpPr txBox="1"/>
          <p:nvPr/>
        </p:nvSpPr>
        <p:spPr>
          <a:xfrm>
            <a:off x="731520" y="3529584"/>
            <a:ext cx="2651760" cy="36576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Софинансирование</a:t>
            </a:r>
            <a:endParaRPr lang="en-US" sz="1400" dirty="0"/>
          </a:p>
        </p:txBody>
      </p:sp>
      <p:sp>
        <p:nvSpPr>
          <p:cNvPr id="11" name="Text 9"/>
          <p:cNvSpPr txBox="1"/>
          <p:nvPr/>
        </p:nvSpPr>
        <p:spPr>
          <a:xfrm>
            <a:off x="3429000" y="3529584"/>
            <a:ext cx="4023360" cy="411480"/>
          </a:xfrm>
          <a:prstGeom prst="rect">
            <a:avLst/>
          </a:prstGeom>
          <a:noFill/>
          <a:ln/>
        </p:spPr>
        <p:txBody>
          <a:bodyPr wrap="square" lIns="0" tIns="0" rIns="0" bIns="0" rtlCol="0" anchor="t"/>
          <a:lstStyle/>
          <a:p>
            <a:pPr indent="0" marL="0">
              <a:buNone/>
            </a:pPr>
            <a:r>
              <a:rPr lang="en-US" sz="1300" dirty="0">
                <a:solidFill>
                  <a:srgbClr val="D6E6E3"/>
                </a:solidFill>
                <a:latin typeface="Calibri" pitchFamily="34" charset="0"/>
                <a:ea typeface="Calibri" pitchFamily="34" charset="-122"/>
                <a:cs typeface="Calibri" pitchFamily="34" charset="-120"/>
              </a:rPr>
              <a:t>в ожидании; СДУ в Тольятти — ожидается с 2027 года</a:t>
            </a:r>
            <a:endParaRPr lang="en-US" sz="1300" dirty="0"/>
          </a:p>
        </p:txBody>
      </p:sp>
      <p:sp>
        <p:nvSpPr>
          <p:cNvPr id="12" name="Text 10"/>
          <p:cNvSpPr txBox="1"/>
          <p:nvPr/>
        </p:nvSpPr>
        <p:spPr>
          <a:xfrm>
            <a:off x="731520" y="4005072"/>
            <a:ext cx="2651760" cy="36576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Языковая модель</a:t>
            </a:r>
            <a:endParaRPr lang="en-US" sz="1400" dirty="0"/>
          </a:p>
        </p:txBody>
      </p:sp>
      <p:sp>
        <p:nvSpPr>
          <p:cNvPr id="13" name="Text 11"/>
          <p:cNvSpPr txBox="1"/>
          <p:nvPr/>
        </p:nvSpPr>
        <p:spPr>
          <a:xfrm>
            <a:off x="3429000" y="4005072"/>
            <a:ext cx="4023360" cy="411480"/>
          </a:xfrm>
          <a:prstGeom prst="rect">
            <a:avLst/>
          </a:prstGeom>
          <a:noFill/>
          <a:ln/>
        </p:spPr>
        <p:txBody>
          <a:bodyPr wrap="square" lIns="0" tIns="0" rIns="0" bIns="0" rtlCol="0" anchor="t"/>
          <a:lstStyle/>
          <a:p>
            <a:pPr indent="0" marL="0">
              <a:buNone/>
            </a:pPr>
            <a:r>
              <a:rPr lang="en-US" sz="1300" dirty="0">
                <a:solidFill>
                  <a:srgbClr val="D6E6E3"/>
                </a:solidFill>
                <a:latin typeface="Calibri" pitchFamily="34" charset="0"/>
                <a:ea typeface="Calibri" pitchFamily="34" charset="-122"/>
                <a:cs typeface="Calibri" pitchFamily="34" charset="-120"/>
              </a:rPr>
              <a:t>выключена; включается одной настройкой</a:t>
            </a:r>
            <a:endParaRPr lang="en-US" sz="1300" dirty="0"/>
          </a:p>
        </p:txBody>
      </p:sp>
      <p:sp>
        <p:nvSpPr>
          <p:cNvPr id="14" name="Text 12"/>
          <p:cNvSpPr txBox="1"/>
          <p:nvPr/>
        </p:nvSpPr>
        <p:spPr>
          <a:xfrm>
            <a:off x="731520" y="4480560"/>
            <a:ext cx="2651760" cy="36576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Карта помощников</a:t>
            </a:r>
            <a:endParaRPr lang="en-US" sz="1400" dirty="0"/>
          </a:p>
        </p:txBody>
      </p:sp>
      <p:sp>
        <p:nvSpPr>
          <p:cNvPr id="15" name="Text 13"/>
          <p:cNvSpPr txBox="1"/>
          <p:nvPr/>
        </p:nvSpPr>
        <p:spPr>
          <a:xfrm>
            <a:off x="3429000" y="4480560"/>
            <a:ext cx="4023360" cy="411480"/>
          </a:xfrm>
          <a:prstGeom prst="rect">
            <a:avLst/>
          </a:prstGeom>
          <a:noFill/>
          <a:ln/>
        </p:spPr>
        <p:txBody>
          <a:bodyPr wrap="square" lIns="0" tIns="0" rIns="0" bIns="0" rtlCol="0" anchor="t"/>
          <a:lstStyle/>
          <a:p>
            <a:pPr indent="0" marL="0">
              <a:buNone/>
            </a:pPr>
            <a:r>
              <a:rPr lang="en-US" sz="1300" dirty="0">
                <a:solidFill>
                  <a:srgbClr val="D6E6E3"/>
                </a:solidFill>
                <a:latin typeface="Calibri" pitchFamily="34" charset="0"/>
                <a:ea typeface="Calibri" pitchFamily="34" charset="-122"/>
                <a:cs typeface="Calibri" pitchFamily="34" charset="-120"/>
              </a:rPr>
              <a:t>отложена до окончания тестового запуска</a:t>
            </a:r>
            <a:endParaRPr lang="en-US" sz="1300" dirty="0"/>
          </a:p>
        </p:txBody>
      </p:sp>
      <p:sp>
        <p:nvSpPr>
          <p:cNvPr id="16" name="Shape 14"/>
          <p:cNvSpPr/>
          <p:nvPr/>
        </p:nvSpPr>
        <p:spPr>
          <a:xfrm>
            <a:off x="7818120" y="2011680"/>
            <a:ext cx="3822192" cy="3246120"/>
          </a:xfrm>
          <a:prstGeom prst="roundRect">
            <a:avLst>
              <a:gd name="adj" fmla="val 2254"/>
            </a:avLst>
          </a:prstGeom>
          <a:solidFill>
            <a:srgbClr val="1B403C"/>
          </a:solidFill>
          <a:ln w="12700">
            <a:solidFill>
              <a:srgbClr val="1B403C"/>
            </a:solidFill>
            <a:prstDash val="solid"/>
          </a:ln>
        </p:spPr>
      </p:sp>
      <p:sp>
        <p:nvSpPr>
          <p:cNvPr id="17" name="Text 15"/>
          <p:cNvSpPr txBox="1"/>
          <p:nvPr/>
        </p:nvSpPr>
        <p:spPr>
          <a:xfrm>
            <a:off x="8046720" y="2194560"/>
            <a:ext cx="1188720" cy="365760"/>
          </a:xfrm>
          <a:prstGeom prst="rect">
            <a:avLst/>
          </a:prstGeom>
          <a:noFill/>
          <a:ln/>
        </p:spPr>
        <p:txBody>
          <a:bodyPr wrap="square" lIns="0" tIns="0" rIns="0" bIns="0" rtlCol="0" anchor="t"/>
          <a:lstStyle/>
          <a:p>
            <a:pPr indent="0" marL="0">
              <a:buNone/>
            </a:pPr>
            <a:r>
              <a:rPr lang="en-US" sz="1150" dirty="0">
                <a:solidFill>
                  <a:srgbClr val="9FC7C0"/>
                </a:solidFill>
                <a:latin typeface="Calibri" pitchFamily="34" charset="0"/>
                <a:ea typeface="Calibri" pitchFamily="34" charset="-122"/>
                <a:cs typeface="Calibri" pitchFamily="34" charset="-120"/>
              </a:rPr>
              <a:t>ОГРН</a:t>
            </a:r>
            <a:endParaRPr lang="en-US" sz="1150" dirty="0"/>
          </a:p>
        </p:txBody>
      </p:sp>
      <p:sp>
        <p:nvSpPr>
          <p:cNvPr id="18" name="Text 16"/>
          <p:cNvSpPr txBox="1"/>
          <p:nvPr/>
        </p:nvSpPr>
        <p:spPr>
          <a:xfrm>
            <a:off x="9189720" y="2194560"/>
            <a:ext cx="2331720" cy="45720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1266300009766</a:t>
            </a:r>
            <a:endParaRPr lang="en-US" sz="1150" dirty="0"/>
          </a:p>
        </p:txBody>
      </p:sp>
      <p:sp>
        <p:nvSpPr>
          <p:cNvPr id="19" name="Text 17"/>
          <p:cNvSpPr txBox="1"/>
          <p:nvPr/>
        </p:nvSpPr>
        <p:spPr>
          <a:xfrm>
            <a:off x="8046720" y="2697480"/>
            <a:ext cx="1188720" cy="365760"/>
          </a:xfrm>
          <a:prstGeom prst="rect">
            <a:avLst/>
          </a:prstGeom>
          <a:noFill/>
          <a:ln/>
        </p:spPr>
        <p:txBody>
          <a:bodyPr wrap="square" lIns="0" tIns="0" rIns="0" bIns="0" rtlCol="0" anchor="t"/>
          <a:lstStyle/>
          <a:p>
            <a:pPr indent="0" marL="0">
              <a:buNone/>
            </a:pPr>
            <a:r>
              <a:rPr lang="en-US" sz="1150" dirty="0">
                <a:solidFill>
                  <a:srgbClr val="9FC7C0"/>
                </a:solidFill>
                <a:latin typeface="Calibri" pitchFamily="34" charset="0"/>
                <a:ea typeface="Calibri" pitchFamily="34" charset="-122"/>
                <a:cs typeface="Calibri" pitchFamily="34" charset="-120"/>
              </a:rPr>
              <a:t>ИНН / КПП</a:t>
            </a:r>
            <a:endParaRPr lang="en-US" sz="1150" dirty="0"/>
          </a:p>
        </p:txBody>
      </p:sp>
      <p:sp>
        <p:nvSpPr>
          <p:cNvPr id="20" name="Text 18"/>
          <p:cNvSpPr txBox="1"/>
          <p:nvPr/>
        </p:nvSpPr>
        <p:spPr>
          <a:xfrm>
            <a:off x="9189720" y="2697480"/>
            <a:ext cx="2331720" cy="45720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6320093220 / 632001001</a:t>
            </a:r>
            <a:endParaRPr lang="en-US" sz="1150" dirty="0"/>
          </a:p>
        </p:txBody>
      </p:sp>
      <p:sp>
        <p:nvSpPr>
          <p:cNvPr id="21" name="Text 19"/>
          <p:cNvSpPr txBox="1"/>
          <p:nvPr/>
        </p:nvSpPr>
        <p:spPr>
          <a:xfrm>
            <a:off x="8046720" y="3200400"/>
            <a:ext cx="1188720" cy="365760"/>
          </a:xfrm>
          <a:prstGeom prst="rect">
            <a:avLst/>
          </a:prstGeom>
          <a:noFill/>
          <a:ln/>
        </p:spPr>
        <p:txBody>
          <a:bodyPr wrap="square" lIns="0" tIns="0" rIns="0" bIns="0" rtlCol="0" anchor="t"/>
          <a:lstStyle/>
          <a:p>
            <a:pPr indent="0" marL="0">
              <a:buNone/>
            </a:pPr>
            <a:r>
              <a:rPr lang="en-US" sz="1150" dirty="0">
                <a:solidFill>
                  <a:srgbClr val="9FC7C0"/>
                </a:solidFill>
                <a:latin typeface="Calibri" pitchFamily="34" charset="0"/>
                <a:ea typeface="Calibri" pitchFamily="34" charset="-122"/>
                <a:cs typeface="Calibri" pitchFamily="34" charset="-120"/>
              </a:rPr>
              <a:t>Адрес</a:t>
            </a:r>
            <a:endParaRPr lang="en-US" sz="1150" dirty="0"/>
          </a:p>
        </p:txBody>
      </p:sp>
      <p:sp>
        <p:nvSpPr>
          <p:cNvPr id="22" name="Text 20"/>
          <p:cNvSpPr txBox="1"/>
          <p:nvPr/>
        </p:nvSpPr>
        <p:spPr>
          <a:xfrm>
            <a:off x="9189720" y="3200400"/>
            <a:ext cx="2331720" cy="45720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445044, Самарская обл., г. Тольятти, ул. Ворошилова, д. 19</a:t>
            </a:r>
            <a:endParaRPr lang="en-US" sz="1150" dirty="0"/>
          </a:p>
        </p:txBody>
      </p:sp>
      <p:sp>
        <p:nvSpPr>
          <p:cNvPr id="23" name="Text 21"/>
          <p:cNvSpPr txBox="1"/>
          <p:nvPr/>
        </p:nvSpPr>
        <p:spPr>
          <a:xfrm>
            <a:off x="8046720" y="3703320"/>
            <a:ext cx="1188720" cy="365760"/>
          </a:xfrm>
          <a:prstGeom prst="rect">
            <a:avLst/>
          </a:prstGeom>
          <a:noFill/>
          <a:ln/>
        </p:spPr>
        <p:txBody>
          <a:bodyPr wrap="square" lIns="0" tIns="0" rIns="0" bIns="0" rtlCol="0" anchor="t"/>
          <a:lstStyle/>
          <a:p>
            <a:pPr indent="0" marL="0">
              <a:buNone/>
            </a:pPr>
            <a:r>
              <a:rPr lang="en-US" sz="1150" dirty="0">
                <a:solidFill>
                  <a:srgbClr val="9FC7C0"/>
                </a:solidFill>
                <a:latin typeface="Calibri" pitchFamily="34" charset="0"/>
                <a:ea typeface="Calibri" pitchFamily="34" charset="-122"/>
                <a:cs typeface="Calibri" pitchFamily="34" charset="-120"/>
              </a:rPr>
              <a:t>Бот</a:t>
            </a:r>
            <a:endParaRPr lang="en-US" sz="1150" dirty="0"/>
          </a:p>
        </p:txBody>
      </p:sp>
      <p:sp>
        <p:nvSpPr>
          <p:cNvPr id="24" name="Text 22"/>
          <p:cNvSpPr txBox="1"/>
          <p:nvPr/>
        </p:nvSpPr>
        <p:spPr>
          <a:xfrm>
            <a:off x="9189720" y="3703320"/>
            <a:ext cx="2331720" cy="45720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max.ru/id6320093220_bot</a:t>
            </a:r>
            <a:endParaRPr lang="en-US" sz="1150" dirty="0"/>
          </a:p>
        </p:txBody>
      </p:sp>
      <p:sp>
        <p:nvSpPr>
          <p:cNvPr id="25" name="Text 23"/>
          <p:cNvSpPr txBox="1"/>
          <p:nvPr/>
        </p:nvSpPr>
        <p:spPr>
          <a:xfrm>
            <a:off x="8046720" y="4206240"/>
            <a:ext cx="1188720" cy="365760"/>
          </a:xfrm>
          <a:prstGeom prst="rect">
            <a:avLst/>
          </a:prstGeom>
          <a:noFill/>
          <a:ln/>
        </p:spPr>
        <p:txBody>
          <a:bodyPr wrap="square" lIns="0" tIns="0" rIns="0" bIns="0" rtlCol="0" anchor="t"/>
          <a:lstStyle/>
          <a:p>
            <a:pPr indent="0" marL="0">
              <a:buNone/>
            </a:pPr>
            <a:r>
              <a:rPr lang="en-US" sz="1150" dirty="0">
                <a:solidFill>
                  <a:srgbClr val="9FC7C0"/>
                </a:solidFill>
                <a:latin typeface="Calibri" pitchFamily="34" charset="0"/>
                <a:ea typeface="Calibri" pitchFamily="34" charset="-122"/>
                <a:cs typeface="Calibri" pitchFamily="34" charset="-120"/>
              </a:rPr>
              <a:t>Приложение</a:t>
            </a:r>
            <a:endParaRPr lang="en-US" sz="1150" dirty="0"/>
          </a:p>
        </p:txBody>
      </p:sp>
      <p:sp>
        <p:nvSpPr>
          <p:cNvPr id="26" name="Text 24"/>
          <p:cNvSpPr txBox="1"/>
          <p:nvPr/>
        </p:nvSpPr>
        <p:spPr>
          <a:xfrm>
            <a:off x="9189720" y="4206240"/>
            <a:ext cx="2331720" cy="45720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sdut.d-lemeshev88.workers.dev</a:t>
            </a:r>
            <a:endParaRPr lang="en-US" sz="1150" dirty="0"/>
          </a:p>
        </p:txBody>
      </p:sp>
      <p:sp>
        <p:nvSpPr>
          <p:cNvPr id="27" name="Text 25"/>
          <p:cNvSpPr txBox="1"/>
          <p:nvPr/>
        </p:nvSpPr>
        <p:spPr>
          <a:xfrm>
            <a:off x="8046720" y="4709160"/>
            <a:ext cx="1188720" cy="365760"/>
          </a:xfrm>
          <a:prstGeom prst="rect">
            <a:avLst/>
          </a:prstGeom>
          <a:noFill/>
          <a:ln/>
        </p:spPr>
        <p:txBody>
          <a:bodyPr wrap="square" lIns="0" tIns="0" rIns="0" bIns="0" rtlCol="0" anchor="t"/>
          <a:lstStyle/>
          <a:p>
            <a:pPr indent="0" marL="0">
              <a:buNone/>
            </a:pPr>
            <a:r>
              <a:rPr lang="en-US" sz="1150" dirty="0">
                <a:solidFill>
                  <a:srgbClr val="9FC7C0"/>
                </a:solidFill>
                <a:latin typeface="Calibri" pitchFamily="34" charset="0"/>
                <a:ea typeface="Calibri" pitchFamily="34" charset="-122"/>
                <a:cs typeface="Calibri" pitchFamily="34" charset="-120"/>
              </a:rPr>
              <a:t>Версия</a:t>
            </a:r>
            <a:endParaRPr lang="en-US" sz="1150" dirty="0"/>
          </a:p>
        </p:txBody>
      </p:sp>
      <p:sp>
        <p:nvSpPr>
          <p:cNvPr id="28" name="Text 26"/>
          <p:cNvSpPr txBox="1"/>
          <p:nvPr/>
        </p:nvSpPr>
        <p:spPr>
          <a:xfrm>
            <a:off x="9189720" y="4709160"/>
            <a:ext cx="2331720" cy="45720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025bca2 · 24.09.2026</a:t>
            </a:r>
            <a:endParaRPr lang="en-US" sz="1150" dirty="0"/>
          </a:p>
        </p:txBody>
      </p:sp>
      <p:sp>
        <p:nvSpPr>
          <p:cNvPr id="29" name="Text 27"/>
          <p:cNvSpPr txBox="1"/>
          <p:nvPr/>
        </p:nvSpPr>
        <p:spPr>
          <a:xfrm>
            <a:off x="731520" y="5440680"/>
            <a:ext cx="10881360" cy="548640"/>
          </a:xfrm>
          <a:prstGeom prst="rect">
            <a:avLst/>
          </a:prstGeom>
          <a:noFill/>
          <a:ln/>
        </p:spPr>
        <p:txBody>
          <a:bodyPr wrap="square" lIns="0" tIns="0" rIns="0" bIns="0" rtlCol="0" anchor="t"/>
          <a:lstStyle/>
          <a:p>
            <a:pPr indent="0" marL="0">
              <a:buNone/>
            </a:pPr>
            <a:r>
              <a:rPr lang="en-US" sz="1250" i="1" dirty="0">
                <a:solidFill>
                  <a:srgbClr val="9FC7C0"/>
                </a:solidFill>
                <a:latin typeface="Calibri" pitchFamily="34" charset="0"/>
                <a:ea typeface="Calibri" pitchFamily="34" charset="-122"/>
                <a:cs typeface="Calibri" pitchFamily="34" charset="-120"/>
              </a:rPr>
              <a:t>До запуска в реквизитах не хватает телефона службы, руководителя и банковских данных для пожертвований.</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АНО «Система долговременного ухода г. Тольятти»</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Чат-бот SDUT63 и мини-приложение «Помощь дома» — листинг</dc:title>
  <dc:subject>PptxGenJS Presentation</dc:subject>
  <dc:creator>АНО «СДУТ»</dc:creator>
  <cp:lastModifiedBy>АНО «СДУТ»</cp:lastModifiedBy>
  <cp:revision>1</cp:revision>
  <dcterms:created xsi:type="dcterms:W3CDTF">2026-09-24T07:22:49Z</dcterms:created>
  <dcterms:modified xsi:type="dcterms:W3CDTF">2026-09-24T07:22:49Z</dcterms:modified>
</cp:coreProperties>
</file>